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  <p:sldId id="258" r:id="rId4"/>
    <p:sldId id="309" r:id="rId5"/>
    <p:sldId id="310" r:id="rId6"/>
    <p:sldId id="367" r:id="rId7"/>
    <p:sldId id="317" r:id="rId8"/>
    <p:sldId id="311" r:id="rId9"/>
    <p:sldId id="368" r:id="rId10"/>
    <p:sldId id="369" r:id="rId11"/>
    <p:sldId id="370" r:id="rId12"/>
    <p:sldId id="373" r:id="rId13"/>
    <p:sldId id="371" r:id="rId14"/>
    <p:sldId id="372" r:id="rId15"/>
    <p:sldId id="374" r:id="rId16"/>
    <p:sldId id="375" r:id="rId17"/>
    <p:sldId id="377" r:id="rId18"/>
    <p:sldId id="378" r:id="rId19"/>
    <p:sldId id="379" r:id="rId20"/>
    <p:sldId id="261" r:id="rId21"/>
    <p:sldId id="318" r:id="rId22"/>
    <p:sldId id="380" r:id="rId23"/>
    <p:sldId id="381" r:id="rId24"/>
    <p:sldId id="383" r:id="rId25"/>
    <p:sldId id="384" r:id="rId26"/>
    <p:sldId id="385" r:id="rId27"/>
    <p:sldId id="322" r:id="rId28"/>
    <p:sldId id="323" r:id="rId29"/>
    <p:sldId id="324" r:id="rId30"/>
    <p:sldId id="326" r:id="rId31"/>
    <p:sldId id="386" r:id="rId32"/>
    <p:sldId id="387" r:id="rId33"/>
    <p:sldId id="388" r:id="rId34"/>
    <p:sldId id="389" r:id="rId35"/>
    <p:sldId id="264" r:id="rId36"/>
    <p:sldId id="329" r:id="rId37"/>
    <p:sldId id="391" r:id="rId38"/>
    <p:sldId id="392" r:id="rId39"/>
    <p:sldId id="393" r:id="rId40"/>
    <p:sldId id="390" r:id="rId41"/>
    <p:sldId id="394" r:id="rId42"/>
    <p:sldId id="395" r:id="rId43"/>
    <p:sldId id="396" r:id="rId44"/>
    <p:sldId id="327" r:id="rId45"/>
    <p:sldId id="341" r:id="rId46"/>
    <p:sldId id="397" r:id="rId47"/>
    <p:sldId id="344" r:id="rId48"/>
    <p:sldId id="346" r:id="rId49"/>
    <p:sldId id="347" r:id="rId50"/>
    <p:sldId id="398" r:id="rId51"/>
    <p:sldId id="336" r:id="rId52"/>
    <p:sldId id="399" r:id="rId53"/>
    <p:sldId id="354" r:id="rId54"/>
    <p:sldId id="356" r:id="rId55"/>
    <p:sldId id="358" r:id="rId56"/>
    <p:sldId id="359" r:id="rId57"/>
    <p:sldId id="400" r:id="rId58"/>
    <p:sldId id="401" r:id="rId59"/>
    <p:sldId id="402" r:id="rId60"/>
    <p:sldId id="403" r:id="rId61"/>
    <p:sldId id="404" r:id="rId62"/>
    <p:sldId id="405" r:id="rId63"/>
    <p:sldId id="262" r:id="rId64"/>
    <p:sldId id="353" r:id="rId65"/>
    <p:sldId id="277" r:id="rId66"/>
    <p:sldId id="308" r:id="rId67"/>
    <p:sldId id="407" r:id="rId68"/>
    <p:sldId id="408" r:id="rId69"/>
    <p:sldId id="409" r:id="rId70"/>
    <p:sldId id="410" r:id="rId71"/>
    <p:sldId id="411" r:id="rId72"/>
    <p:sldId id="412" r:id="rId73"/>
    <p:sldId id="413" r:id="rId74"/>
    <p:sldId id="414" r:id="rId75"/>
    <p:sldId id="415" r:id="rId76"/>
    <p:sldId id="416" r:id="rId77"/>
    <p:sldId id="263" r:id="rId78"/>
  </p:sldIdLst>
  <p:sldSz cx="12192000" cy="6858000"/>
  <p:notesSz cx="6858000" cy="9144000"/>
  <p:embeddedFontLst>
    <p:embeddedFont>
      <p:font typeface="맑은 고딕" panose="020B0503020000020004" pitchFamily="50" charset="-127"/>
      <p:regular r:id="rId79"/>
      <p:bold r:id="rId80"/>
    </p:embeddedFont>
    <p:embeddedFont>
      <p:font typeface="나눔바른고딕" panose="020B0600000101010101" charset="-127"/>
      <p:regular r:id="rId81"/>
      <p:bold r:id="rId82"/>
    </p:embeddedFont>
    <p:embeddedFont>
      <p:font typeface="Wingdings 2" panose="05020102010507070707" pitchFamily="18" charset="2"/>
      <p:regular r:id="rId83"/>
    </p:embeddedFont>
    <p:embeddedFont>
      <p:font typeface="Webdings" panose="05030102010509060703" pitchFamily="18" charset="2"/>
      <p:regular r:id="rId84"/>
    </p:embeddedFont>
    <p:embeddedFont>
      <p:font typeface="나눔고딕" panose="020B0600000101010101" charset="-127"/>
      <p:regular r:id="rId85"/>
      <p:bold r:id="rId86"/>
    </p:embeddedFont>
    <p:embeddedFont>
      <p:font typeface="배달의민족 주아" panose="020B0600000101010101" charset="-127"/>
      <p:regular r:id="rId8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YU" initials="H" lastIdx="11" clrIdx="0">
    <p:extLst>
      <p:ext uri="{19B8F6BF-5375-455C-9EA6-DF929625EA0E}">
        <p15:presenceInfo xmlns:p15="http://schemas.microsoft.com/office/powerpoint/2012/main" userId="HY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6.fntdata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1.fntdata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2.fntdata"/><Relationship Id="rId85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5.fntdata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font" Target="fonts/font3.fntdata"/><Relationship Id="rId86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9.fntdata"/><Relationship Id="rId61" Type="http://schemas.openxmlformats.org/officeDocument/2006/relationships/slide" Target="slides/slide60.xml"/><Relationship Id="rId82" Type="http://schemas.openxmlformats.org/officeDocument/2006/relationships/font" Target="fonts/font4.fntdata"/><Relationship Id="rId19" Type="http://schemas.openxmlformats.org/officeDocument/2006/relationships/slide" Target="slides/slide1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1-15T14:08:35.027" idx="1">
    <p:pos x="6873" y="2434"/>
    <p:text>글꼴 설치후 작성해주세요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1-15T14:14:28.974" idx="9">
    <p:pos x="1884" y="346"/>
    <p:text>실습 문제 제시하는 방법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1-15T14:15:41.861" idx="10">
    <p:pos x="2678" y="346"/>
    <p:text>코드는 텍스트로 작성해주세요.</p:text>
    <p:extLst>
      <p:ext uri="{C676402C-5697-4E1C-873F-D02D1690AC5C}">
        <p15:threadingInfo xmlns:p15="http://schemas.microsoft.com/office/powerpoint/2012/main" timeZoneBias="-540"/>
      </p:ext>
    </p:extLst>
  </p:cm>
  <p:cm authorId="1" dt="2025-01-15T14:16:41.937" idx="11">
    <p:pos x="10" y="10"/>
    <p:text>기본 실습 예제외 수업에 필요하시다고 판단되면 코드 추가하여 사용해주세요</p:text>
    <p:extLst>
      <p:ext uri="{C676402C-5697-4E1C-873F-D02D1690AC5C}">
        <p15:threadingInfo xmlns:p15="http://schemas.microsoft.com/office/powerpoint/2012/main" timeZoneBias="-5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Highlight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9A524179-23AD-4CA6-89B2-6B77035BD637}"/>
              </a:ext>
            </a:extLst>
          </p:cNvPr>
          <p:cNvGrpSpPr/>
          <p:nvPr/>
        </p:nvGrpSpPr>
        <p:grpSpPr>
          <a:xfrm>
            <a:off x="237267" y="1394761"/>
            <a:ext cx="11511164" cy="3243755"/>
            <a:chOff x="3252902" y="-104035"/>
            <a:chExt cx="7314774" cy="2061245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9FCB1077-1F38-4B1C-9E85-1B53E54DB79C}"/>
                </a:ext>
              </a:extLst>
            </p:cNvPr>
            <p:cNvSpPr/>
            <p:nvPr/>
          </p:nvSpPr>
          <p:spPr>
            <a:xfrm>
              <a:off x="3669024" y="354190"/>
              <a:ext cx="6898652" cy="1603020"/>
            </a:xfrm>
            <a:prstGeom prst="roundRect">
              <a:avLst>
                <a:gd name="adj" fmla="val 50000"/>
              </a:avLst>
            </a:prstGeom>
            <a:noFill/>
            <a:ln w="111125">
              <a:solidFill>
                <a:srgbClr val="2F4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DFB7D436-4A72-48F0-A0C9-2F1A5E7D1D81}"/>
                </a:ext>
              </a:extLst>
            </p:cNvPr>
            <p:cNvSpPr/>
            <p:nvPr/>
          </p:nvSpPr>
          <p:spPr>
            <a:xfrm>
              <a:off x="3792135" y="456251"/>
              <a:ext cx="6670037" cy="1398165"/>
            </a:xfrm>
            <a:prstGeom prst="roundRect">
              <a:avLst>
                <a:gd name="adj" fmla="val 50000"/>
              </a:avLst>
            </a:prstGeom>
            <a:solidFill>
              <a:srgbClr val="2F4B80"/>
            </a:solidFill>
            <a:ln w="38100">
              <a:solidFill>
                <a:srgbClr val="2F4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E3DF6AE-AB3C-40A2-A46B-9625109EF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252902" y="-104035"/>
              <a:ext cx="1270322" cy="1310816"/>
            </a:xfrm>
            <a:prstGeom prst="rect">
              <a:avLst/>
            </a:prstGeom>
          </p:spPr>
        </p:pic>
      </p:grpSp>
      <p:sp>
        <p:nvSpPr>
          <p:cNvPr id="3" name="제목 1">
            <a:extLst>
              <a:ext uri="{FF2B5EF4-FFF2-40B4-BE49-F238E27FC236}">
                <a16:creationId xmlns:a16="http://schemas.microsoft.com/office/drawing/2014/main" id="{35D8714A-D501-4BD5-949A-2322A2E9C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2138" y="2528619"/>
            <a:ext cx="9144000" cy="1208826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BEB14B3B-B01E-4ED0-86DD-FD71A3999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6451" y="3863602"/>
            <a:ext cx="9144000" cy="553008"/>
          </a:xfrm>
        </p:spPr>
        <p:txBody>
          <a:bodyPr>
            <a:normAutofit/>
          </a:bodyPr>
          <a:lstStyle>
            <a:lvl1pPr marL="0" indent="0" algn="ctr">
              <a:buNone/>
              <a:defRPr sz="36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0990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ims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six white sticky notes">
            <a:extLst>
              <a:ext uri="{FF2B5EF4-FFF2-40B4-BE49-F238E27FC236}">
                <a16:creationId xmlns:a16="http://schemas.microsoft.com/office/drawing/2014/main" id="{66C85EBB-CE8A-4A76-8068-7C7C970FE5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6200000">
            <a:off x="6664327" y="1330321"/>
            <a:ext cx="6858000" cy="419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C0A8AB-5233-4091-9C79-6EAE6FE4FE9A}"/>
              </a:ext>
            </a:extLst>
          </p:cNvPr>
          <p:cNvSpPr txBox="1"/>
          <p:nvPr/>
        </p:nvSpPr>
        <p:spPr>
          <a:xfrm>
            <a:off x="614977" y="831872"/>
            <a:ext cx="1673535" cy="46166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l"/>
            <a:r>
              <a:rPr lang="ko-KR" altLang="en-US" sz="3000" b="1">
                <a:solidFill>
                  <a:srgbClr val="F08A0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학습 목표</a:t>
            </a:r>
            <a:endParaRPr lang="en-US" altLang="ko-KR" sz="3000" b="1">
              <a:solidFill>
                <a:srgbClr val="F08A0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20BF70-6409-4002-8819-9ED4F633C0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4363" y="1549400"/>
            <a:ext cx="6718300" cy="4310063"/>
          </a:xfrm>
        </p:spPr>
        <p:txBody>
          <a:bodyPr/>
          <a:lstStyle>
            <a:lvl1pPr marL="457200" indent="-457200">
              <a:lnSpc>
                <a:spcPct val="100000"/>
              </a:lnSpc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644039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55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ighlight_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9A5B5BA0-D5D8-41AC-8BA0-98BA25324C38}"/>
              </a:ext>
            </a:extLst>
          </p:cNvPr>
          <p:cNvGrpSpPr/>
          <p:nvPr/>
        </p:nvGrpSpPr>
        <p:grpSpPr>
          <a:xfrm>
            <a:off x="5822563" y="1551181"/>
            <a:ext cx="598275" cy="861774"/>
            <a:chOff x="5822563" y="1551181"/>
            <a:chExt cx="598275" cy="86177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1E75F7E-0F4C-4298-B23F-4C802F38B41E}"/>
                </a:ext>
              </a:extLst>
            </p:cNvPr>
            <p:cNvSpPr txBox="1"/>
            <p:nvPr/>
          </p:nvSpPr>
          <p:spPr>
            <a:xfrm>
              <a:off x="5822563" y="1551181"/>
              <a:ext cx="576064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0" b="1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sz="5000" b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ACF9555A-3EE8-4175-99E9-1DBF4F15A573}"/>
                </a:ext>
              </a:extLst>
            </p:cNvPr>
            <p:cNvCxnSpPr>
              <a:cxnSpLocks/>
            </p:cNvCxnSpPr>
            <p:nvPr/>
          </p:nvCxnSpPr>
          <p:spPr>
            <a:xfrm>
              <a:off x="6420838" y="1851491"/>
              <a:ext cx="0" cy="261155"/>
            </a:xfrm>
            <a:prstGeom prst="line">
              <a:avLst/>
            </a:prstGeom>
            <a:ln w="76200" cap="rnd">
              <a:solidFill>
                <a:schemeClr val="accent3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D6E0EAB-262D-43BC-892F-36B54C2A02C3}"/>
              </a:ext>
            </a:extLst>
          </p:cNvPr>
          <p:cNvGrpSpPr/>
          <p:nvPr/>
        </p:nvGrpSpPr>
        <p:grpSpPr>
          <a:xfrm>
            <a:off x="5803041" y="2998113"/>
            <a:ext cx="595586" cy="861774"/>
            <a:chOff x="5803041" y="2998114"/>
            <a:chExt cx="595586" cy="861774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61D3AD19-623B-4817-BA23-3852EAFF7BE5}"/>
                </a:ext>
              </a:extLst>
            </p:cNvPr>
            <p:cNvCxnSpPr>
              <a:cxnSpLocks/>
            </p:cNvCxnSpPr>
            <p:nvPr/>
          </p:nvCxnSpPr>
          <p:spPr>
            <a:xfrm>
              <a:off x="5803041" y="3298424"/>
              <a:ext cx="0" cy="261155"/>
            </a:xfrm>
            <a:prstGeom prst="line">
              <a:avLst/>
            </a:prstGeom>
            <a:ln w="76200" cap="rnd">
              <a:solidFill>
                <a:schemeClr val="accent3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E7253B1-ECB1-4E2C-AB0C-8E20E9E924E9}"/>
                </a:ext>
              </a:extLst>
            </p:cNvPr>
            <p:cNvSpPr txBox="1"/>
            <p:nvPr/>
          </p:nvSpPr>
          <p:spPr>
            <a:xfrm>
              <a:off x="5822563" y="2998114"/>
              <a:ext cx="576064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0" b="1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sz="5000" b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ED7B5137-F84A-4088-A967-40262D7BD5B5}"/>
              </a:ext>
            </a:extLst>
          </p:cNvPr>
          <p:cNvGrpSpPr/>
          <p:nvPr/>
        </p:nvGrpSpPr>
        <p:grpSpPr>
          <a:xfrm>
            <a:off x="5822563" y="4445046"/>
            <a:ext cx="598275" cy="861774"/>
            <a:chOff x="5822563" y="4445046"/>
            <a:chExt cx="598275" cy="861774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7D4247A9-1225-413E-BD92-62E02E65BDE7}"/>
                </a:ext>
              </a:extLst>
            </p:cNvPr>
            <p:cNvCxnSpPr>
              <a:cxnSpLocks/>
            </p:cNvCxnSpPr>
            <p:nvPr/>
          </p:nvCxnSpPr>
          <p:spPr>
            <a:xfrm>
              <a:off x="6420838" y="4745356"/>
              <a:ext cx="0" cy="261155"/>
            </a:xfrm>
            <a:prstGeom prst="line">
              <a:avLst/>
            </a:prstGeom>
            <a:ln w="76200" cap="rnd">
              <a:solidFill>
                <a:schemeClr val="accent3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94CBE82-D1E3-4847-A8C5-059B2091EBD0}"/>
                </a:ext>
              </a:extLst>
            </p:cNvPr>
            <p:cNvSpPr txBox="1"/>
            <p:nvPr/>
          </p:nvSpPr>
          <p:spPr>
            <a:xfrm>
              <a:off x="5822563" y="4445046"/>
              <a:ext cx="576064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0" b="1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sz="5000" b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6D24938-18EA-4549-8C74-7366063A1246}"/>
              </a:ext>
            </a:extLst>
          </p:cNvPr>
          <p:cNvCxnSpPr>
            <a:cxnSpLocks/>
          </p:cNvCxnSpPr>
          <p:nvPr/>
        </p:nvCxnSpPr>
        <p:spPr>
          <a:xfrm>
            <a:off x="749754" y="433269"/>
            <a:ext cx="0" cy="623406"/>
          </a:xfrm>
          <a:prstGeom prst="line">
            <a:avLst/>
          </a:prstGeom>
          <a:ln w="63500">
            <a:solidFill>
              <a:srgbClr val="F08A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24">
            <a:extLst>
              <a:ext uri="{FF2B5EF4-FFF2-40B4-BE49-F238E27FC236}">
                <a16:creationId xmlns:a16="http://schemas.microsoft.com/office/drawing/2014/main" id="{31A5A62F-F9C4-49C8-B58F-CB83FB1B92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16098" y="1739360"/>
            <a:ext cx="897682" cy="485415"/>
          </a:xfrm>
          <a:prstGeom prst="rect">
            <a:avLst/>
          </a:prstGeom>
        </p:spPr>
        <p:txBody>
          <a:bodyPr wrap="none" lIns="0" tIns="54000" rIns="0" bIns="0" anchor="ctr" anchorCtr="0">
            <a:spAutoFit/>
          </a:bodyPr>
          <a:lstStyle>
            <a:lvl1pPr marL="0" indent="0" algn="l">
              <a:buNone/>
              <a:defRPr sz="3500" b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내용</a:t>
            </a:r>
          </a:p>
        </p:txBody>
      </p:sp>
      <p:sp>
        <p:nvSpPr>
          <p:cNvPr id="14" name="텍스트 개체 틀 24">
            <a:extLst>
              <a:ext uri="{FF2B5EF4-FFF2-40B4-BE49-F238E27FC236}">
                <a16:creationId xmlns:a16="http://schemas.microsoft.com/office/drawing/2014/main" id="{338F1DA1-E1CD-4CEF-9CEB-4A08418F56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0578" y="3186292"/>
            <a:ext cx="897682" cy="485415"/>
          </a:xfrm>
          <a:prstGeom prst="rect">
            <a:avLst/>
          </a:prstGeom>
        </p:spPr>
        <p:txBody>
          <a:bodyPr wrap="none" lIns="0" tIns="54000" rIns="0" bIns="0" anchor="ctr" anchorCtr="0">
            <a:spAutoFit/>
          </a:bodyPr>
          <a:lstStyle>
            <a:lvl1pPr marL="0" indent="0" algn="r">
              <a:buNone/>
              <a:defRPr sz="3500" b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내용</a:t>
            </a:r>
          </a:p>
        </p:txBody>
      </p:sp>
      <p:sp>
        <p:nvSpPr>
          <p:cNvPr id="15" name="텍스트 개체 틀 24">
            <a:extLst>
              <a:ext uri="{FF2B5EF4-FFF2-40B4-BE49-F238E27FC236}">
                <a16:creationId xmlns:a16="http://schemas.microsoft.com/office/drawing/2014/main" id="{B2D01F7E-0CAE-4350-BCE9-7585849C71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16098" y="4628294"/>
            <a:ext cx="897682" cy="485415"/>
          </a:xfrm>
          <a:prstGeom prst="rect">
            <a:avLst/>
          </a:prstGeom>
        </p:spPr>
        <p:txBody>
          <a:bodyPr wrap="none" lIns="0" tIns="54000" rIns="0" bIns="0" anchor="ctr" anchorCtr="0">
            <a:spAutoFit/>
          </a:bodyPr>
          <a:lstStyle>
            <a:lvl1pPr marL="0" indent="0" algn="l">
              <a:buNone/>
              <a:defRPr sz="3500" b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내용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9545EF-2E21-414F-98FD-AC7C4C63320D}"/>
              </a:ext>
            </a:extLst>
          </p:cNvPr>
          <p:cNvSpPr txBox="1"/>
          <p:nvPr/>
        </p:nvSpPr>
        <p:spPr>
          <a:xfrm>
            <a:off x="883890" y="478023"/>
            <a:ext cx="1611883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b="1">
                <a:solidFill>
                  <a:srgbClr val="F08A0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목차</a:t>
            </a:r>
            <a:r>
              <a:rPr lang="en-US" altLang="ko-KR" sz="3600" b="1">
                <a:solidFill>
                  <a:srgbClr val="F08A0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kumimoji="0" lang="ko-KR" altLang="en-US" sz="3600" b="1" i="0" u="none" strike="noStrike" kern="1200" cap="none" spc="0" normalizeH="0" baseline="0" noProof="0">
              <a:ln>
                <a:noFill/>
              </a:ln>
              <a:solidFill>
                <a:srgbClr val="F08A01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23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Highlight_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9A5B5BA0-D5D8-41AC-8BA0-98BA25324C38}"/>
              </a:ext>
            </a:extLst>
          </p:cNvPr>
          <p:cNvGrpSpPr/>
          <p:nvPr/>
        </p:nvGrpSpPr>
        <p:grpSpPr>
          <a:xfrm>
            <a:off x="5822563" y="1132081"/>
            <a:ext cx="598275" cy="861774"/>
            <a:chOff x="5822563" y="1551181"/>
            <a:chExt cx="598275" cy="86177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1E75F7E-0F4C-4298-B23F-4C802F38B41E}"/>
                </a:ext>
              </a:extLst>
            </p:cNvPr>
            <p:cNvSpPr txBox="1"/>
            <p:nvPr/>
          </p:nvSpPr>
          <p:spPr>
            <a:xfrm>
              <a:off x="5822563" y="1551181"/>
              <a:ext cx="576064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0" b="1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sz="5000" b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ACF9555A-3EE8-4175-99E9-1DBF4F15A573}"/>
                </a:ext>
              </a:extLst>
            </p:cNvPr>
            <p:cNvCxnSpPr>
              <a:cxnSpLocks/>
            </p:cNvCxnSpPr>
            <p:nvPr/>
          </p:nvCxnSpPr>
          <p:spPr>
            <a:xfrm>
              <a:off x="6420838" y="1851491"/>
              <a:ext cx="0" cy="261155"/>
            </a:xfrm>
            <a:prstGeom prst="line">
              <a:avLst/>
            </a:prstGeom>
            <a:ln w="76200" cap="rnd">
              <a:solidFill>
                <a:schemeClr val="accent3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D6E0EAB-262D-43BC-892F-36B54C2A02C3}"/>
              </a:ext>
            </a:extLst>
          </p:cNvPr>
          <p:cNvGrpSpPr/>
          <p:nvPr/>
        </p:nvGrpSpPr>
        <p:grpSpPr>
          <a:xfrm>
            <a:off x="5803041" y="2579013"/>
            <a:ext cx="595586" cy="861774"/>
            <a:chOff x="5803041" y="2998114"/>
            <a:chExt cx="595586" cy="861774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61D3AD19-623B-4817-BA23-3852EAFF7BE5}"/>
                </a:ext>
              </a:extLst>
            </p:cNvPr>
            <p:cNvCxnSpPr>
              <a:cxnSpLocks/>
            </p:cNvCxnSpPr>
            <p:nvPr/>
          </p:nvCxnSpPr>
          <p:spPr>
            <a:xfrm>
              <a:off x="5803041" y="3298424"/>
              <a:ext cx="0" cy="261155"/>
            </a:xfrm>
            <a:prstGeom prst="line">
              <a:avLst/>
            </a:prstGeom>
            <a:ln w="76200" cap="rnd">
              <a:solidFill>
                <a:schemeClr val="accent3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E7253B1-ECB1-4E2C-AB0C-8E20E9E924E9}"/>
                </a:ext>
              </a:extLst>
            </p:cNvPr>
            <p:cNvSpPr txBox="1"/>
            <p:nvPr/>
          </p:nvSpPr>
          <p:spPr>
            <a:xfrm>
              <a:off x="5822563" y="2998114"/>
              <a:ext cx="576064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0" b="1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sz="5000" b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ED7B5137-F84A-4088-A967-40262D7BD5B5}"/>
              </a:ext>
            </a:extLst>
          </p:cNvPr>
          <p:cNvGrpSpPr/>
          <p:nvPr/>
        </p:nvGrpSpPr>
        <p:grpSpPr>
          <a:xfrm>
            <a:off x="5822563" y="4025946"/>
            <a:ext cx="598275" cy="861774"/>
            <a:chOff x="5822563" y="4445046"/>
            <a:chExt cx="598275" cy="861774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7D4247A9-1225-413E-BD92-62E02E65BDE7}"/>
                </a:ext>
              </a:extLst>
            </p:cNvPr>
            <p:cNvCxnSpPr>
              <a:cxnSpLocks/>
            </p:cNvCxnSpPr>
            <p:nvPr/>
          </p:nvCxnSpPr>
          <p:spPr>
            <a:xfrm>
              <a:off x="6420838" y="4745356"/>
              <a:ext cx="0" cy="261155"/>
            </a:xfrm>
            <a:prstGeom prst="line">
              <a:avLst/>
            </a:prstGeom>
            <a:ln w="76200" cap="rnd">
              <a:solidFill>
                <a:schemeClr val="accent3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94CBE82-D1E3-4847-A8C5-059B2091EBD0}"/>
                </a:ext>
              </a:extLst>
            </p:cNvPr>
            <p:cNvSpPr txBox="1"/>
            <p:nvPr/>
          </p:nvSpPr>
          <p:spPr>
            <a:xfrm>
              <a:off x="5822563" y="4445046"/>
              <a:ext cx="576064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0" b="1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sz="5000" b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6D24938-18EA-4549-8C74-7366063A1246}"/>
              </a:ext>
            </a:extLst>
          </p:cNvPr>
          <p:cNvCxnSpPr>
            <a:cxnSpLocks/>
          </p:cNvCxnSpPr>
          <p:nvPr/>
        </p:nvCxnSpPr>
        <p:spPr>
          <a:xfrm>
            <a:off x="749754" y="433269"/>
            <a:ext cx="0" cy="623406"/>
          </a:xfrm>
          <a:prstGeom prst="line">
            <a:avLst/>
          </a:prstGeom>
          <a:ln w="63500">
            <a:solidFill>
              <a:srgbClr val="F08A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24">
            <a:extLst>
              <a:ext uri="{FF2B5EF4-FFF2-40B4-BE49-F238E27FC236}">
                <a16:creationId xmlns:a16="http://schemas.microsoft.com/office/drawing/2014/main" id="{31A5A62F-F9C4-49C8-B58F-CB83FB1B92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16098" y="1320260"/>
            <a:ext cx="897682" cy="485415"/>
          </a:xfrm>
          <a:prstGeom prst="rect">
            <a:avLst/>
          </a:prstGeom>
        </p:spPr>
        <p:txBody>
          <a:bodyPr wrap="none" lIns="0" tIns="54000" rIns="0" bIns="0" anchor="ctr" anchorCtr="0">
            <a:spAutoFit/>
          </a:bodyPr>
          <a:lstStyle>
            <a:lvl1pPr marL="0" indent="0" algn="l">
              <a:buNone/>
              <a:defRPr sz="3500" b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내용</a:t>
            </a:r>
          </a:p>
        </p:txBody>
      </p:sp>
      <p:sp>
        <p:nvSpPr>
          <p:cNvPr id="14" name="텍스트 개체 틀 24">
            <a:extLst>
              <a:ext uri="{FF2B5EF4-FFF2-40B4-BE49-F238E27FC236}">
                <a16:creationId xmlns:a16="http://schemas.microsoft.com/office/drawing/2014/main" id="{338F1DA1-E1CD-4CEF-9CEB-4A08418F56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0578" y="2767192"/>
            <a:ext cx="897682" cy="485415"/>
          </a:xfrm>
          <a:prstGeom prst="rect">
            <a:avLst/>
          </a:prstGeom>
        </p:spPr>
        <p:txBody>
          <a:bodyPr wrap="none" lIns="0" tIns="54000" rIns="0" bIns="0" anchor="ctr" anchorCtr="0">
            <a:spAutoFit/>
          </a:bodyPr>
          <a:lstStyle>
            <a:lvl1pPr marL="0" indent="0" algn="r">
              <a:buNone/>
              <a:defRPr sz="3500" b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내용</a:t>
            </a:r>
          </a:p>
        </p:txBody>
      </p:sp>
      <p:sp>
        <p:nvSpPr>
          <p:cNvPr id="15" name="텍스트 개체 틀 24">
            <a:extLst>
              <a:ext uri="{FF2B5EF4-FFF2-40B4-BE49-F238E27FC236}">
                <a16:creationId xmlns:a16="http://schemas.microsoft.com/office/drawing/2014/main" id="{B2D01F7E-0CAE-4350-BCE9-7585849C71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16098" y="4209194"/>
            <a:ext cx="897682" cy="485415"/>
          </a:xfrm>
          <a:prstGeom prst="rect">
            <a:avLst/>
          </a:prstGeom>
        </p:spPr>
        <p:txBody>
          <a:bodyPr wrap="none" lIns="0" tIns="54000" rIns="0" bIns="0" anchor="ctr" anchorCtr="0">
            <a:spAutoFit/>
          </a:bodyPr>
          <a:lstStyle>
            <a:lvl1pPr marL="0" indent="0" algn="l">
              <a:buNone/>
              <a:defRPr sz="3500" b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내용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9545EF-2E21-414F-98FD-AC7C4C63320D}"/>
              </a:ext>
            </a:extLst>
          </p:cNvPr>
          <p:cNvSpPr txBox="1"/>
          <p:nvPr/>
        </p:nvSpPr>
        <p:spPr>
          <a:xfrm>
            <a:off x="883890" y="478023"/>
            <a:ext cx="1611883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b="1">
                <a:solidFill>
                  <a:srgbClr val="F08A0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목차</a:t>
            </a:r>
            <a:r>
              <a:rPr lang="en-US" altLang="ko-KR" sz="3600" b="1">
                <a:solidFill>
                  <a:srgbClr val="F08A0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kumimoji="0" lang="ko-KR" altLang="en-US" sz="3600" b="1" i="0" u="none" strike="noStrike" kern="1200" cap="none" spc="0" normalizeH="0" baseline="0" noProof="0">
              <a:ln>
                <a:noFill/>
              </a:ln>
              <a:solidFill>
                <a:srgbClr val="F08A01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AD6AFA3-8A73-4696-9FC9-6EE439C6AAE0}"/>
              </a:ext>
            </a:extLst>
          </p:cNvPr>
          <p:cNvGrpSpPr/>
          <p:nvPr/>
        </p:nvGrpSpPr>
        <p:grpSpPr>
          <a:xfrm>
            <a:off x="5822563" y="5313429"/>
            <a:ext cx="595586" cy="861774"/>
            <a:chOff x="5803041" y="2998114"/>
            <a:chExt cx="595586" cy="861774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B31C83CF-1238-48C9-B9A3-DA77CF69B377}"/>
                </a:ext>
              </a:extLst>
            </p:cNvPr>
            <p:cNvCxnSpPr>
              <a:cxnSpLocks/>
            </p:cNvCxnSpPr>
            <p:nvPr/>
          </p:nvCxnSpPr>
          <p:spPr>
            <a:xfrm>
              <a:off x="5803041" y="3298424"/>
              <a:ext cx="0" cy="261155"/>
            </a:xfrm>
            <a:prstGeom prst="line">
              <a:avLst/>
            </a:prstGeom>
            <a:ln w="76200" cap="rnd">
              <a:solidFill>
                <a:schemeClr val="accent3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DA6CC15-6F8F-45F7-9991-C4601FB9BFA7}"/>
                </a:ext>
              </a:extLst>
            </p:cNvPr>
            <p:cNvSpPr txBox="1"/>
            <p:nvPr/>
          </p:nvSpPr>
          <p:spPr>
            <a:xfrm>
              <a:off x="5822563" y="2998114"/>
              <a:ext cx="576064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0" b="1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4</a:t>
              </a:r>
              <a:endParaRPr lang="ko-KR" altLang="en-US" sz="5000" b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0" name="텍스트 개체 틀 24">
            <a:extLst>
              <a:ext uri="{FF2B5EF4-FFF2-40B4-BE49-F238E27FC236}">
                <a16:creationId xmlns:a16="http://schemas.microsoft.com/office/drawing/2014/main" id="{C10386A5-71FD-4A3E-8D44-F09CDF05E9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10100" y="5501608"/>
            <a:ext cx="897682" cy="485415"/>
          </a:xfrm>
          <a:prstGeom prst="rect">
            <a:avLst/>
          </a:prstGeom>
        </p:spPr>
        <p:txBody>
          <a:bodyPr wrap="none" lIns="0" tIns="54000" rIns="0" bIns="0" anchor="ctr" anchorCtr="0">
            <a:spAutoFit/>
          </a:bodyPr>
          <a:lstStyle>
            <a:lvl1pPr marL="0" indent="0" algn="r">
              <a:buNone/>
              <a:defRPr sz="3500" b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2697589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3BF24D-3A60-7321-EF0F-DFA4990AD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ko-KR" altLang="en-US" sz="3200" b="1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259751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</p:spPr>
        <p:txBody>
          <a:bodyPr rtlCol="0" anchor="b" anchorCtr="0">
            <a:normAutofit/>
          </a:bodyPr>
          <a:lstStyle>
            <a:lvl1pPr>
              <a:defRPr sz="3200" b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539495" y="1435607"/>
            <a:ext cx="10895123" cy="4743519"/>
          </a:xfrm>
        </p:spPr>
        <p:txBody>
          <a:bodyPr vert="horz" lIns="91440" tIns="45720" rIns="91440" bIns="45720" rtlCol="0">
            <a:noAutofit/>
          </a:bodyPr>
          <a:lstStyle>
            <a:lvl1pPr marL="468000" indent="-285750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lang="en-US" sz="2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20000" indent="-342900">
              <a:lnSpc>
                <a:spcPct val="100000"/>
              </a:lnSpc>
              <a:spcAft>
                <a:spcPts val="1000"/>
              </a:spcAft>
              <a:buFont typeface="Wingdings 2" panose="05020102010507070707" pitchFamily="18" charset="2"/>
              <a:buChar char=""/>
              <a:defRPr lang="en-US" sz="16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00000"/>
              </a:lnSpc>
              <a:spcAft>
                <a:spcPts val="1000"/>
              </a:spcAft>
              <a:buFont typeface="맑은 고딕" panose="020B0503020000020004" pitchFamily="50" charset="-127"/>
              <a:buChar char="–"/>
              <a:defRPr lang="en-US" sz="14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00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defRPr 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7pPr>
              <a:defRPr sz="1400"/>
            </a:lvl7pPr>
            <a:lvl9pPr>
              <a:defRPr sz="1400"/>
            </a:lvl9pPr>
          </a:lstStyle>
          <a:p>
            <a:pPr marL="285750" lvl="0" indent="-28575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</a:pPr>
            <a:r>
              <a:rPr lang="ko-KR" altLang="en-US" dirty="0"/>
              <a:t>마스터 텍스트 스타일을 편집하려면 클릭</a:t>
            </a:r>
          </a:p>
          <a:p>
            <a:pPr marL="662850" lvl="2" indent="-28575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</a:pPr>
            <a:r>
              <a:rPr lang="ko-KR" altLang="en-US" dirty="0"/>
              <a:t>두 번째 수준</a:t>
            </a:r>
            <a:endParaRPr lang="en-US" altLang="ko-KR" dirty="0"/>
          </a:p>
          <a:p>
            <a:pPr marL="1085850" lvl="3" indent="-28575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</a:pPr>
            <a:r>
              <a:rPr lang="ko-KR" altLang="en-US" dirty="0"/>
              <a:t>세 번째 수준</a:t>
            </a:r>
          </a:p>
          <a:p>
            <a:pPr marL="1165950" lvl="4" indent="-28575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9825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C27E42EA-5B1C-452A-802A-EB74A0CEAD59}"/>
              </a:ext>
            </a:extLst>
          </p:cNvPr>
          <p:cNvGrpSpPr/>
          <p:nvPr/>
        </p:nvGrpSpPr>
        <p:grpSpPr>
          <a:xfrm>
            <a:off x="2497449" y="2627490"/>
            <a:ext cx="6898652" cy="1603020"/>
            <a:chOff x="3442942" y="2949455"/>
            <a:chExt cx="4950516" cy="959090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7FD16C95-3F23-410C-AE39-F65CAD096C25}"/>
                </a:ext>
              </a:extLst>
            </p:cNvPr>
            <p:cNvSpPr/>
            <p:nvPr/>
          </p:nvSpPr>
          <p:spPr>
            <a:xfrm>
              <a:off x="3442942" y="2949455"/>
              <a:ext cx="4950516" cy="959090"/>
            </a:xfrm>
            <a:prstGeom prst="roundRect">
              <a:avLst>
                <a:gd name="adj" fmla="val 50000"/>
              </a:avLst>
            </a:prstGeom>
            <a:noFill/>
            <a:ln w="111125">
              <a:solidFill>
                <a:srgbClr val="2F4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8F7AC324-A0DA-4C30-838F-0E6A66DB49E9}"/>
                </a:ext>
              </a:extLst>
            </p:cNvPr>
            <p:cNvSpPr/>
            <p:nvPr/>
          </p:nvSpPr>
          <p:spPr>
            <a:xfrm>
              <a:off x="3543300" y="3033882"/>
              <a:ext cx="4737100" cy="787630"/>
            </a:xfrm>
            <a:prstGeom prst="roundRect">
              <a:avLst>
                <a:gd name="adj" fmla="val 50000"/>
              </a:avLst>
            </a:prstGeom>
            <a:solidFill>
              <a:srgbClr val="2F4B80"/>
            </a:solidFill>
            <a:ln w="38100">
              <a:solidFill>
                <a:srgbClr val="2F4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</p:grp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AC038F1-60C1-9E59-8A3A-89B7D1E7EA1B}"/>
              </a:ext>
            </a:extLst>
          </p:cNvPr>
          <p:cNvCxnSpPr>
            <a:cxnSpLocks/>
          </p:cNvCxnSpPr>
          <p:nvPr/>
        </p:nvCxnSpPr>
        <p:spPr>
          <a:xfrm>
            <a:off x="5510192" y="2943089"/>
            <a:ext cx="0" cy="161419"/>
          </a:xfrm>
          <a:prstGeom prst="line">
            <a:avLst/>
          </a:prstGeom>
          <a:ln w="508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24">
            <a:extLst>
              <a:ext uri="{FF2B5EF4-FFF2-40B4-BE49-F238E27FC236}">
                <a16:creationId xmlns:a16="http://schemas.microsoft.com/office/drawing/2014/main" id="{ACABA641-26D1-9E6A-7C68-D4DD6845AF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10192" y="2923585"/>
            <a:ext cx="955248" cy="282573"/>
          </a:xfrm>
          <a:prstGeom prst="rect">
            <a:avLst/>
          </a:prstGeom>
        </p:spPr>
        <p:txBody>
          <a:bodyPr wrap="square" lIns="36000" tIns="0" rIns="36000" bIns="36000" anchor="t" anchorCtr="0">
            <a:sp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en-US" altLang="ko-KR"/>
              <a:t> Part </a:t>
            </a:r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7" name="텍스트 개체 틀 24">
            <a:extLst>
              <a:ext uri="{FF2B5EF4-FFF2-40B4-BE49-F238E27FC236}">
                <a16:creationId xmlns:a16="http://schemas.microsoft.com/office/drawing/2014/main" id="{F227EA50-3994-E5F1-7498-76CE62695A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206" y="3394686"/>
            <a:ext cx="3883984" cy="430306"/>
          </a:xfrm>
          <a:prstGeom prst="rect">
            <a:avLst/>
          </a:prstGeom>
        </p:spPr>
        <p:txBody>
          <a:bodyPr wrap="square" lIns="0" tIns="36000" rIns="0" bIns="0" anchor="ctr" anchorCtr="0">
            <a:sp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강의 내용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28273E1-B3C6-4A93-BD8E-FE758C5B8F0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891" y="2901368"/>
            <a:ext cx="1122492" cy="115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29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693B9403-9BAE-49BF-B9B8-8EF5D40B5188}"/>
              </a:ext>
            </a:extLst>
          </p:cNvPr>
          <p:cNvGrpSpPr/>
          <p:nvPr/>
        </p:nvGrpSpPr>
        <p:grpSpPr>
          <a:xfrm>
            <a:off x="2497449" y="2627490"/>
            <a:ext cx="6898652" cy="1603020"/>
            <a:chOff x="3442942" y="2949455"/>
            <a:chExt cx="4950516" cy="959090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4C44B70C-039C-43BA-B177-F30A9AF9AC5E}"/>
                </a:ext>
              </a:extLst>
            </p:cNvPr>
            <p:cNvSpPr/>
            <p:nvPr/>
          </p:nvSpPr>
          <p:spPr>
            <a:xfrm>
              <a:off x="3442942" y="2949455"/>
              <a:ext cx="4950516" cy="959090"/>
            </a:xfrm>
            <a:prstGeom prst="roundRect">
              <a:avLst>
                <a:gd name="adj" fmla="val 50000"/>
              </a:avLst>
            </a:prstGeom>
            <a:noFill/>
            <a:ln w="111125">
              <a:solidFill>
                <a:srgbClr val="2F4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25B271D4-D20A-4300-9F6B-50DCBAAC1796}"/>
                </a:ext>
              </a:extLst>
            </p:cNvPr>
            <p:cNvSpPr/>
            <p:nvPr/>
          </p:nvSpPr>
          <p:spPr>
            <a:xfrm>
              <a:off x="3543300" y="3033882"/>
              <a:ext cx="4737100" cy="787630"/>
            </a:xfrm>
            <a:prstGeom prst="roundRect">
              <a:avLst>
                <a:gd name="adj" fmla="val 50000"/>
              </a:avLst>
            </a:prstGeom>
            <a:solidFill>
              <a:srgbClr val="2F4B80"/>
            </a:solidFill>
            <a:ln w="38100">
              <a:solidFill>
                <a:srgbClr val="2F4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</p:grp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CA90B12-5414-4B8D-8EA1-4497F1A48038}"/>
              </a:ext>
            </a:extLst>
          </p:cNvPr>
          <p:cNvCxnSpPr>
            <a:cxnSpLocks/>
          </p:cNvCxnSpPr>
          <p:nvPr/>
        </p:nvCxnSpPr>
        <p:spPr>
          <a:xfrm>
            <a:off x="5510192" y="2943089"/>
            <a:ext cx="0" cy="161419"/>
          </a:xfrm>
          <a:prstGeom prst="line">
            <a:avLst/>
          </a:prstGeom>
          <a:ln w="508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텍스트 개체 틀 24">
            <a:extLst>
              <a:ext uri="{FF2B5EF4-FFF2-40B4-BE49-F238E27FC236}">
                <a16:creationId xmlns:a16="http://schemas.microsoft.com/office/drawing/2014/main" id="{240F2551-6CB4-429E-9A36-B704C9CE9D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10192" y="2923585"/>
            <a:ext cx="955248" cy="282573"/>
          </a:xfrm>
          <a:prstGeom prst="rect">
            <a:avLst/>
          </a:prstGeom>
        </p:spPr>
        <p:txBody>
          <a:bodyPr wrap="square" lIns="36000" tIns="0" rIns="36000" bIns="36000" anchor="t" anchorCtr="0">
            <a:sp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en-US" altLang="ko-KR"/>
              <a:t> QnA</a:t>
            </a:r>
            <a:endParaRPr lang="ko-KR" altLang="en-US" dirty="0"/>
          </a:p>
        </p:txBody>
      </p:sp>
      <p:sp>
        <p:nvSpPr>
          <p:cNvPr id="24" name="텍스트 개체 틀 24">
            <a:extLst>
              <a:ext uri="{FF2B5EF4-FFF2-40B4-BE49-F238E27FC236}">
                <a16:creationId xmlns:a16="http://schemas.microsoft.com/office/drawing/2014/main" id="{ECDDBB37-5292-4376-B268-A0F1C7F8D0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3206" y="3394686"/>
            <a:ext cx="3883984" cy="430306"/>
          </a:xfrm>
          <a:prstGeom prst="rect">
            <a:avLst/>
          </a:prstGeom>
        </p:spPr>
        <p:txBody>
          <a:bodyPr wrap="square" lIns="0" tIns="36000" rIns="0" bIns="0" anchor="ctr" anchorCtr="0">
            <a:sp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3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질의 응답</a:t>
            </a:r>
            <a:endParaRPr lang="ko-KR" altLang="en-US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9A6DFD76-6813-42BA-9B0E-3CE240E8016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891" y="2901368"/>
            <a:ext cx="1122492" cy="115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46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DA2F36-8644-2618-A3DB-672E806E2B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95704" y="6492875"/>
            <a:ext cx="480528" cy="365125"/>
          </a:xfrm>
          <a:prstGeom prst="rect">
            <a:avLst/>
          </a:prstGeom>
        </p:spPr>
        <p:txBody>
          <a:bodyPr/>
          <a:lstStyle/>
          <a:p>
            <a:fld id="{5B607A3F-13E7-4F55-9D65-1F7DC25825E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3" name="그림 12" descr="클립아트, 만화 영화, 일러스트레이션이(가) 표시된 사진&#10;&#10;자동 생성된 설명">
            <a:extLst>
              <a:ext uri="{FF2B5EF4-FFF2-40B4-BE49-F238E27FC236}">
                <a16:creationId xmlns:a16="http://schemas.microsoft.com/office/drawing/2014/main" id="{67B1DFAB-DC69-CDB5-9789-F0A0E27D52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500" y="914400"/>
            <a:ext cx="5775354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31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97CC12-E3F1-3635-8A8E-F20B1FA5A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ko-KR" altLang="en-US" sz="3200" b="1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740774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FDF3BE-0BC3-4DDF-BC83-4D9CDC9EB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4798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B7196-582F-4EB5-806B-9E9181647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4473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9A2F24-EBA8-4D7F-8724-A355ED06F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1A56E-1829-421E-AAC6-A14A7CF0FCE9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E28937-2E00-4F61-8E21-5D595555F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CC84DC-840D-48B2-9B52-8E62C8F9E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07A3F-13E7-4F55-9D65-1F7DC25825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99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5" y="1435608"/>
            <a:ext cx="10929415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lvl="0" indent="-28575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</a:pPr>
            <a:r>
              <a:rPr lang="ko-KR" altLang="en-US"/>
              <a:t>마스터 텍스트 스타일을 편집하려면 클릭</a:t>
            </a:r>
          </a:p>
          <a:p>
            <a:pPr marL="662850" lvl="2" indent="-28575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</a:pPr>
            <a:r>
              <a:rPr lang="ko-KR" altLang="en-US"/>
              <a:t>두 번째 수준</a:t>
            </a:r>
          </a:p>
        </p:txBody>
      </p:sp>
      <p:pic>
        <p:nvPicPr>
          <p:cNvPr id="10" name="그림 9" descr="텍스트, 검은색이(가) 표시된 사진&#10;&#10;자동 생성된 설명">
            <a:extLst>
              <a:ext uri="{FF2B5EF4-FFF2-40B4-BE49-F238E27FC236}">
                <a16:creationId xmlns:a16="http://schemas.microsoft.com/office/drawing/2014/main" id="{255FAD0E-905A-4C07-9BF8-0290065F3E3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112" y="532828"/>
            <a:ext cx="2477454" cy="538577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D13C97AB-B672-0D3E-E692-2721C0818A9E}"/>
              </a:ext>
            </a:extLst>
          </p:cNvPr>
          <p:cNvSpPr/>
          <p:nvPr/>
        </p:nvSpPr>
        <p:spPr>
          <a:xfrm>
            <a:off x="11668872" y="6272594"/>
            <a:ext cx="302968" cy="302968"/>
          </a:xfrm>
          <a:prstGeom prst="ellipse">
            <a:avLst/>
          </a:prstGeom>
          <a:solidFill>
            <a:srgbClr val="2F4B80"/>
          </a:solidFill>
          <a:ln>
            <a:solidFill>
              <a:srgbClr val="2C3E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배달의민족 주아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8DA63D-0D3E-92FB-35AA-D6926D00575F}"/>
              </a:ext>
            </a:extLst>
          </p:cNvPr>
          <p:cNvSpPr txBox="1"/>
          <p:nvPr/>
        </p:nvSpPr>
        <p:spPr>
          <a:xfrm>
            <a:off x="11668871" y="6342412"/>
            <a:ext cx="302968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fld id="{3C8F20C0-00AA-497B-A38B-3A27E40350CA}" type="slidenum">
              <a:rPr lang="ko-KR" altLang="en-US" sz="100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algn="ctr"/>
              <a:t>‹#›</a:t>
            </a:fld>
            <a:endParaRPr lang="ko-KR" altLang="en-US" sz="100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37AC779-FA9D-21A6-8816-85FF7FD24210}"/>
              </a:ext>
            </a:extLst>
          </p:cNvPr>
          <p:cNvCxnSpPr>
            <a:cxnSpLocks/>
          </p:cNvCxnSpPr>
          <p:nvPr/>
        </p:nvCxnSpPr>
        <p:spPr>
          <a:xfrm>
            <a:off x="539495" y="6459708"/>
            <a:ext cx="11048071" cy="0"/>
          </a:xfrm>
          <a:prstGeom prst="line">
            <a:avLst/>
          </a:prstGeom>
          <a:ln w="25400">
            <a:solidFill>
              <a:srgbClr val="2C3E5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FDD5B3F-B87A-4AC1-9302-D30AEE688EFB}"/>
              </a:ext>
            </a:extLst>
          </p:cNvPr>
          <p:cNvCxnSpPr>
            <a:cxnSpLocks/>
          </p:cNvCxnSpPr>
          <p:nvPr/>
        </p:nvCxnSpPr>
        <p:spPr>
          <a:xfrm>
            <a:off x="539495" y="1185748"/>
            <a:ext cx="11048071" cy="0"/>
          </a:xfrm>
          <a:prstGeom prst="line">
            <a:avLst/>
          </a:prstGeom>
          <a:ln w="25400">
            <a:solidFill>
              <a:srgbClr val="2C3E50"/>
            </a:solidFill>
            <a:headEnd type="non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눈물 방울 6">
            <a:extLst>
              <a:ext uri="{FF2B5EF4-FFF2-40B4-BE49-F238E27FC236}">
                <a16:creationId xmlns:a16="http://schemas.microsoft.com/office/drawing/2014/main" id="{8F534ADC-93E5-4962-AAEB-9C953709D3B5}"/>
              </a:ext>
            </a:extLst>
          </p:cNvPr>
          <p:cNvSpPr/>
          <p:nvPr/>
        </p:nvSpPr>
        <p:spPr>
          <a:xfrm flipV="1">
            <a:off x="398922" y="1057083"/>
            <a:ext cx="140572" cy="140572"/>
          </a:xfrm>
          <a:prstGeom prst="teardrop">
            <a:avLst/>
          </a:prstGeom>
          <a:solidFill>
            <a:srgbClr val="2C3E5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11307FF-7E80-4732-BB04-A8FEF3C75B20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812" b="1271"/>
          <a:stretch/>
        </p:blipFill>
        <p:spPr>
          <a:xfrm>
            <a:off x="290126" y="959696"/>
            <a:ext cx="358163" cy="35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082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80000"/>
        </a:lnSpc>
        <a:spcBef>
          <a:spcPts val="1000"/>
        </a:spcBef>
        <a:spcAft>
          <a:spcPts val="1200"/>
        </a:spcAft>
        <a:buFontTx/>
        <a:buNone/>
        <a:defRPr lang="en-US" sz="2000" b="1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8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8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8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09E9645-5588-4B4D-A43B-476B8D7B62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4800" dirty="0"/>
              <a:t>창의적프로그래밍기초와 실습</a:t>
            </a:r>
            <a:endParaRPr lang="ko-KR" altLang="en-US" sz="4800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18511345-6D6B-4DB0-8BC0-FE8E658F0D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주 반복문</a:t>
            </a:r>
          </a:p>
        </p:txBody>
      </p:sp>
    </p:spTree>
    <p:extLst>
      <p:ext uri="{BB962C8B-B14F-4D97-AF65-F5344CB8AC3E}">
        <p14:creationId xmlns:p14="http://schemas.microsoft.com/office/powerpoint/2010/main" val="1496578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65FC32E-BC2E-428F-8C0C-10D078592D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반복문 종류와 구조를 이해 할 수 있고 사용 할 수 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기타 제어문의 종류와 구조를 이해할 수 있고 사용 할 수 있다</a:t>
            </a:r>
            <a:r>
              <a:rPr lang="en-US" altLang="ko-KR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1428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F901FB6-45AE-449B-95B7-4CD748C19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Part</a:t>
            </a:r>
            <a:r>
              <a:rPr lang="ko-KR" altLang="en-US"/>
              <a:t> </a:t>
            </a:r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54CE90-7E98-47F8-B393-E8D58DC0F4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13206" y="3382375"/>
            <a:ext cx="3883984" cy="454928"/>
          </a:xfrm>
        </p:spPr>
        <p:txBody>
          <a:bodyPr/>
          <a:lstStyle/>
          <a:p>
            <a:r>
              <a:rPr lang="ko-KR" altLang="en-US" dirty="0"/>
              <a:t>반복문 이해</a:t>
            </a:r>
          </a:p>
        </p:txBody>
      </p:sp>
    </p:spTree>
    <p:extLst>
      <p:ext uri="{BB962C8B-B14F-4D97-AF65-F5344CB8AC3E}">
        <p14:creationId xmlns:p14="http://schemas.microsoft.com/office/powerpoint/2010/main" val="1995487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C0698-DC68-39F3-866A-26A0C0C9B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CF55FDE-43A4-BE49-BA34-1E528ACC9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01. </a:t>
            </a:r>
            <a:r>
              <a:rPr lang="ko-KR" altLang="en-US" dirty="0"/>
              <a:t>반복문 이해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08DC1BC-FA19-1900-1E93-065462A0461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반복문</a:t>
            </a:r>
            <a:endParaRPr lang="en-US" altLang="ko-KR" dirty="0"/>
          </a:p>
          <a:p>
            <a:pPr lvl="2"/>
            <a:r>
              <a:rPr lang="ko-KR" altLang="en-US" dirty="0"/>
              <a:t>문장을 반복하도록 만드는 것으로</a:t>
            </a:r>
            <a:r>
              <a:rPr lang="en-US" altLang="ko-KR" dirty="0"/>
              <a:t>, </a:t>
            </a:r>
            <a:r>
              <a:rPr lang="ko-KR" altLang="en-US" dirty="0"/>
              <a:t>정해진 동작을 반복적으로 수행할 때 사용하는 명령어</a:t>
            </a:r>
            <a:endParaRPr lang="en-US" altLang="ko-KR" dirty="0"/>
          </a:p>
          <a:p>
            <a:r>
              <a:rPr lang="ko-KR" altLang="en-US" dirty="0"/>
              <a:t>반복문 구성</a:t>
            </a:r>
            <a:endParaRPr lang="en-US" altLang="ko-KR" dirty="0"/>
          </a:p>
          <a:p>
            <a:pPr lvl="2"/>
            <a:r>
              <a:rPr lang="ko-KR" altLang="en-US" dirty="0"/>
              <a:t>반복 시작 조건</a:t>
            </a:r>
            <a:r>
              <a:rPr lang="en-US" altLang="ko-KR" dirty="0"/>
              <a:t>, </a:t>
            </a:r>
            <a:r>
              <a:rPr lang="ko-KR" altLang="en-US" dirty="0"/>
              <a:t>종료 조건</a:t>
            </a:r>
            <a:r>
              <a:rPr lang="en-US" altLang="ko-KR" dirty="0"/>
              <a:t>, </a:t>
            </a:r>
            <a:r>
              <a:rPr lang="ko-KR" altLang="en-US" dirty="0"/>
              <a:t>수행 명령으로 구성되어 있으며</a:t>
            </a:r>
            <a:r>
              <a:rPr lang="en-US" altLang="ko-KR" dirty="0"/>
              <a:t>, </a:t>
            </a:r>
            <a:r>
              <a:rPr lang="ko-KR" altLang="en-US" dirty="0"/>
              <a:t>들여쓰기와 블록</a:t>
            </a:r>
            <a:r>
              <a:rPr lang="en-US" altLang="ko-KR" dirty="0"/>
              <a:t>(block)</a:t>
            </a:r>
            <a:r>
              <a:rPr lang="ko-KR" altLang="en-US" dirty="0"/>
              <a:t>으로 구분</a:t>
            </a:r>
          </a:p>
          <a:p>
            <a:r>
              <a:rPr lang="ko-KR" altLang="en-US" dirty="0"/>
              <a:t>조건문에 </a:t>
            </a:r>
            <a:r>
              <a:rPr lang="en-US" altLang="ko-KR" dirty="0"/>
              <a:t>if</a:t>
            </a:r>
            <a:r>
              <a:rPr lang="ko-KR" altLang="en-US" dirty="0"/>
              <a:t>라는 키워드가 있듯이</a:t>
            </a:r>
            <a:r>
              <a:rPr lang="en-US" altLang="ko-KR" dirty="0"/>
              <a:t>, </a:t>
            </a:r>
            <a:r>
              <a:rPr lang="ko-KR" altLang="en-US" dirty="0"/>
              <a:t>반복문은 </a:t>
            </a:r>
            <a:r>
              <a:rPr lang="en-US" altLang="ko-KR" dirty="0"/>
              <a:t>for</a:t>
            </a:r>
            <a:r>
              <a:rPr lang="ko-KR" altLang="en-US" dirty="0"/>
              <a:t>와 </a:t>
            </a:r>
            <a:r>
              <a:rPr lang="en-US" altLang="ko-KR" dirty="0"/>
              <a:t>while</a:t>
            </a:r>
            <a:r>
              <a:rPr lang="ko-KR" altLang="en-US" dirty="0"/>
              <a:t>이라는 명령 키워드를 사용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835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EC449-A5DF-ADDC-5AB4-3E6A14334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99C4E8D-EF85-4011-8DD8-07C92ED24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01. </a:t>
            </a:r>
            <a:r>
              <a:rPr lang="ko-KR" altLang="en-US" dirty="0"/>
              <a:t>반복문 이해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4921CD8-E646-22A3-AD99-C5C10DE2E0D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반복문의 필요성</a:t>
            </a:r>
            <a:endParaRPr lang="en-US" altLang="ko-KR" dirty="0">
              <a:latin typeface="+mn-ea"/>
              <a:ea typeface="+mn-ea"/>
            </a:endParaRPr>
          </a:p>
          <a:p>
            <a:pPr lvl="2"/>
            <a:r>
              <a:rPr lang="ko-KR" altLang="en-US" dirty="0">
                <a:latin typeface="+mn-ea"/>
                <a:ea typeface="+mn-ea"/>
              </a:rPr>
              <a:t>프로그램을 작성하고 실행시키는 이유 중 한 가지는 사람이 하기 싫은 단순하고 반복적인 작업을 시키기 위해 필요 함</a:t>
            </a:r>
          </a:p>
          <a:p>
            <a:pPr lvl="2"/>
            <a:r>
              <a:rPr lang="ko-KR" altLang="en-US" dirty="0">
                <a:latin typeface="+mn-ea"/>
                <a:ea typeface="+mn-ea"/>
              </a:rPr>
              <a:t>반복문이 필요한 예 </a:t>
            </a:r>
            <a:endParaRPr lang="en-US" altLang="ko-KR" dirty="0">
              <a:latin typeface="+mn-ea"/>
              <a:ea typeface="+mn-ea"/>
            </a:endParaRPr>
          </a:p>
          <a:p>
            <a:pPr lvl="3"/>
            <a:r>
              <a:rPr lang="ko-KR" altLang="en-US" dirty="0">
                <a:latin typeface="+mn-ea"/>
                <a:ea typeface="+mn-ea"/>
              </a:rPr>
              <a:t>버스 정류장에서 </a:t>
            </a:r>
            <a:r>
              <a:rPr lang="en-US" altLang="ko-KR" dirty="0">
                <a:latin typeface="+mn-ea"/>
                <a:ea typeface="+mn-ea"/>
              </a:rPr>
              <a:t>1177 </a:t>
            </a:r>
            <a:r>
              <a:rPr lang="ko-KR" altLang="en-US" dirty="0">
                <a:latin typeface="+mn-ea"/>
                <a:ea typeface="+mn-ea"/>
              </a:rPr>
              <a:t>버스가 있으면 탄다</a:t>
            </a:r>
          </a:p>
          <a:p>
            <a:endParaRPr lang="en-US" altLang="ko-KR" dirty="0">
              <a:latin typeface="+mn-ea"/>
              <a:ea typeface="+mn-ea"/>
            </a:endParaRPr>
          </a:p>
          <a:p>
            <a:pPr lvl="3"/>
            <a:r>
              <a:rPr lang="ko-KR" altLang="en-US" dirty="0">
                <a:latin typeface="+mn-ea"/>
                <a:ea typeface="+mn-ea"/>
              </a:rPr>
              <a:t>만약 버스가 없으면 기다린다</a:t>
            </a:r>
            <a:endParaRPr lang="en-US" altLang="ko-KR" dirty="0">
              <a:latin typeface="+mn-ea"/>
              <a:ea typeface="+mn-ea"/>
            </a:endParaRPr>
          </a:p>
          <a:p>
            <a:pPr lvl="3"/>
            <a:endParaRPr lang="en-US" altLang="ko-KR" dirty="0">
              <a:latin typeface="+mn-ea"/>
              <a:ea typeface="+mn-ea"/>
            </a:endParaRPr>
          </a:p>
          <a:p>
            <a:pPr lvl="3"/>
            <a:endParaRPr lang="en-US" altLang="ko-KR" dirty="0">
              <a:latin typeface="+mn-ea"/>
              <a:ea typeface="+mn-ea"/>
            </a:endParaRPr>
          </a:p>
          <a:p>
            <a:pPr lvl="3"/>
            <a:endParaRPr lang="en-US" altLang="ko-KR" dirty="0">
              <a:latin typeface="+mn-ea"/>
              <a:ea typeface="+mn-ea"/>
            </a:endParaRPr>
          </a:p>
          <a:p>
            <a:pPr lvl="3"/>
            <a:r>
              <a:rPr lang="ko-KR" altLang="en-US" dirty="0">
                <a:latin typeface="+mn-ea"/>
                <a:ea typeface="+mn-ea"/>
              </a:rPr>
              <a:t>버스를 타려면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두 과정을 반복해야 함</a:t>
            </a:r>
            <a:endParaRPr lang="en-US" altLang="ko-KR" dirty="0">
              <a:latin typeface="+mn-ea"/>
              <a:ea typeface="+mn-ea"/>
            </a:endParaRPr>
          </a:p>
          <a:p>
            <a:pPr lvl="3"/>
            <a:endParaRPr lang="ko-KR" altLang="en-US" dirty="0">
              <a:latin typeface="+mn-ea"/>
              <a:ea typeface="+mn-ea"/>
            </a:endParaRPr>
          </a:p>
          <a:p>
            <a:pPr lvl="2"/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6" name="Text Box 20">
            <a:extLst>
              <a:ext uri="{FF2B5EF4-FFF2-40B4-BE49-F238E27FC236}">
                <a16:creationId xmlns:a16="http://schemas.microsoft.com/office/drawing/2014/main" id="{2A751D07-7A9D-4CDD-8993-9EBECFF5F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5417" y="3529681"/>
            <a:ext cx="5561300" cy="52322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latinLnBrk="0">
              <a:buClrTx/>
              <a:buSzTx/>
              <a:buFontTx/>
              <a:buNone/>
              <a:defRPr kumimoji="1" sz="2400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if "1177</a:t>
            </a: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버스가 정류장에 있으면</a:t>
            </a: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":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   </a:t>
            </a: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버스타기</a:t>
            </a: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()</a:t>
            </a: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E05A4C7D-B806-4F02-8902-4FD76A8B9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4109" y="4458033"/>
            <a:ext cx="5472608" cy="142603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latinLnBrk="0">
              <a:buClrTx/>
              <a:buSzTx/>
              <a:buFontTx/>
              <a:buNone/>
              <a:defRPr kumimoji="1" sz="2400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if "1177</a:t>
            </a: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버스가 정류장에 있으면</a:t>
            </a: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":</a:t>
            </a:r>
          </a:p>
          <a:p>
            <a:pPr marL="0" marR="0" lvl="0" indent="0" defTabSz="91440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   버스타기</a:t>
            </a: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()</a:t>
            </a:r>
          </a:p>
          <a:p>
            <a:pPr marL="0" marR="0" lvl="0" indent="0" defTabSz="91440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if "1177</a:t>
            </a: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버스가 정류장에 없으면</a:t>
            </a: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":</a:t>
            </a:r>
          </a:p>
          <a:p>
            <a:pPr marL="0" marR="0" lvl="0" indent="0" defTabSz="91440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   기다리기</a:t>
            </a: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54368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EC449-A5DF-ADDC-5AB4-3E6A14334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99C4E8D-EF85-4011-8DD8-07C92ED24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01. </a:t>
            </a:r>
            <a:r>
              <a:rPr lang="ko-KR" altLang="en-US" dirty="0"/>
              <a:t>반복문 이해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4921CD8-E646-22A3-AD99-C5C10DE2E0D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반복문의 필요성</a:t>
            </a:r>
            <a:r>
              <a:rPr lang="en-US" altLang="ko-KR" dirty="0">
                <a:latin typeface="+mn-ea"/>
                <a:ea typeface="+mn-ea"/>
              </a:rPr>
              <a:t>(Cont’d)</a:t>
            </a:r>
          </a:p>
          <a:p>
            <a:pPr lvl="2"/>
            <a:r>
              <a:rPr lang="ko-KR" altLang="en-US" dirty="0">
                <a:latin typeface="+mn-ea"/>
                <a:ea typeface="+mn-ea"/>
              </a:rPr>
              <a:t>반복문이 필요한 예 </a:t>
            </a:r>
            <a:endParaRPr lang="en-US" altLang="ko-KR" dirty="0">
              <a:latin typeface="+mn-ea"/>
              <a:ea typeface="+mn-ea"/>
            </a:endParaRPr>
          </a:p>
          <a:p>
            <a:pPr lvl="3"/>
            <a:r>
              <a:rPr lang="ko-KR" altLang="en-US" dirty="0">
                <a:latin typeface="+mn-ea"/>
                <a:ea typeface="+mn-ea"/>
              </a:rPr>
              <a:t>종료 조건이 만족될 때까지 반복하라</a:t>
            </a:r>
          </a:p>
          <a:p>
            <a:pPr lvl="3"/>
            <a:endParaRPr lang="ko-KR" altLang="en-US" dirty="0">
              <a:latin typeface="+mn-ea"/>
              <a:ea typeface="+mn-ea"/>
            </a:endParaRPr>
          </a:p>
          <a:p>
            <a:pPr lvl="3"/>
            <a:endParaRPr lang="ko-KR" altLang="en-US" dirty="0">
              <a:latin typeface="+mn-ea"/>
              <a:ea typeface="+mn-ea"/>
            </a:endParaRPr>
          </a:p>
          <a:p>
            <a:pPr lvl="3"/>
            <a:r>
              <a:rPr lang="ko-KR" altLang="en-US" dirty="0">
                <a:latin typeface="+mn-ea"/>
                <a:ea typeface="+mn-ea"/>
              </a:rPr>
              <a:t>종료 조건 </a:t>
            </a:r>
            <a:r>
              <a:rPr lang="en-US" altLang="ko-KR" dirty="0">
                <a:latin typeface="+mn-ea"/>
                <a:ea typeface="+mn-ea"/>
              </a:rPr>
              <a:t>:</a:t>
            </a:r>
            <a:r>
              <a:rPr lang="ko-KR" altLang="en-US" dirty="0">
                <a:latin typeface="+mn-ea"/>
                <a:ea typeface="+mn-ea"/>
              </a:rPr>
              <a:t>버스가 오면</a:t>
            </a:r>
            <a:endParaRPr lang="en-US" altLang="ko-KR" dirty="0">
              <a:latin typeface="+mn-ea"/>
              <a:ea typeface="+mn-ea"/>
            </a:endParaRPr>
          </a:p>
          <a:p>
            <a:pPr lvl="3"/>
            <a:endParaRPr lang="ko-KR" altLang="en-US" dirty="0">
              <a:latin typeface="+mn-ea"/>
              <a:ea typeface="+mn-ea"/>
            </a:endParaRPr>
          </a:p>
          <a:p>
            <a:pPr lvl="2"/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6" name="Text Box 20">
            <a:extLst>
              <a:ext uri="{FF2B5EF4-FFF2-40B4-BE49-F238E27FC236}">
                <a16:creationId xmlns:a16="http://schemas.microsoft.com/office/drawing/2014/main" id="{2A751D07-7A9D-4CDD-8993-9EBECFF5F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5417" y="2853137"/>
            <a:ext cx="5561300" cy="95410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latinLnBrk="0">
              <a:buClrTx/>
              <a:buSzTx/>
              <a:buFontTx/>
              <a:buNone/>
              <a:defRPr kumimoji="1" sz="2400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9pPr>
          </a:lstStyle>
          <a:p>
            <a:r>
              <a:rPr lang="ko-KR" altLang="en-US" sz="1400" dirty="0">
                <a:latin typeface="+mn-ea"/>
              </a:rPr>
              <a:t>반복 조건이 만족될 때까지</a:t>
            </a:r>
            <a:r>
              <a:rPr lang="en-US" altLang="ko-KR" sz="1400" dirty="0">
                <a:latin typeface="+mn-ea"/>
              </a:rPr>
              <a:t>:</a:t>
            </a:r>
          </a:p>
          <a:p>
            <a:r>
              <a:rPr lang="ko-KR" altLang="en-US" sz="1400" dirty="0">
                <a:latin typeface="+mn-ea"/>
              </a:rPr>
              <a:t>    기다림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if "1177</a:t>
            </a:r>
            <a:r>
              <a:rPr lang="ko-KR" altLang="en-US" sz="1400" dirty="0">
                <a:latin typeface="+mn-ea"/>
              </a:rPr>
              <a:t>버스가 정류장에 있으면</a:t>
            </a:r>
            <a:r>
              <a:rPr lang="en-US" altLang="ko-KR" sz="1400" dirty="0">
                <a:latin typeface="+mn-ea"/>
              </a:rPr>
              <a:t>":</a:t>
            </a:r>
          </a:p>
          <a:p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 err="1">
                <a:latin typeface="+mn-ea"/>
              </a:rPr>
              <a:t>버스타기</a:t>
            </a:r>
            <a:r>
              <a:rPr lang="en-US" altLang="ko-KR" sz="1400" dirty="0">
                <a:latin typeface="+mn-ea"/>
              </a:rPr>
              <a:t>()</a:t>
            </a: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E05A4C7D-B806-4F02-8902-4FD76A8B9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9763" y="4219693"/>
            <a:ext cx="5472608" cy="142603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latinLnBrk="0">
              <a:buClrTx/>
              <a:buSzTx/>
              <a:buFontTx/>
              <a:buNone/>
              <a:defRPr kumimoji="1" sz="2400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while "1177 </a:t>
            </a: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버스가 정류장에 없으면</a:t>
            </a: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":</a:t>
            </a:r>
          </a:p>
          <a:p>
            <a:pPr marL="0" marR="0" lvl="0" indent="0" defTabSz="91440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   </a:t>
            </a: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기다림</a:t>
            </a:r>
          </a:p>
          <a:p>
            <a:pPr marL="0" marR="0" lvl="0" indent="0" defTabSz="91440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if "1177</a:t>
            </a: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버스가 정류장에 있으면</a:t>
            </a: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":</a:t>
            </a:r>
          </a:p>
          <a:p>
            <a:pPr marL="0" marR="0" lvl="0" indent="0" defTabSz="91440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   </a:t>
            </a:r>
            <a:r>
              <a:rPr kumimoji="1" lang="ko-KR" alt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버스타기</a:t>
            </a: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12196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6EF88-A707-63D1-A25B-0601CD100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82B5AA8-A210-C3B5-4B52-A2F0D3F439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Part</a:t>
            </a:r>
            <a:r>
              <a:rPr lang="ko-KR" altLang="en-US" dirty="0"/>
              <a:t> </a:t>
            </a:r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7DC7C6-83FB-FA37-3838-B4A28FFE90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13206" y="3382375"/>
            <a:ext cx="3883984" cy="454928"/>
          </a:xfrm>
        </p:spPr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1711700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A8854-35BF-D549-508F-A5581FC2F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03D84F8-0614-EA26-5494-A8489A07F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while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ADB2EA6-8319-DDAD-1EEE-F87821A6F9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 구조</a:t>
            </a:r>
            <a:endParaRPr lang="en-US" altLang="ko-KR" dirty="0"/>
          </a:p>
          <a:p>
            <a:pPr lvl="2"/>
            <a:r>
              <a:rPr lang="ko-KR" altLang="en-US" dirty="0"/>
              <a:t>어떤 조건이 만족하는 동안 명령 블록을 수행하고</a:t>
            </a:r>
            <a:r>
              <a:rPr lang="en-US" altLang="ko-KR" dirty="0"/>
              <a:t>, </a:t>
            </a:r>
            <a:r>
              <a:rPr lang="ko-KR" altLang="en-US" dirty="0"/>
              <a:t>해당 조건이 거짓일 경우 더이상 반복 명령문을 수행하지 않는 구문</a:t>
            </a:r>
            <a:endParaRPr lang="en-US" altLang="ko-KR" dirty="0"/>
          </a:p>
          <a:p>
            <a:pPr lvl="3"/>
            <a:r>
              <a:rPr lang="en-US" altLang="ko-KR" dirty="0"/>
              <a:t>‘while’ </a:t>
            </a:r>
            <a:r>
              <a:rPr lang="ko-KR" altLang="en-US" dirty="0"/>
              <a:t>문 내 조건의 참 거짓에 따라 실행을 반복</a:t>
            </a:r>
            <a:r>
              <a:rPr lang="en-US" altLang="ko-KR" dirty="0"/>
              <a:t> </a:t>
            </a:r>
          </a:p>
          <a:p>
            <a:pPr lvl="3"/>
            <a:r>
              <a:rPr lang="en-US" altLang="ko-KR" dirty="0"/>
              <a:t>if</a:t>
            </a:r>
            <a:r>
              <a:rPr lang="ko-KR" altLang="en-US" dirty="0"/>
              <a:t>문은 조건이 만족되면 한 번만 실행되지만</a:t>
            </a:r>
            <a:r>
              <a:rPr lang="en-US" altLang="ko-KR" dirty="0"/>
              <a:t>, while </a:t>
            </a:r>
            <a:r>
              <a:rPr lang="ko-KR" altLang="en-US" dirty="0"/>
              <a:t>문은 조건이 만족되지 않을 때까지 계속 반복됨 </a:t>
            </a:r>
            <a:r>
              <a:rPr lang="en-US" altLang="ko-KR" dirty="0"/>
              <a:t>(</a:t>
            </a:r>
            <a:r>
              <a:rPr lang="ko-KR" altLang="en-US" dirty="0"/>
              <a:t>조건 반복형</a:t>
            </a:r>
            <a:r>
              <a:rPr lang="en-US" altLang="ko-KR" dirty="0"/>
              <a:t>)</a:t>
            </a:r>
          </a:p>
          <a:p>
            <a:pPr lvl="3"/>
            <a:r>
              <a:rPr lang="ko-KR" altLang="en-US" dirty="0"/>
              <a:t>실행문을 포함하고 있는 몸체는 단일 및 복수개의 문장들로 구성될 수 있음</a:t>
            </a:r>
            <a:r>
              <a:rPr lang="en-US" altLang="ko-KR" dirty="0"/>
              <a:t> </a:t>
            </a:r>
          </a:p>
          <a:p>
            <a:pPr lvl="3"/>
            <a:r>
              <a:rPr lang="ko-KR" altLang="en-US" dirty="0"/>
              <a:t>조건을 평가 후 거짓일 경우 ‘</a:t>
            </a:r>
            <a:r>
              <a:rPr lang="en-US" altLang="ko-KR" dirty="0"/>
              <a:t>while’ </a:t>
            </a:r>
            <a:r>
              <a:rPr lang="ko-KR" altLang="en-US" dirty="0"/>
              <a:t>문 밖에 있는 실행문으로 제어가 넘겨지게 됨</a:t>
            </a:r>
            <a:endParaRPr lang="en-US" altLang="ko-KR" dirty="0"/>
          </a:p>
          <a:p>
            <a:pPr lvl="3"/>
            <a:r>
              <a:rPr lang="ko-KR" altLang="en-US" dirty="0"/>
              <a:t>반복 횟수는 모르지만 조건에 따른 반복 작업에 최적화 되어 있음</a:t>
            </a:r>
          </a:p>
          <a:p>
            <a:pPr lvl="3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5B05C2-AF66-32A9-87F3-5EAFB972954C}"/>
              </a:ext>
            </a:extLst>
          </p:cNvPr>
          <p:cNvSpPr/>
          <p:nvPr/>
        </p:nvSpPr>
        <p:spPr>
          <a:xfrm>
            <a:off x="8585455" y="3933559"/>
            <a:ext cx="1260000" cy="1800000"/>
          </a:xfrm>
          <a:prstGeom prst="rect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while </a:t>
            </a:r>
            <a:r>
              <a: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조건 </a:t>
            </a:r>
            <a:r>
              <a:rPr kumimoji="0" lang="en-US" altLang="ko-KR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  <a:endParaRPr kumimoji="0" lang="ko-KR" altLang="en-US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45720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</a:t>
            </a:r>
            <a:r>
              <a: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코드</a:t>
            </a:r>
            <a:r>
              <a:rPr kumimoji="0" lang="en-US" altLang="ko-KR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45720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코드</a:t>
            </a:r>
            <a:r>
              <a:rPr kumimoji="0" lang="en-US" altLang="ko-KR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45720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</a:t>
            </a:r>
            <a:r>
              <a: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⋮</a:t>
            </a:r>
          </a:p>
        </p:txBody>
      </p: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BB4D121E-21E4-C1BF-27A3-25D545B900F8}"/>
              </a:ext>
            </a:extLst>
          </p:cNvPr>
          <p:cNvSpPr/>
          <p:nvPr/>
        </p:nvSpPr>
        <p:spPr>
          <a:xfrm>
            <a:off x="10150841" y="4011236"/>
            <a:ext cx="1080000" cy="495225"/>
          </a:xfrm>
          <a:prstGeom prst="diamond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조건식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89D682E-380B-0807-B903-AA5F328955CB}"/>
              </a:ext>
            </a:extLst>
          </p:cNvPr>
          <p:cNvSpPr/>
          <p:nvPr/>
        </p:nvSpPr>
        <p:spPr>
          <a:xfrm>
            <a:off x="10150840" y="4781585"/>
            <a:ext cx="1080000" cy="385175"/>
          </a:xfrm>
          <a:prstGeom prst="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코드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062B8E1-F548-E5EB-4781-7FA7E6AF19F9}"/>
              </a:ext>
            </a:extLst>
          </p:cNvPr>
          <p:cNvSpPr/>
          <p:nvPr/>
        </p:nvSpPr>
        <p:spPr>
          <a:xfrm>
            <a:off x="10150840" y="5642954"/>
            <a:ext cx="1080000" cy="3851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while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문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다음 코드</a:t>
            </a:r>
          </a:p>
        </p:txBody>
      </p:sp>
      <p:cxnSp>
        <p:nvCxnSpPr>
          <p:cNvPr id="10" name="꺾인 연결선 13">
            <a:extLst>
              <a:ext uri="{FF2B5EF4-FFF2-40B4-BE49-F238E27FC236}">
                <a16:creationId xmlns:a16="http://schemas.microsoft.com/office/drawing/2014/main" id="{F1BAA362-F5A2-D20A-CDE1-C159CAAD5544}"/>
              </a:ext>
            </a:extLst>
          </p:cNvPr>
          <p:cNvCxnSpPr>
            <a:stCxn id="7" idx="3"/>
            <a:endCxn id="9" idx="0"/>
          </p:cNvCxnSpPr>
          <p:nvPr/>
        </p:nvCxnSpPr>
        <p:spPr>
          <a:xfrm flipH="1">
            <a:off x="10690842" y="4258850"/>
            <a:ext cx="540001" cy="1384105"/>
          </a:xfrm>
          <a:prstGeom prst="bentConnector4">
            <a:avLst>
              <a:gd name="adj1" fmla="val -42333"/>
              <a:gd name="adj2" fmla="val 84407"/>
            </a:avLst>
          </a:prstGeom>
          <a:noFill/>
          <a:ln w="19050" cap="flat" cmpd="sng" algn="ctr">
            <a:solidFill>
              <a:srgbClr val="FFC000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꺾인 연결선 14">
            <a:extLst>
              <a:ext uri="{FF2B5EF4-FFF2-40B4-BE49-F238E27FC236}">
                <a16:creationId xmlns:a16="http://schemas.microsoft.com/office/drawing/2014/main" id="{08FA7686-8CA3-2256-24EB-16D9ACF62F04}"/>
              </a:ext>
            </a:extLst>
          </p:cNvPr>
          <p:cNvCxnSpPr>
            <a:stCxn id="8" idx="2"/>
            <a:endCxn id="7" idx="1"/>
          </p:cNvCxnSpPr>
          <p:nvPr/>
        </p:nvCxnSpPr>
        <p:spPr>
          <a:xfrm rot="5400000" flipH="1">
            <a:off x="9966887" y="4442807"/>
            <a:ext cx="907911" cy="539999"/>
          </a:xfrm>
          <a:prstGeom prst="bentConnector4">
            <a:avLst>
              <a:gd name="adj1" fmla="val -17836"/>
              <a:gd name="adj2" fmla="val 142334"/>
            </a:avLst>
          </a:prstGeom>
          <a:noFill/>
          <a:ln w="19050" cap="flat" cmpd="sng" algn="ctr">
            <a:solidFill>
              <a:srgbClr val="0070C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793F579-237B-7C28-07D8-831908055F0A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10690842" y="4506460"/>
            <a:ext cx="1" cy="275124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8389B8F-8EDF-478F-D7A5-5F4B821D0701}"/>
              </a:ext>
            </a:extLst>
          </p:cNvPr>
          <p:cNvSpPr txBox="1"/>
          <p:nvPr/>
        </p:nvSpPr>
        <p:spPr>
          <a:xfrm>
            <a:off x="10582890" y="4496588"/>
            <a:ext cx="605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True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AD2E1E-4B30-5E06-6157-407C66B95469}"/>
              </a:ext>
            </a:extLst>
          </p:cNvPr>
          <p:cNvSpPr txBox="1"/>
          <p:nvPr/>
        </p:nvSpPr>
        <p:spPr>
          <a:xfrm>
            <a:off x="10235547" y="3795881"/>
            <a:ext cx="9234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while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29B989-A6B7-FAC8-EF54-40C093A96D33}"/>
              </a:ext>
            </a:extLst>
          </p:cNvPr>
          <p:cNvSpPr txBox="1"/>
          <p:nvPr/>
        </p:nvSpPr>
        <p:spPr>
          <a:xfrm>
            <a:off x="11018351" y="4022938"/>
            <a:ext cx="634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False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13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  <p:bldP spid="13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A8854-35BF-D549-508F-A5581FC2F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03D84F8-0614-EA26-5494-A8489A07F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while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ADB2EA6-8319-DDAD-1EEE-F87821A6F9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 구조</a:t>
            </a:r>
            <a:endParaRPr lang="en-US" altLang="ko-KR" dirty="0"/>
          </a:p>
          <a:p>
            <a:pPr lvl="2"/>
            <a:r>
              <a:rPr lang="en-US" altLang="ko-KR" sz="1600" dirty="0"/>
              <a:t>while </a:t>
            </a:r>
            <a:r>
              <a:rPr lang="ko-KR" altLang="en-US" sz="1600" dirty="0"/>
              <a:t>문을 활용하는 예</a:t>
            </a:r>
            <a:endParaRPr lang="en-US" altLang="ko-KR" sz="1600" dirty="0"/>
          </a:p>
          <a:p>
            <a:pPr lvl="3"/>
            <a:r>
              <a:rPr lang="en-US" altLang="ko-KR" dirty="0"/>
              <a:t>“</a:t>
            </a:r>
            <a:r>
              <a:rPr lang="ko-KR" altLang="en-US" dirty="0"/>
              <a:t>파이썬 재미있네</a:t>
            </a:r>
            <a:r>
              <a:rPr lang="en-US" altLang="ko-KR" dirty="0"/>
              <a:t>”</a:t>
            </a:r>
            <a:r>
              <a:rPr lang="ko-KR" altLang="en-US" dirty="0"/>
              <a:t>를 </a:t>
            </a:r>
            <a:r>
              <a:rPr lang="en-US" altLang="ko-KR" dirty="0"/>
              <a:t>5</a:t>
            </a:r>
            <a:r>
              <a:rPr lang="ko-KR" altLang="en-US" dirty="0"/>
              <a:t>번 반복해서 출력하고 싶음</a:t>
            </a:r>
          </a:p>
          <a:p>
            <a:pPr lvl="3"/>
            <a:r>
              <a:rPr lang="ko-KR" altLang="en-US" dirty="0"/>
              <a:t>반복문을 작성해서 </a:t>
            </a:r>
            <a:r>
              <a:rPr lang="en-US" altLang="ko-KR" dirty="0"/>
              <a:t>5</a:t>
            </a:r>
            <a:r>
              <a:rPr lang="ko-KR" altLang="en-US" dirty="0"/>
              <a:t>번 반복해 보자</a:t>
            </a:r>
            <a:r>
              <a:rPr lang="en-US" altLang="ko-KR" dirty="0"/>
              <a:t> </a:t>
            </a: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D9A5E652-583A-2E27-1C0A-FD0ABF4C6471}"/>
              </a:ext>
            </a:extLst>
          </p:cNvPr>
          <p:cNvGrpSpPr/>
          <p:nvPr/>
        </p:nvGrpSpPr>
        <p:grpSpPr>
          <a:xfrm>
            <a:off x="1892249" y="2924698"/>
            <a:ext cx="8556026" cy="3334326"/>
            <a:chOff x="1776839" y="2933576"/>
            <a:chExt cx="8556026" cy="3334326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636F38E9-CAEE-0549-71C3-23BF71A28BFA}"/>
                </a:ext>
              </a:extLst>
            </p:cNvPr>
            <p:cNvGrpSpPr/>
            <p:nvPr/>
          </p:nvGrpSpPr>
          <p:grpSpPr>
            <a:xfrm>
              <a:off x="1776839" y="2933576"/>
              <a:ext cx="8556026" cy="3334326"/>
              <a:chOff x="1769534" y="2844800"/>
              <a:chExt cx="8556026" cy="3334326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878028A8-FF7F-4DF7-9328-E76419368A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48534"/>
              <a:stretch/>
            </p:blipFill>
            <p:spPr>
              <a:xfrm>
                <a:off x="5063476" y="2844800"/>
                <a:ext cx="2828774" cy="3334326"/>
              </a:xfrm>
              <a:prstGeom prst="rect">
                <a:avLst/>
              </a:prstGeom>
            </p:spPr>
          </p:pic>
          <p:sp>
            <p:nvSpPr>
              <p:cNvPr id="3" name="말풍선: 모서리가 둥근 사각형 2">
                <a:extLst>
                  <a:ext uri="{FF2B5EF4-FFF2-40B4-BE49-F238E27FC236}">
                    <a16:creationId xmlns:a16="http://schemas.microsoft.com/office/drawing/2014/main" id="{1D0D2DF6-7C28-417F-AD0B-D2842F00A965}"/>
                  </a:ext>
                </a:extLst>
              </p:cNvPr>
              <p:cNvSpPr/>
              <p:nvPr/>
            </p:nvSpPr>
            <p:spPr>
              <a:xfrm>
                <a:off x="1769534" y="4817533"/>
                <a:ext cx="2286000" cy="889000"/>
              </a:xfrm>
              <a:prstGeom prst="wedgeRoundRectCallout">
                <a:avLst>
                  <a:gd name="adj1" fmla="val 113730"/>
                  <a:gd name="adj2" fmla="val 43485"/>
                  <a:gd name="adj3" fmla="val 16667"/>
                </a:avLst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latin typeface="+mj-ea"/>
                    <a:ea typeface="+mj-ea"/>
                  </a:rPr>
                  <a:t>생략할 경우 어떤 상황이 될까</a:t>
                </a:r>
              </a:p>
            </p:txBody>
          </p:sp>
          <p:grpSp>
            <p:nvGrpSpPr>
              <p:cNvPr id="66" name="그룹 65">
                <a:extLst>
                  <a:ext uri="{FF2B5EF4-FFF2-40B4-BE49-F238E27FC236}">
                    <a16:creationId xmlns:a16="http://schemas.microsoft.com/office/drawing/2014/main" id="{7078B1C0-AB05-DC58-6AAC-CD84BF86EC48}"/>
                  </a:ext>
                </a:extLst>
              </p:cNvPr>
              <p:cNvGrpSpPr/>
              <p:nvPr/>
            </p:nvGrpSpPr>
            <p:grpSpPr>
              <a:xfrm>
                <a:off x="8402230" y="3385461"/>
                <a:ext cx="1923330" cy="2036932"/>
                <a:chOff x="10053476" y="1297107"/>
                <a:chExt cx="1923330" cy="2036932"/>
              </a:xfrm>
            </p:grpSpPr>
            <p:sp>
              <p:nvSpPr>
                <p:cNvPr id="57" name="다이아몬드 56">
                  <a:extLst>
                    <a:ext uri="{FF2B5EF4-FFF2-40B4-BE49-F238E27FC236}">
                      <a16:creationId xmlns:a16="http://schemas.microsoft.com/office/drawing/2014/main" id="{7966AC75-6A28-47B9-2AE8-8591BBDB71DA}"/>
                    </a:ext>
                  </a:extLst>
                </p:cNvPr>
                <p:cNvSpPr/>
                <p:nvPr/>
              </p:nvSpPr>
              <p:spPr>
                <a:xfrm>
                  <a:off x="10475142" y="1512462"/>
                  <a:ext cx="1080000" cy="495225"/>
                </a:xfrm>
                <a:prstGeom prst="diamond">
                  <a:avLst/>
                </a:prstGeom>
                <a:ln/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맑은 고딕" panose="020F0502020204030204"/>
                      <a:ea typeface="맑은 고딕" panose="020B0503020000020004" pitchFamily="50" charset="-127"/>
                      <a:cs typeface="+mn-cs"/>
                    </a:rPr>
                    <a:t>n&lt;=5</a:t>
                  </a:r>
                  <a:endParaRPr kumimoji="0" lang="ko-KR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B563F083-2E98-6A0E-6025-B33252A47BAE}"/>
                    </a:ext>
                  </a:extLst>
                </p:cNvPr>
                <p:cNvSpPr/>
                <p:nvPr/>
              </p:nvSpPr>
              <p:spPr>
                <a:xfrm>
                  <a:off x="10053476" y="2282811"/>
                  <a:ext cx="1923330" cy="495225"/>
                </a:xfrm>
                <a:prstGeom prst="rect">
                  <a:avLst/>
                </a:prstGeom>
                <a:ln/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ko-KR" sz="1200" b="1" kern="0" noProof="0" dirty="0">
                      <a:solidFill>
                        <a:prstClr val="white"/>
                      </a:solidFill>
                      <a:latin typeface="맑은 고딕" panose="020F0502020204030204"/>
                      <a:ea typeface="맑은 고딕" panose="020B0503020000020004" pitchFamily="50" charset="-127"/>
                    </a:rPr>
                    <a:t>‘</a:t>
                  </a:r>
                  <a:r>
                    <a:rPr lang="ko-KR" altLang="en-US" sz="1200" b="1" kern="0" noProof="0" dirty="0">
                      <a:solidFill>
                        <a:prstClr val="white"/>
                      </a:solidFill>
                      <a:latin typeface="맑은 고딕" panose="020F0502020204030204"/>
                      <a:ea typeface="맑은 고딕" panose="020B0503020000020004" pitchFamily="50" charset="-127"/>
                    </a:rPr>
                    <a:t>파이썬 재미있네</a:t>
                  </a:r>
                  <a:r>
                    <a:rPr lang="en-US" altLang="ko-KR" sz="1200" b="1" kern="0" noProof="0" dirty="0">
                      <a:solidFill>
                        <a:prstClr val="white"/>
                      </a:solidFill>
                      <a:latin typeface="맑은 고딕" panose="020F0502020204030204"/>
                      <a:ea typeface="맑은 고딕" panose="020B0503020000020004" pitchFamily="50" charset="-127"/>
                    </a:rPr>
                    <a:t>’</a:t>
                  </a:r>
                  <a:r>
                    <a:rPr lang="ko-KR" altLang="en-US" sz="1200" b="1" kern="0" noProof="0" dirty="0">
                      <a:solidFill>
                        <a:prstClr val="white"/>
                      </a:solidFill>
                      <a:latin typeface="맑은 고딕" panose="020F0502020204030204"/>
                      <a:ea typeface="맑은 고딕" panose="020B0503020000020004" pitchFamily="50" charset="-127"/>
                    </a:rPr>
                    <a:t> 출력</a:t>
                  </a:r>
                  <a:endParaRPr lang="en-US" altLang="ko-KR" sz="1200" b="1" kern="0" noProof="0" dirty="0">
                    <a:solidFill>
                      <a:prstClr val="white"/>
                    </a:solidFill>
                    <a:latin typeface="맑은 고딕" panose="020F0502020204030204"/>
                    <a:ea typeface="맑은 고딕" panose="020B0503020000020004" pitchFamily="50" charset="-127"/>
                  </a:endParaRPr>
                </a:p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ko-KR" sz="1200" b="1" kern="0" noProof="0" dirty="0">
                      <a:solidFill>
                        <a:prstClr val="white"/>
                      </a:solidFill>
                      <a:latin typeface="맑은 고딕" panose="020F0502020204030204"/>
                      <a:ea typeface="맑은 고딕" panose="020B0503020000020004" pitchFamily="50" charset="-127"/>
                    </a:rPr>
                    <a:t>n</a:t>
                  </a:r>
                  <a:r>
                    <a:rPr kumimoji="0" lang="en-US" altLang="ko-KR" sz="1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맑은 고딕" panose="020F0502020204030204"/>
                      <a:ea typeface="맑은 고딕" panose="020B0503020000020004" pitchFamily="50" charset="-127"/>
                      <a:cs typeface="+mn-cs"/>
                    </a:rPr>
                    <a:t> </a:t>
                  </a:r>
                  <a:r>
                    <a:rPr kumimoji="0" lang="ko-KR" altLang="en-US" sz="1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맑은 고딕" panose="020F0502020204030204"/>
                      <a:ea typeface="맑은 고딕" panose="020B0503020000020004" pitchFamily="50" charset="-127"/>
                      <a:cs typeface="+mn-cs"/>
                    </a:rPr>
                    <a:t>하나 증가</a:t>
                  </a:r>
                </a:p>
              </p:txBody>
            </p:sp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E0D87BEB-DEE3-8F18-27D9-E71F4E7EA91F}"/>
                    </a:ext>
                  </a:extLst>
                </p:cNvPr>
                <p:cNvSpPr/>
                <p:nvPr/>
              </p:nvSpPr>
              <p:spPr>
                <a:xfrm>
                  <a:off x="10285125" y="3096366"/>
                  <a:ext cx="1460032" cy="23767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 panose="020F0502020204030204"/>
                      <a:ea typeface="맑은 고딕" panose="020B0503020000020004" pitchFamily="50" charset="-127"/>
                      <a:cs typeface="+mn-cs"/>
                    </a:rPr>
                    <a:t>‘</a:t>
                  </a:r>
                  <a:r>
                    <a:rPr kumimoji="0" lang="ko-KR" altLang="en-US" sz="1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 panose="020F0502020204030204"/>
                      <a:ea typeface="맑은 고딕" panose="020B0503020000020004" pitchFamily="50" charset="-127"/>
                      <a:cs typeface="+mn-cs"/>
                    </a:rPr>
                    <a:t>파이썬 쉽네 출력</a:t>
                  </a:r>
                  <a:r>
                    <a:rPr kumimoji="0" lang="en-US" altLang="ko-KR" sz="1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 panose="020F0502020204030204"/>
                      <a:ea typeface="맑은 고딕" panose="020B0503020000020004" pitchFamily="50" charset="-127"/>
                      <a:cs typeface="+mn-cs"/>
                    </a:rPr>
                    <a:t>’</a:t>
                  </a:r>
                  <a:endParaRPr kumimoji="0" lang="ko-KR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60" name="꺾인 연결선 13">
                  <a:extLst>
                    <a:ext uri="{FF2B5EF4-FFF2-40B4-BE49-F238E27FC236}">
                      <a16:creationId xmlns:a16="http://schemas.microsoft.com/office/drawing/2014/main" id="{B8B14225-FA5F-624A-0292-E1B026D8E464}"/>
                    </a:ext>
                  </a:extLst>
                </p:cNvPr>
                <p:cNvCxnSpPr>
                  <a:cxnSpLocks/>
                  <a:stCxn id="57" idx="3"/>
                  <a:endCxn id="59" idx="0"/>
                </p:cNvCxnSpPr>
                <p:nvPr/>
              </p:nvCxnSpPr>
              <p:spPr>
                <a:xfrm flipH="1">
                  <a:off x="11015141" y="1760075"/>
                  <a:ext cx="540001" cy="1336291"/>
                </a:xfrm>
                <a:prstGeom prst="bentConnector4">
                  <a:avLst>
                    <a:gd name="adj1" fmla="val -101517"/>
                    <a:gd name="adj2" fmla="val 86504"/>
                  </a:avLst>
                </a:prstGeom>
                <a:noFill/>
                <a:ln w="19050" cap="flat" cmpd="sng" algn="ctr">
                  <a:solidFill>
                    <a:srgbClr val="FFC000">
                      <a:lumMod val="75000"/>
                    </a:srgbClr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61" name="꺾인 연결선 14">
                  <a:extLst>
                    <a:ext uri="{FF2B5EF4-FFF2-40B4-BE49-F238E27FC236}">
                      <a16:creationId xmlns:a16="http://schemas.microsoft.com/office/drawing/2014/main" id="{DAF2306A-35BE-11F4-4FE7-3E57E824DC97}"/>
                    </a:ext>
                  </a:extLst>
                </p:cNvPr>
                <p:cNvCxnSpPr>
                  <a:cxnSpLocks/>
                  <a:stCxn id="58" idx="1"/>
                  <a:endCxn id="57" idx="1"/>
                </p:cNvCxnSpPr>
                <p:nvPr/>
              </p:nvCxnSpPr>
              <p:spPr>
                <a:xfrm rot="10800000" flipH="1">
                  <a:off x="10053476" y="1760076"/>
                  <a:ext cx="421666" cy="770349"/>
                </a:xfrm>
                <a:prstGeom prst="bentConnector3">
                  <a:avLst>
                    <a:gd name="adj1" fmla="val -54214"/>
                  </a:avLst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62" name="직선 화살표 연결선 61">
                  <a:extLst>
                    <a:ext uri="{FF2B5EF4-FFF2-40B4-BE49-F238E27FC236}">
                      <a16:creationId xmlns:a16="http://schemas.microsoft.com/office/drawing/2014/main" id="{55A369F5-8F00-AE23-08F7-5B1FDD5B3DDD}"/>
                    </a:ext>
                  </a:extLst>
                </p:cNvPr>
                <p:cNvCxnSpPr>
                  <a:cxnSpLocks/>
                  <a:stCxn id="57" idx="2"/>
                  <a:endCxn id="58" idx="0"/>
                </p:cNvCxnSpPr>
                <p:nvPr/>
              </p:nvCxnSpPr>
              <p:spPr>
                <a:xfrm flipH="1">
                  <a:off x="11015141" y="2007687"/>
                  <a:ext cx="1" cy="275124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8303528D-86FD-64BE-DC9A-8D597EE88484}"/>
                    </a:ext>
                  </a:extLst>
                </p:cNvPr>
                <p:cNvSpPr txBox="1"/>
                <p:nvPr/>
              </p:nvSpPr>
              <p:spPr>
                <a:xfrm>
                  <a:off x="10907191" y="1997814"/>
                  <a:ext cx="60548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rPr>
                    <a:t>True</a:t>
                  </a:r>
                  <a:endParaRPr kumimoji="0" lang="ko-KR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E8D868EA-73BD-B083-1CDE-AA6EB43A42CD}"/>
                    </a:ext>
                  </a:extLst>
                </p:cNvPr>
                <p:cNvSpPr txBox="1"/>
                <p:nvPr/>
              </p:nvSpPr>
              <p:spPr>
                <a:xfrm>
                  <a:off x="10559848" y="1297107"/>
                  <a:ext cx="92340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rPr>
                    <a:t>조건식</a:t>
                  </a: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0FA71091-4029-500A-6180-2CCB924A3B5A}"/>
                    </a:ext>
                  </a:extLst>
                </p:cNvPr>
                <p:cNvSpPr txBox="1"/>
                <p:nvPr/>
              </p:nvSpPr>
              <p:spPr>
                <a:xfrm>
                  <a:off x="11342652" y="1524164"/>
                  <a:ext cx="63415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</a:rPr>
                    <a:t>False</a:t>
                  </a:r>
                  <a:endParaRPr kumimoji="0" lang="ko-KR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017E001-EF8F-4C6B-B280-8DD2F4AE10E1}"/>
                </a:ext>
              </a:extLst>
            </p:cNvPr>
            <p:cNvSpPr/>
            <p:nvPr/>
          </p:nvSpPr>
          <p:spPr>
            <a:xfrm>
              <a:off x="5596467" y="5608224"/>
              <a:ext cx="916771" cy="2286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1963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FA6F7-3276-1C71-46D9-3AAD9676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95D1CFC-7F6E-3E8B-2356-B3AFCD1E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while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FB3E0DF-2B8D-450F-F2C0-234F471463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while</a:t>
            </a:r>
            <a:r>
              <a:rPr lang="ko-KR" altLang="en-US" dirty="0"/>
              <a:t>문 적용하기</a:t>
            </a:r>
            <a:r>
              <a:rPr lang="en-US" altLang="ko-KR" dirty="0"/>
              <a:t>1</a:t>
            </a:r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4-1: </a:t>
            </a:r>
            <a:r>
              <a:rPr lang="en-US" altLang="ko-KR" sz="1600" dirty="0"/>
              <a:t>1</a:t>
            </a:r>
            <a:r>
              <a:rPr lang="ko-KR" altLang="en-US" sz="1600" dirty="0"/>
              <a:t>부터 시작하여 사용자가 입력한 값까지 모든 정수를 합한 결과를 출력하는 프로그램을 작성해 보자</a:t>
            </a:r>
            <a:r>
              <a:rPr lang="en-US" altLang="ko-KR" sz="1600" dirty="0"/>
              <a:t>.</a:t>
            </a:r>
          </a:p>
          <a:p>
            <a:pPr lvl="3"/>
            <a:r>
              <a:rPr lang="ko-KR" altLang="en-US" dirty="0"/>
              <a:t>입력 값으로 </a:t>
            </a:r>
            <a:r>
              <a:rPr lang="en-US" altLang="ko-KR" dirty="0"/>
              <a:t>10</a:t>
            </a:r>
            <a:r>
              <a:rPr lang="ko-KR" altLang="en-US" dirty="0"/>
              <a:t>을 넣어서 합한 결과를 출력해 보자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dirty="0"/>
              <a:t>입력 값으로 </a:t>
            </a:r>
            <a:r>
              <a:rPr lang="en-US" altLang="ko-KR" dirty="0"/>
              <a:t>30</a:t>
            </a:r>
            <a:r>
              <a:rPr lang="ko-KR" altLang="en-US" dirty="0"/>
              <a:t>을 넣어서 합한 결과를 출력해 보자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dirty="0"/>
              <a:t>계산 방법을 다른 사람에게 설명한다면</a:t>
            </a:r>
            <a:r>
              <a:rPr lang="en-US" altLang="ko-KR" dirty="0"/>
              <a:t>?</a:t>
            </a:r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5" name="Text Box 20">
            <a:extLst>
              <a:ext uri="{FF2B5EF4-FFF2-40B4-BE49-F238E27FC236}">
                <a16:creationId xmlns:a16="http://schemas.microsoft.com/office/drawing/2014/main" id="{FC82EB89-CE19-4088-8585-31BECDCAA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944" y="4130222"/>
            <a:ext cx="5688632" cy="181588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latinLnBrk="0">
              <a:buClrTx/>
              <a:buSzTx/>
              <a:buFontTx/>
              <a:buNone/>
              <a:defRPr kumimoji="1" sz="2400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9pPr>
          </a:lstStyle>
          <a:p>
            <a:r>
              <a:rPr lang="en-US" altLang="ko-KR" sz="1600" dirty="0">
                <a:latin typeface="나눔바른고딕" panose="020B0600000101010101" charset="-127"/>
                <a:ea typeface="나눔바른고딕" panose="020B0600000101010101" charset="-127"/>
              </a:rPr>
              <a:t>total = 0</a:t>
            </a:r>
          </a:p>
          <a:p>
            <a:r>
              <a:rPr lang="en-US" altLang="ko-KR" sz="1600" dirty="0">
                <a:latin typeface="나눔바른고딕" panose="020B0600000101010101" charset="-127"/>
                <a:ea typeface="나눔바른고딕" panose="020B0600000101010101" charset="-127"/>
              </a:rPr>
              <a:t>total = 0 + 1</a:t>
            </a:r>
          </a:p>
          <a:p>
            <a:r>
              <a:rPr lang="en-US" altLang="ko-KR" sz="1600" dirty="0">
                <a:latin typeface="나눔바른고딕" panose="020B0600000101010101" charset="-127"/>
                <a:ea typeface="나눔바른고딕" panose="020B0600000101010101" charset="-127"/>
              </a:rPr>
              <a:t>total = 0 + 1 + 2</a:t>
            </a:r>
          </a:p>
          <a:p>
            <a:r>
              <a:rPr lang="en-US" altLang="ko-KR" sz="1600" dirty="0">
                <a:latin typeface="나눔바른고딕" panose="020B0600000101010101" charset="-127"/>
                <a:ea typeface="나눔바른고딕" panose="020B0600000101010101" charset="-127"/>
              </a:rPr>
              <a:t>total = 0 + 1 + 2 + 3</a:t>
            </a:r>
          </a:p>
          <a:p>
            <a:r>
              <a:rPr lang="en-US" altLang="ko-KR" sz="1600" dirty="0">
                <a:latin typeface="나눔바른고딕" panose="020B0600000101010101" charset="-127"/>
                <a:ea typeface="나눔바른고딕" panose="020B0600000101010101" charset="-127"/>
              </a:rPr>
              <a:t>…</a:t>
            </a:r>
          </a:p>
          <a:p>
            <a:r>
              <a:rPr lang="en-US" altLang="ko-KR" sz="1600" dirty="0">
                <a:latin typeface="나눔바른고딕" panose="020B0600000101010101" charset="-127"/>
                <a:ea typeface="나눔바른고딕" panose="020B0600000101010101" charset="-127"/>
              </a:rPr>
              <a:t>total = 0 + 1 + 2 + 3 + … + 9</a:t>
            </a:r>
          </a:p>
          <a:p>
            <a:r>
              <a:rPr lang="en-US" altLang="ko-KR" sz="1600" dirty="0">
                <a:latin typeface="나눔바른고딕" panose="020B0600000101010101" charset="-127"/>
                <a:ea typeface="나눔바른고딕" panose="020B0600000101010101" charset="-127"/>
              </a:rPr>
              <a:t>total = 0 + 1 + 2 + 3 + … + 9 + 10</a:t>
            </a:r>
          </a:p>
        </p:txBody>
      </p:sp>
      <p:sp>
        <p:nvSpPr>
          <p:cNvPr id="6" name="Text Box 20">
            <a:extLst>
              <a:ext uri="{FF2B5EF4-FFF2-40B4-BE49-F238E27FC236}">
                <a16:creationId xmlns:a16="http://schemas.microsoft.com/office/drawing/2014/main" id="{49594118-50A2-49DB-BECB-899AF3B6D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00" y="4130222"/>
            <a:ext cx="1944216" cy="181588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latinLnBrk="0">
              <a:buClrTx/>
              <a:buSzTx/>
              <a:buFontTx/>
              <a:buNone/>
              <a:defRPr kumimoji="1" sz="2400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9pPr>
          </a:lstStyle>
          <a:p>
            <a:r>
              <a:rPr lang="en-US" altLang="ko-KR" sz="1600" dirty="0">
                <a:latin typeface="나눔바른고딕" panose="020B0600000101010101" charset="-127"/>
                <a:ea typeface="나눔바른고딕" panose="020B0600000101010101" charset="-127"/>
              </a:rPr>
              <a:t>total = 0</a:t>
            </a:r>
          </a:p>
          <a:p>
            <a:r>
              <a:rPr lang="en-US" altLang="ko-KR" sz="1600" dirty="0">
                <a:latin typeface="나눔바른고딕" panose="020B0600000101010101" charset="-127"/>
                <a:ea typeface="나눔바른고딕" panose="020B0600000101010101" charset="-127"/>
              </a:rPr>
              <a:t>total += 1</a:t>
            </a:r>
          </a:p>
          <a:p>
            <a:r>
              <a:rPr lang="en-US" altLang="ko-KR" sz="1600" dirty="0">
                <a:latin typeface="나눔바른고딕" panose="020B0600000101010101" charset="-127"/>
                <a:ea typeface="나눔바른고딕" panose="020B0600000101010101" charset="-127"/>
              </a:rPr>
              <a:t>total += 2</a:t>
            </a:r>
          </a:p>
          <a:p>
            <a:r>
              <a:rPr lang="en-US" altLang="ko-KR" sz="1600" dirty="0">
                <a:latin typeface="나눔바른고딕" panose="020B0600000101010101" charset="-127"/>
                <a:ea typeface="나눔바른고딕" panose="020B0600000101010101" charset="-127"/>
              </a:rPr>
              <a:t>total += 3</a:t>
            </a:r>
          </a:p>
          <a:p>
            <a:r>
              <a:rPr lang="en-US" altLang="ko-KR" sz="1600" dirty="0">
                <a:latin typeface="나눔바른고딕" panose="020B0600000101010101" charset="-127"/>
                <a:ea typeface="나눔바른고딕" panose="020B0600000101010101" charset="-127"/>
              </a:rPr>
              <a:t>…</a:t>
            </a:r>
          </a:p>
          <a:p>
            <a:r>
              <a:rPr lang="en-US" altLang="ko-KR" sz="1600" dirty="0">
                <a:latin typeface="나눔바른고딕" panose="020B0600000101010101" charset="-127"/>
                <a:ea typeface="나눔바른고딕" panose="020B0600000101010101" charset="-127"/>
              </a:rPr>
              <a:t>total += 9</a:t>
            </a:r>
          </a:p>
          <a:p>
            <a:r>
              <a:rPr lang="en-US" altLang="ko-KR" sz="1600" dirty="0">
                <a:latin typeface="나눔바른고딕" panose="020B0600000101010101" charset="-127"/>
                <a:ea typeface="나눔바른고딕" panose="020B0600000101010101" charset="-127"/>
              </a:rPr>
              <a:t>total += 10</a:t>
            </a:r>
          </a:p>
        </p:txBody>
      </p:sp>
    </p:spTree>
    <p:extLst>
      <p:ext uri="{BB962C8B-B14F-4D97-AF65-F5344CB8AC3E}">
        <p14:creationId xmlns:p14="http://schemas.microsoft.com/office/powerpoint/2010/main" val="1476263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952ED-A49C-2DE4-65D5-0754A179E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BF7E859-C835-3205-2931-26696D28B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while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C1859CF-5EF1-1148-1E42-4DD4174AF3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while</a:t>
            </a:r>
            <a:r>
              <a:rPr lang="ko-KR" altLang="en-US" dirty="0"/>
              <a:t>문 적용하기</a:t>
            </a:r>
            <a:r>
              <a:rPr lang="en-US" altLang="ko-KR" dirty="0"/>
              <a:t>1</a:t>
            </a:r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4-1: </a:t>
            </a:r>
            <a:r>
              <a:rPr lang="en-US" altLang="ko-KR" sz="1600" dirty="0"/>
              <a:t>1</a:t>
            </a:r>
            <a:r>
              <a:rPr lang="ko-KR" altLang="en-US" sz="1600" dirty="0"/>
              <a:t>부터 시작하여 사용자가 입력한 값까지 모든 정수를 합한 결과를 출력하는 프로그램을 작성해 보자</a:t>
            </a:r>
            <a:r>
              <a:rPr lang="en-US" altLang="ko-KR" sz="1600" dirty="0"/>
              <a:t>.</a:t>
            </a:r>
          </a:p>
          <a:p>
            <a:pPr lvl="3"/>
            <a:r>
              <a:rPr lang="ko-KR" altLang="en-US" dirty="0"/>
              <a:t>알고리즘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D33CB5-50EE-714C-9FC3-EC932506833C}"/>
              </a:ext>
            </a:extLst>
          </p:cNvPr>
          <p:cNvSpPr/>
          <p:nvPr/>
        </p:nvSpPr>
        <p:spPr>
          <a:xfrm>
            <a:off x="2114062" y="3049233"/>
            <a:ext cx="7317805" cy="2437167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177800" lvl="2">
              <a:lnSpc>
                <a:spcPct val="150000"/>
              </a:lnSpc>
            </a:pPr>
            <a:r>
              <a:rPr lang="ko-KR" altLang="en-US" sz="1600" dirty="0"/>
              <a:t>① 합계를 위한 변수</a:t>
            </a:r>
            <a:r>
              <a:rPr lang="en-US" altLang="ko-KR" sz="1600" dirty="0"/>
              <a:t>, </a:t>
            </a:r>
            <a:r>
              <a:rPr lang="ko-KR" altLang="en-US" sz="1600" dirty="0"/>
              <a:t>단계를 나타내는 변수 초기화한다</a:t>
            </a:r>
            <a:r>
              <a:rPr lang="en-US" altLang="ko-KR" sz="1600" dirty="0"/>
              <a:t>. 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② </a:t>
            </a:r>
            <a:r>
              <a:rPr lang="ko-KR" altLang="en-US" sz="1600" dirty="0"/>
              <a:t>하나의 정수 </a:t>
            </a:r>
            <a:r>
              <a:rPr lang="en-US" altLang="ko-KR" sz="1600" dirty="0"/>
              <a:t>n</a:t>
            </a:r>
            <a:r>
              <a:rPr lang="ko-KR" altLang="en-US" sz="1600" dirty="0"/>
              <a:t>을 입력한다</a:t>
            </a:r>
            <a:r>
              <a:rPr lang="en-US" altLang="ko-KR" sz="1600" dirty="0"/>
              <a:t>.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③ </a:t>
            </a:r>
            <a:r>
              <a:rPr lang="ko-KR" altLang="en-US" sz="1600" dirty="0"/>
              <a:t>조건문을 이용하여 정수 </a:t>
            </a:r>
            <a:r>
              <a:rPr lang="en-US" altLang="ko-KR" sz="1600" dirty="0"/>
              <a:t>n</a:t>
            </a:r>
            <a:r>
              <a:rPr lang="ko-KR" altLang="en-US" sz="1600" dirty="0"/>
              <a:t>을 초과하는지 비교한다</a:t>
            </a:r>
            <a:r>
              <a:rPr lang="en-US" altLang="ko-KR" sz="1600" dirty="0"/>
              <a:t>.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④ n</a:t>
            </a:r>
            <a:r>
              <a:rPr lang="ko-KR" altLang="en-US" sz="1600" dirty="0"/>
              <a:t>보다 작거나 같을 동안 </a:t>
            </a:r>
            <a:r>
              <a:rPr lang="en-US" altLang="ko-KR" sz="1600" dirty="0"/>
              <a:t>1</a:t>
            </a:r>
            <a:r>
              <a:rPr lang="ko-KR" altLang="en-US" sz="1600" dirty="0"/>
              <a:t>부터 </a:t>
            </a:r>
            <a:r>
              <a:rPr lang="en-US" altLang="ko-KR" sz="1600" dirty="0"/>
              <a:t>n</a:t>
            </a:r>
            <a:r>
              <a:rPr lang="ko-KR" altLang="en-US" sz="1600" dirty="0"/>
              <a:t>까지 단계를 증가하면서 합계를 구한다</a:t>
            </a:r>
            <a:r>
              <a:rPr lang="en-US" altLang="ko-KR" sz="1600" dirty="0"/>
              <a:t>. 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⑤ n</a:t>
            </a:r>
            <a:r>
              <a:rPr lang="ko-KR" altLang="en-US" sz="1600" dirty="0"/>
              <a:t>보다 초과한 경우 반복문을 빠져나온다</a:t>
            </a:r>
            <a:r>
              <a:rPr lang="en-US" altLang="ko-KR" sz="1600" dirty="0"/>
              <a:t>.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⑥ </a:t>
            </a:r>
            <a:r>
              <a:rPr lang="ko-KR" altLang="en-US" sz="1600" dirty="0"/>
              <a:t>합계를 출력한다</a:t>
            </a:r>
            <a:r>
              <a:rPr lang="en-US" altLang="ko-KR" sz="1600" dirty="0"/>
              <a:t>. </a:t>
            </a:r>
            <a:endParaRPr lang="ko-KR" altLang="en-US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1501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FA6F7-3276-1C71-46D9-3AAD9676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95D1CFC-7F6E-3E8B-2356-B3AFCD1E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while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FB3E0DF-2B8D-450F-F2C0-234F471463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while</a:t>
            </a:r>
            <a:r>
              <a:rPr lang="ko-KR" altLang="en-US" dirty="0"/>
              <a:t>문 적용하기</a:t>
            </a:r>
            <a:r>
              <a:rPr lang="en-US" altLang="ko-KR" dirty="0"/>
              <a:t>1</a:t>
            </a:r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4-1: </a:t>
            </a:r>
            <a:r>
              <a:rPr lang="en-US" altLang="ko-KR" sz="1600" dirty="0"/>
              <a:t>1</a:t>
            </a:r>
            <a:r>
              <a:rPr lang="ko-KR" altLang="en-US" sz="1600" dirty="0"/>
              <a:t>부터 시작하여 사용자가 입력한 값까지 모든 정수를 합한 결과를 출력하는 프로그램을 작성해 보자</a:t>
            </a:r>
            <a:r>
              <a:rPr lang="en-US" altLang="ko-KR" sz="1600" dirty="0"/>
              <a:t>.</a:t>
            </a:r>
          </a:p>
          <a:p>
            <a:pPr lvl="3"/>
            <a:r>
              <a:rPr lang="en-US" altLang="ko-KR" dirty="0"/>
              <a:t>while</a:t>
            </a:r>
            <a:r>
              <a:rPr lang="ko-KR" altLang="en-US" dirty="0"/>
              <a:t>문을 적용하지 않은 경우</a:t>
            </a:r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77CE4FE-E071-4A68-B6A9-3A93F07D0448}"/>
              </a:ext>
            </a:extLst>
          </p:cNvPr>
          <p:cNvGrpSpPr/>
          <p:nvPr/>
        </p:nvGrpSpPr>
        <p:grpSpPr>
          <a:xfrm>
            <a:off x="2199432" y="3403762"/>
            <a:ext cx="7217319" cy="2554545"/>
            <a:chOff x="2199432" y="3403762"/>
            <a:chExt cx="7217319" cy="2554545"/>
          </a:xfrm>
        </p:grpSpPr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F83DDABE-601B-4B5F-BBB2-09BAA36C91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2680" y="3403762"/>
              <a:ext cx="2783272" cy="255454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defPPr>
                <a:defRPr lang="en-US"/>
              </a:defPPr>
              <a:lvl1pPr latinLnBrk="0">
                <a:buClrTx/>
                <a:buSzTx/>
                <a:buFontTx/>
                <a:buNone/>
                <a:defRPr kumimoji="1" sz="2400">
                  <a:solidFill>
                    <a:schemeClr val="tx1"/>
                  </a:solidFill>
                  <a:latin typeface="Consolas" panose="020B0609020204030204" pitchFamily="49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total = 0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n = 1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if</a:t>
              </a:r>
              <a:r>
                <a:rPr kumimoji="1" lang="ko-KR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 </a:t>
              </a: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n &lt;= 10: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    total += n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    n += 1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if n &lt;= 10: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    total += n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    n += 1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…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print(total)</a:t>
              </a:r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A2B95C34-094C-42CA-87D0-4F20D37E4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9432" y="3403762"/>
              <a:ext cx="1931800" cy="255454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defPPr>
                <a:defRPr lang="en-US"/>
              </a:defPPr>
              <a:lvl1pPr latinLnBrk="0">
                <a:buClrTx/>
                <a:buSzTx/>
                <a:buFontTx/>
                <a:buNone/>
                <a:defRPr kumimoji="1" sz="2400">
                  <a:solidFill>
                    <a:schemeClr val="tx1"/>
                  </a:solidFill>
                  <a:latin typeface="Consolas" panose="020B0609020204030204" pitchFamily="49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total = 0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n = 1   # 1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total += n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n += 1  # 2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total += n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n += 1  # 3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…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n += 1  # 10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total += n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rPr>
                <a:t>print(total)</a:t>
              </a: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4CCCF3C-6F5C-49BF-AB7E-647997782194}"/>
                </a:ext>
              </a:extLst>
            </p:cNvPr>
            <p:cNvGrpSpPr/>
            <p:nvPr/>
          </p:nvGrpSpPr>
          <p:grpSpPr>
            <a:xfrm>
              <a:off x="3912214" y="3759199"/>
              <a:ext cx="1356659" cy="1828801"/>
              <a:chOff x="3912214" y="3545976"/>
              <a:chExt cx="1356659" cy="2125597"/>
            </a:xfrm>
          </p:grpSpPr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236EC54A-5BE0-4047-B6CC-8B9E0D525600}"/>
                  </a:ext>
                </a:extLst>
              </p:cNvPr>
              <p:cNvGrpSpPr/>
              <p:nvPr/>
            </p:nvGrpSpPr>
            <p:grpSpPr>
              <a:xfrm>
                <a:off x="3912214" y="3545976"/>
                <a:ext cx="489366" cy="2125597"/>
                <a:chOff x="2195736" y="1270333"/>
                <a:chExt cx="576064" cy="3528399"/>
              </a:xfrm>
            </p:grpSpPr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CF1D984D-266E-4DA8-B92F-648C7BF80216}"/>
                    </a:ext>
                  </a:extLst>
                </p:cNvPr>
                <p:cNvCxnSpPr/>
                <p:nvPr/>
              </p:nvCxnSpPr>
              <p:spPr bwMode="auto">
                <a:xfrm>
                  <a:off x="2195736" y="1270336"/>
                  <a:ext cx="576064" cy="0"/>
                </a:xfrm>
                <a:prstGeom prst="line">
                  <a:avLst/>
                </a:prstGeom>
                <a:ln w="28575">
                  <a:headEnd type="none" w="med" len="med"/>
                  <a:tailEnd type="none" w="med" len="med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02E95D07-350B-48A7-979E-B19A8F0F90E4}"/>
                    </a:ext>
                  </a:extLst>
                </p:cNvPr>
                <p:cNvCxnSpPr/>
                <p:nvPr/>
              </p:nvCxnSpPr>
              <p:spPr bwMode="auto">
                <a:xfrm>
                  <a:off x="2195736" y="4798732"/>
                  <a:ext cx="576064" cy="0"/>
                </a:xfrm>
                <a:prstGeom prst="line">
                  <a:avLst/>
                </a:prstGeom>
                <a:ln w="28575">
                  <a:headEnd type="none" w="med" len="med"/>
                  <a:tailEnd type="none" w="med" len="med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FF713F5E-0116-4A65-B0E4-A9144C3F87E9}"/>
                    </a:ext>
                  </a:extLst>
                </p:cNvPr>
                <p:cNvCxnSpPr/>
                <p:nvPr/>
              </p:nvCxnSpPr>
              <p:spPr bwMode="auto">
                <a:xfrm flipV="1">
                  <a:off x="2771800" y="1270333"/>
                  <a:ext cx="0" cy="3528393"/>
                </a:xfrm>
                <a:prstGeom prst="line">
                  <a:avLst/>
                </a:prstGeom>
                <a:ln w="28575">
                  <a:headEnd type="none" w="med" len="med"/>
                  <a:tailEnd type="none" w="med" len="med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53FE206-1E72-484E-8C5A-625D907790F1}"/>
                  </a:ext>
                </a:extLst>
              </p:cNvPr>
              <p:cNvSpPr txBox="1"/>
              <p:nvPr/>
            </p:nvSpPr>
            <p:spPr>
              <a:xfrm>
                <a:off x="4114390" y="4533157"/>
                <a:ext cx="11544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2000" dirty="0">
                    <a:solidFill>
                      <a:srgbClr val="000000"/>
                    </a:solidFill>
                    <a:latin typeface="+mn-ea"/>
                  </a:rPr>
                  <a:t>n &lt;= 10</a:t>
                </a:r>
                <a:endParaRPr lang="ko-KR" altLang="en-US" sz="2000" dirty="0">
                  <a:solidFill>
                    <a:srgbClr val="000000"/>
                  </a:solidFill>
                  <a:latin typeface="+mn-ea"/>
                </a:endParaRP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DE5117D6-C4EF-4473-BA09-D2655AB4928B}"/>
                </a:ext>
              </a:extLst>
            </p:cNvPr>
            <p:cNvGrpSpPr/>
            <p:nvPr/>
          </p:nvGrpSpPr>
          <p:grpSpPr>
            <a:xfrm>
              <a:off x="8051269" y="3835400"/>
              <a:ext cx="1365482" cy="1752597"/>
              <a:chOff x="8051269" y="3545978"/>
              <a:chExt cx="1365482" cy="2243685"/>
            </a:xfrm>
          </p:grpSpPr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6982A140-C70C-4609-80A6-D0D053111E7A}"/>
                  </a:ext>
                </a:extLst>
              </p:cNvPr>
              <p:cNvGrpSpPr/>
              <p:nvPr/>
            </p:nvGrpSpPr>
            <p:grpSpPr>
              <a:xfrm>
                <a:off x="8051269" y="3545978"/>
                <a:ext cx="489366" cy="2243685"/>
                <a:chOff x="2195736" y="1304364"/>
                <a:chExt cx="576064" cy="3528396"/>
              </a:xfrm>
            </p:grpSpPr>
            <p:cxnSp>
              <p:nvCxnSpPr>
                <p:cNvPr id="26" name="직선 연결선 25">
                  <a:extLst>
                    <a:ext uri="{FF2B5EF4-FFF2-40B4-BE49-F238E27FC236}">
                      <a16:creationId xmlns:a16="http://schemas.microsoft.com/office/drawing/2014/main" id="{EA1E7919-34E9-4012-8341-2A7B1FB33347}"/>
                    </a:ext>
                  </a:extLst>
                </p:cNvPr>
                <p:cNvCxnSpPr/>
                <p:nvPr/>
              </p:nvCxnSpPr>
              <p:spPr bwMode="auto">
                <a:xfrm>
                  <a:off x="2195736" y="1304364"/>
                  <a:ext cx="576064" cy="0"/>
                </a:xfrm>
                <a:prstGeom prst="line">
                  <a:avLst/>
                </a:prstGeom>
                <a:ln w="28575">
                  <a:headEnd type="none" w="med" len="med"/>
                  <a:tailEnd type="none" w="med" len="med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7814C771-1401-4E17-895D-862CC615956F}"/>
                    </a:ext>
                  </a:extLst>
                </p:cNvPr>
                <p:cNvCxnSpPr/>
                <p:nvPr/>
              </p:nvCxnSpPr>
              <p:spPr bwMode="auto">
                <a:xfrm>
                  <a:off x="2195736" y="4832760"/>
                  <a:ext cx="576064" cy="0"/>
                </a:xfrm>
                <a:prstGeom prst="line">
                  <a:avLst/>
                </a:prstGeom>
                <a:ln w="28575">
                  <a:headEnd type="none" w="med" len="med"/>
                  <a:tailEnd type="none" w="med" len="med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직선 연결선 27">
                  <a:extLst>
                    <a:ext uri="{FF2B5EF4-FFF2-40B4-BE49-F238E27FC236}">
                      <a16:creationId xmlns:a16="http://schemas.microsoft.com/office/drawing/2014/main" id="{D3FECD89-18B6-4E22-A9DC-C450F64CF903}"/>
                    </a:ext>
                  </a:extLst>
                </p:cNvPr>
                <p:cNvCxnSpPr/>
                <p:nvPr/>
              </p:nvCxnSpPr>
              <p:spPr bwMode="auto">
                <a:xfrm flipV="1">
                  <a:off x="2771800" y="1304366"/>
                  <a:ext cx="0" cy="3528392"/>
                </a:xfrm>
                <a:prstGeom prst="line">
                  <a:avLst/>
                </a:prstGeom>
                <a:ln w="28575">
                  <a:headEnd type="none" w="med" len="med"/>
                  <a:tailEnd type="none" w="med" len="med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2F86B46-50D3-456B-8AAF-A385FF80A9AA}"/>
                  </a:ext>
                </a:extLst>
              </p:cNvPr>
              <p:cNvSpPr txBox="1"/>
              <p:nvPr/>
            </p:nvSpPr>
            <p:spPr>
              <a:xfrm>
                <a:off x="8262268" y="4549730"/>
                <a:ext cx="11544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0" fontAlgn="base" latinLnBrk="0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sz="2000" dirty="0">
                    <a:solidFill>
                      <a:srgbClr val="000000"/>
                    </a:solidFill>
                    <a:latin typeface="+mn-ea"/>
                  </a:rPr>
                  <a:t>n &lt;= 10</a:t>
                </a:r>
                <a:endParaRPr lang="ko-KR" altLang="en-US" sz="2000" dirty="0">
                  <a:solidFill>
                    <a:srgbClr val="000000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1567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E8CFB-B019-2D5D-BE0A-5CB01B3EC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A1E1CBB-26AC-B4CB-8D4F-068CF6C9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while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BE8358A-F109-54B3-50D0-60F88AB33C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 적용하기</a:t>
            </a:r>
            <a:r>
              <a:rPr lang="en-US" altLang="ko-KR" dirty="0"/>
              <a:t>1</a:t>
            </a:r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4-1: </a:t>
            </a:r>
            <a:r>
              <a:rPr lang="en-US" altLang="ko-KR" sz="1600" dirty="0"/>
              <a:t>1</a:t>
            </a:r>
            <a:r>
              <a:rPr lang="ko-KR" altLang="en-US" sz="1600" dirty="0"/>
              <a:t>부터 시작하여 사용자가 입력한 값까지 모든 정수를 합한 결과를 출력하는 프로그램을 작성해 보자</a:t>
            </a:r>
            <a:r>
              <a:rPr lang="en-US" altLang="ko-KR" sz="1600" dirty="0"/>
              <a:t>.</a:t>
            </a:r>
          </a:p>
          <a:p>
            <a:pPr lvl="3"/>
            <a:r>
              <a:rPr lang="ko-KR" altLang="en-US" dirty="0"/>
              <a:t>프로그램 코드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0A3D0C-D3B8-F506-DCF2-DE70B1170877}"/>
              </a:ext>
            </a:extLst>
          </p:cNvPr>
          <p:cNvSpPr/>
          <p:nvPr/>
        </p:nvSpPr>
        <p:spPr>
          <a:xfrm>
            <a:off x="2105594" y="3157429"/>
            <a:ext cx="6346193" cy="2769237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step = 0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total = 0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n = int(input(‘Enter the number : ’))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while(step &lt;= n):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total = total + step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step = step + 1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print(total)</a:t>
            </a:r>
          </a:p>
        </p:txBody>
      </p:sp>
    </p:spTree>
    <p:extLst>
      <p:ext uri="{BB962C8B-B14F-4D97-AF65-F5344CB8AC3E}">
        <p14:creationId xmlns:p14="http://schemas.microsoft.com/office/powerpoint/2010/main" val="738313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38C8E-F52C-8AF1-5248-1C7E5C41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7CE681D-C885-33EE-0C1D-E1391D72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while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3685FE4-8B89-44C9-C9D0-E0D557D13BC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while</a:t>
            </a:r>
            <a:r>
              <a:rPr lang="ko-KR" altLang="en-US" dirty="0"/>
              <a:t>문 적용하기</a:t>
            </a:r>
            <a:r>
              <a:rPr lang="en-US" altLang="ko-KR" dirty="0"/>
              <a:t>1</a:t>
            </a:r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4-1: </a:t>
            </a:r>
            <a:r>
              <a:rPr lang="en-US" altLang="ko-KR" sz="1600" dirty="0"/>
              <a:t>1</a:t>
            </a:r>
            <a:r>
              <a:rPr lang="ko-KR" altLang="en-US" sz="1600" dirty="0"/>
              <a:t>부터 시작하여 사용자가 입력한 값까지 모든 정수를 합한 결과를 출력하는 프로그램을 작성해 보자</a:t>
            </a:r>
            <a:r>
              <a:rPr lang="en-US" altLang="ko-KR" sz="1600" dirty="0"/>
              <a:t>.</a:t>
            </a:r>
          </a:p>
          <a:p>
            <a:pPr lvl="3"/>
            <a:r>
              <a:rPr lang="ko-KR" altLang="en-US" dirty="0"/>
              <a:t>테스트 결과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944D8C-30AB-EB14-D57E-69146826E2F3}"/>
              </a:ext>
            </a:extLst>
          </p:cNvPr>
          <p:cNvSpPr/>
          <p:nvPr/>
        </p:nvSpPr>
        <p:spPr>
          <a:xfrm>
            <a:off x="1856362" y="3161515"/>
            <a:ext cx="6346193" cy="197775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Enter the number : 10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55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&gt;&gt;&gt;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Enter the number : 30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465</a:t>
            </a:r>
          </a:p>
        </p:txBody>
      </p:sp>
    </p:spTree>
    <p:extLst>
      <p:ext uri="{BB962C8B-B14F-4D97-AF65-F5344CB8AC3E}">
        <p14:creationId xmlns:p14="http://schemas.microsoft.com/office/powerpoint/2010/main" val="1984573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FA6F7-3276-1C71-46D9-3AAD9676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95D1CFC-7F6E-3E8B-2356-B3AFCD1E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while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FB3E0DF-2B8D-450F-F2C0-234F471463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while</a:t>
            </a:r>
            <a:r>
              <a:rPr lang="ko-KR" altLang="en-US" dirty="0"/>
              <a:t>문 적용하기</a:t>
            </a:r>
            <a:r>
              <a:rPr lang="en-US" altLang="ko-KR" dirty="0"/>
              <a:t>2</a:t>
            </a:r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4-1: </a:t>
            </a:r>
            <a:r>
              <a:rPr lang="ko-KR" altLang="en-US" sz="1600" dirty="0"/>
              <a:t>신호등 색상이 파란색일 때 </a:t>
            </a:r>
            <a:r>
              <a:rPr lang="en-US" altLang="ko-KR" sz="1600" dirty="0"/>
              <a:t>“</a:t>
            </a:r>
            <a:r>
              <a:rPr lang="ko-KR" altLang="en-US" sz="1600" dirty="0"/>
              <a:t>출발</a:t>
            </a:r>
            <a:r>
              <a:rPr lang="en-US" altLang="ko-KR" sz="1600" dirty="0"/>
              <a:t>”</a:t>
            </a:r>
            <a:r>
              <a:rPr lang="ko-KR" altLang="en-US" sz="1600" dirty="0"/>
              <a:t>을 출력하는 프로그램을 작성해 보자</a:t>
            </a:r>
            <a:r>
              <a:rPr lang="en-US" altLang="ko-KR" sz="1600" dirty="0"/>
              <a:t>.</a:t>
            </a:r>
          </a:p>
          <a:p>
            <a:pPr lvl="3"/>
            <a:r>
              <a:rPr lang="ko-KR" altLang="en-US" dirty="0"/>
              <a:t>특정 조건</a:t>
            </a:r>
            <a:r>
              <a:rPr lang="en-US" altLang="ko-KR" dirty="0"/>
              <a:t>(</a:t>
            </a:r>
            <a:r>
              <a:rPr lang="ko-KR" altLang="en-US" dirty="0"/>
              <a:t>색상이 파란색</a:t>
            </a:r>
            <a:r>
              <a:rPr lang="en-US" altLang="ko-KR" dirty="0"/>
              <a:t>)</a:t>
            </a:r>
            <a:r>
              <a:rPr lang="ko-KR" altLang="en-US" dirty="0"/>
              <a:t>에서 반복을 멈추는 것을 생각해야 함</a:t>
            </a:r>
            <a:endParaRPr lang="en-US" altLang="ko-KR" dirty="0"/>
          </a:p>
          <a:p>
            <a:pPr lvl="3"/>
            <a:r>
              <a:rPr lang="ko-KR" altLang="en-US" dirty="0"/>
              <a:t>반복이 무한히 발생하는 것 </a:t>
            </a:r>
            <a:r>
              <a:rPr lang="en-US" altLang="ko-KR" dirty="0"/>
              <a:t>: </a:t>
            </a:r>
            <a:r>
              <a:rPr lang="ko-KR" altLang="en-US" dirty="0"/>
              <a:t>무한 루프</a:t>
            </a:r>
            <a:r>
              <a:rPr lang="en-US" altLang="ko-KR" dirty="0"/>
              <a:t>(infinite loop)</a:t>
            </a:r>
          </a:p>
          <a:p>
            <a:pPr lvl="3"/>
            <a:r>
              <a:rPr lang="ko-KR" altLang="en-US" dirty="0"/>
              <a:t>무한 반복을 이용하여 신호등 프로그램을 작성 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1751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952ED-A49C-2DE4-65D5-0754A179E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BF7E859-C835-3205-2931-26696D28B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while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C1859CF-5EF1-1148-1E42-4DD4174AF3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while</a:t>
            </a:r>
            <a:r>
              <a:rPr lang="ko-KR" altLang="en-US" dirty="0"/>
              <a:t>문 적용하기</a:t>
            </a:r>
            <a:r>
              <a:rPr lang="en-US" altLang="ko-KR" dirty="0"/>
              <a:t>2</a:t>
            </a:r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4-1: </a:t>
            </a:r>
            <a:r>
              <a:rPr lang="ko-KR" altLang="en-US" sz="1600" dirty="0"/>
              <a:t>신호등 색상이 파란색일 때 </a:t>
            </a:r>
            <a:r>
              <a:rPr lang="en-US" altLang="ko-KR" sz="1600" dirty="0"/>
              <a:t>“</a:t>
            </a:r>
            <a:r>
              <a:rPr lang="ko-KR" altLang="en-US" sz="1600" dirty="0"/>
              <a:t>출발</a:t>
            </a:r>
            <a:r>
              <a:rPr lang="en-US" altLang="ko-KR" sz="1600" dirty="0"/>
              <a:t>”</a:t>
            </a:r>
            <a:r>
              <a:rPr lang="ko-KR" altLang="en-US" sz="1600" dirty="0"/>
              <a:t>을 출력하는 프로그램을 작성해 보자</a:t>
            </a:r>
            <a:r>
              <a:rPr lang="en-US" altLang="ko-KR" sz="1600" dirty="0"/>
              <a:t>.</a:t>
            </a:r>
          </a:p>
          <a:p>
            <a:pPr lvl="3"/>
            <a:r>
              <a:rPr lang="ko-KR" altLang="en-US" dirty="0"/>
              <a:t>알고리즘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D33CB5-50EE-714C-9FC3-EC932506833C}"/>
              </a:ext>
            </a:extLst>
          </p:cNvPr>
          <p:cNvSpPr/>
          <p:nvPr/>
        </p:nvSpPr>
        <p:spPr>
          <a:xfrm>
            <a:off x="2088662" y="2964566"/>
            <a:ext cx="7317805" cy="298750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177800" lvl="2">
              <a:lnSpc>
                <a:spcPct val="150000"/>
              </a:lnSpc>
            </a:pPr>
            <a:r>
              <a:rPr lang="ko-KR" altLang="en-US" sz="1600" dirty="0"/>
              <a:t>① 신호의 변화를 위한 변수 초기화한다</a:t>
            </a:r>
            <a:r>
              <a:rPr lang="en-US" altLang="ko-KR" sz="1600" dirty="0"/>
              <a:t>. 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② </a:t>
            </a:r>
            <a:r>
              <a:rPr lang="ko-KR" altLang="en-US" sz="1600" dirty="0"/>
              <a:t>신호의 변화가 참인 경우 다음을 수행한다</a:t>
            </a:r>
            <a:r>
              <a:rPr lang="en-US" altLang="ko-KR" sz="1600" dirty="0"/>
              <a:t>.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③ </a:t>
            </a:r>
            <a:r>
              <a:rPr lang="ko-KR" altLang="en-US" sz="1600" dirty="0"/>
              <a:t>신호등 색상을 입력한다</a:t>
            </a:r>
            <a:r>
              <a:rPr lang="en-US" altLang="ko-KR" sz="1600" dirty="0"/>
              <a:t>.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④ </a:t>
            </a:r>
            <a:r>
              <a:rPr lang="ko-KR" altLang="en-US" sz="1600" dirty="0"/>
              <a:t>조건문을 이용하여 색상이 </a:t>
            </a:r>
            <a:r>
              <a:rPr lang="en-US" altLang="ko-KR" sz="1600" dirty="0"/>
              <a:t>“blue”</a:t>
            </a:r>
            <a:r>
              <a:rPr lang="ko-KR" altLang="en-US" sz="1600" dirty="0"/>
              <a:t>인지를 비교한다</a:t>
            </a:r>
            <a:r>
              <a:rPr lang="en-US" altLang="ko-KR" sz="1600" dirty="0"/>
              <a:t>.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⑤ ④</a:t>
            </a:r>
            <a:r>
              <a:rPr lang="ko-KR" altLang="en-US" sz="1600" dirty="0"/>
              <a:t>의 조건이 참이면 신호의 변화를 거짓으로 변경한다</a:t>
            </a:r>
            <a:r>
              <a:rPr lang="en-US" altLang="ko-KR" sz="1600" dirty="0"/>
              <a:t>. ④</a:t>
            </a:r>
            <a:r>
              <a:rPr lang="ko-KR" altLang="en-US" sz="1600" dirty="0"/>
              <a:t>의 조건이 거짓이면 </a:t>
            </a:r>
            <a:r>
              <a:rPr lang="en-US" altLang="ko-KR" sz="1600" dirty="0"/>
              <a:t>③</a:t>
            </a:r>
            <a:r>
              <a:rPr lang="ko-KR" altLang="en-US" sz="1600" dirty="0"/>
              <a:t>으로 가서 반복한다</a:t>
            </a:r>
            <a:r>
              <a:rPr lang="en-US" altLang="ko-KR" sz="1600" dirty="0"/>
              <a:t>.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⑥ ④</a:t>
            </a:r>
            <a:r>
              <a:rPr lang="ko-KR" altLang="en-US" sz="1600" dirty="0"/>
              <a:t>의 조건이 참이면 신호의 변화를 거짓으로 변경한 후 반복문을 빠져나와 </a:t>
            </a:r>
            <a:r>
              <a:rPr lang="en-US" altLang="ko-KR" sz="1600" dirty="0"/>
              <a:t>“</a:t>
            </a:r>
            <a:r>
              <a:rPr lang="ko-KR" altLang="en-US" sz="1600" dirty="0"/>
              <a:t>출발</a:t>
            </a:r>
            <a:r>
              <a:rPr lang="en-US" altLang="ko-KR" sz="1600" dirty="0"/>
              <a:t>”</a:t>
            </a:r>
            <a:r>
              <a:rPr lang="ko-KR" altLang="en-US" sz="1600" dirty="0"/>
              <a:t>을 출력한다</a:t>
            </a:r>
            <a:r>
              <a:rPr lang="en-US" altLang="ko-KR" sz="1600" dirty="0"/>
              <a:t>. </a:t>
            </a:r>
            <a:endParaRPr lang="ko-KR" altLang="en-US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44004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E8CFB-B019-2D5D-BE0A-5CB01B3EC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A1E1CBB-26AC-B4CB-8D4F-068CF6C9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while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BE8358A-F109-54B3-50D0-60F88AB33C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 적용하기</a:t>
            </a:r>
            <a:r>
              <a:rPr lang="en-US" altLang="ko-KR" dirty="0"/>
              <a:t>2</a:t>
            </a:r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4-1: </a:t>
            </a:r>
            <a:r>
              <a:rPr lang="ko-KR" altLang="en-US" sz="1600" dirty="0"/>
              <a:t>신호등 색상이 파란색일 때 </a:t>
            </a:r>
            <a:r>
              <a:rPr lang="en-US" altLang="ko-KR" sz="1600" dirty="0"/>
              <a:t>“</a:t>
            </a:r>
            <a:r>
              <a:rPr lang="ko-KR" altLang="en-US" sz="1600" dirty="0"/>
              <a:t>출발</a:t>
            </a:r>
            <a:r>
              <a:rPr lang="en-US" altLang="ko-KR" sz="1600" dirty="0"/>
              <a:t>”</a:t>
            </a:r>
            <a:r>
              <a:rPr lang="ko-KR" altLang="en-US" sz="1600" dirty="0"/>
              <a:t>을 출력하는 프로그램을 작성해 보자</a:t>
            </a:r>
            <a:r>
              <a:rPr lang="en-US" altLang="ko-KR" sz="1600" dirty="0"/>
              <a:t>.</a:t>
            </a:r>
          </a:p>
          <a:p>
            <a:pPr lvl="3"/>
            <a:r>
              <a:rPr lang="ko-KR" altLang="en-US" dirty="0"/>
              <a:t>프로그램 코드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0A3D0C-D3B8-F506-DCF2-DE70B1170877}"/>
              </a:ext>
            </a:extLst>
          </p:cNvPr>
          <p:cNvSpPr/>
          <p:nvPr/>
        </p:nvSpPr>
        <p:spPr>
          <a:xfrm>
            <a:off x="2105594" y="3157429"/>
            <a:ext cx="6346193" cy="3021697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sign = True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while sign: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light = input('</a:t>
            </a:r>
            <a:r>
              <a:rPr lang="ko-KR" altLang="en-US" sz="1600" dirty="0"/>
              <a:t>신호등 색상을 </a:t>
            </a:r>
            <a:r>
              <a:rPr lang="ko-KR" altLang="en-US" sz="1600" dirty="0" err="1"/>
              <a:t>입력하시오</a:t>
            </a:r>
            <a:r>
              <a:rPr lang="en-US" altLang="ko-KR" sz="1600" dirty="0"/>
              <a:t>: ')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if light == 'blue':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    sign = False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print(＇</a:t>
            </a:r>
            <a:r>
              <a:rPr lang="ko-KR" altLang="en-US" sz="1600" dirty="0"/>
              <a:t>출발</a:t>
            </a:r>
            <a:r>
              <a:rPr lang="en-US" altLang="ko-KR" sz="1600" dirty="0"/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2184801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38C8E-F52C-8AF1-5248-1C7E5C41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7CE681D-C885-33EE-0C1D-E1391D72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while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3685FE4-8B89-44C9-C9D0-E0D557D13BC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while</a:t>
            </a:r>
            <a:r>
              <a:rPr lang="ko-KR" altLang="en-US" dirty="0"/>
              <a:t>문 적용하기</a:t>
            </a:r>
            <a:r>
              <a:rPr lang="en-US" altLang="ko-KR" dirty="0"/>
              <a:t>2</a:t>
            </a:r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4-1: </a:t>
            </a:r>
            <a:r>
              <a:rPr lang="ko-KR" altLang="en-US" sz="1600" dirty="0"/>
              <a:t>신호등 색상이 파란색일 때 </a:t>
            </a:r>
            <a:r>
              <a:rPr lang="en-US" altLang="ko-KR" sz="1600" dirty="0"/>
              <a:t>“</a:t>
            </a:r>
            <a:r>
              <a:rPr lang="ko-KR" altLang="en-US" sz="1600" dirty="0"/>
              <a:t>출발</a:t>
            </a:r>
            <a:r>
              <a:rPr lang="en-US" altLang="ko-KR" sz="1600" dirty="0"/>
              <a:t>”</a:t>
            </a:r>
            <a:r>
              <a:rPr lang="ko-KR" altLang="en-US" sz="1600" dirty="0"/>
              <a:t>을 출력하는 프로그램을 작성해 보자</a:t>
            </a:r>
            <a:r>
              <a:rPr lang="en-US" altLang="ko-KR" sz="1600" dirty="0"/>
              <a:t>.</a:t>
            </a:r>
          </a:p>
          <a:p>
            <a:pPr lvl="3"/>
            <a:r>
              <a:rPr lang="ko-KR" altLang="en-US" dirty="0"/>
              <a:t>테스트 결과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944D8C-30AB-EB14-D57E-69146826E2F3}"/>
              </a:ext>
            </a:extLst>
          </p:cNvPr>
          <p:cNvSpPr/>
          <p:nvPr/>
        </p:nvSpPr>
        <p:spPr>
          <a:xfrm>
            <a:off x="1856362" y="3161515"/>
            <a:ext cx="6346193" cy="197775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신호등 색상을 </a:t>
            </a:r>
            <a:r>
              <a:rPr lang="ko-KR" altLang="en-US" sz="1600" dirty="0" err="1"/>
              <a:t>입력하시오</a:t>
            </a:r>
            <a:r>
              <a:rPr lang="en-US" altLang="ko-KR" sz="1600" dirty="0"/>
              <a:t>: red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신호등 색상을 </a:t>
            </a:r>
            <a:r>
              <a:rPr lang="ko-KR" altLang="en-US" sz="1600" dirty="0" err="1"/>
              <a:t>입력하시오</a:t>
            </a:r>
            <a:r>
              <a:rPr lang="en-US" altLang="ko-KR" sz="1600" dirty="0"/>
              <a:t>: red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신호등 색상을 </a:t>
            </a:r>
            <a:r>
              <a:rPr lang="ko-KR" altLang="en-US" sz="1600" dirty="0" err="1"/>
              <a:t>입력하시오</a:t>
            </a:r>
            <a:r>
              <a:rPr lang="en-US" altLang="ko-KR" sz="1600" dirty="0"/>
              <a:t>: red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신호등 색상을 </a:t>
            </a:r>
            <a:r>
              <a:rPr lang="ko-KR" altLang="en-US" sz="1600" dirty="0" err="1"/>
              <a:t>입력하시오</a:t>
            </a:r>
            <a:r>
              <a:rPr lang="en-US" altLang="ko-KR" sz="1600" dirty="0"/>
              <a:t>: blue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출발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228520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38C8E-F52C-8AF1-5248-1C7E5C41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7CE681D-C885-33EE-0C1D-E1391D72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</a:t>
            </a:r>
            <a:r>
              <a:rPr lang="ko-KR" altLang="en-US" dirty="0"/>
              <a:t>복습문제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3685FE4-8B89-44C9-C9D0-E0D557D13BC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다음 프로그램의 실행 결과를 예측해 보자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E2E3E77-11CD-4C8C-ADD4-A4FEC91980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65" t="10019" r="52350" b="62999"/>
          <a:stretch/>
        </p:blipFill>
        <p:spPr>
          <a:xfrm>
            <a:off x="1117599" y="2603282"/>
            <a:ext cx="2726153" cy="16665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A1CD7C0-562E-42FD-B899-83C8BD0632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51" t="40831" r="45594" b="32186"/>
          <a:stretch/>
        </p:blipFill>
        <p:spPr>
          <a:xfrm>
            <a:off x="4313767" y="2603281"/>
            <a:ext cx="3219949" cy="16665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D31F3E2-C5C0-4138-9892-32ABA317EC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18" t="72452" r="40374" b="1540"/>
          <a:stretch/>
        </p:blipFill>
        <p:spPr>
          <a:xfrm>
            <a:off x="7912601" y="2603281"/>
            <a:ext cx="3518282" cy="160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90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F901FB6-45AE-449B-95B7-4CD748C19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Part</a:t>
            </a:r>
            <a:r>
              <a:rPr lang="ko-KR" altLang="en-US" dirty="0"/>
              <a:t> </a:t>
            </a:r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54CE90-7E98-47F8-B393-E8D58DC0F4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13206" y="3382375"/>
            <a:ext cx="3883984" cy="454928"/>
          </a:xfrm>
        </p:spPr>
        <p:txBody>
          <a:bodyPr/>
          <a:lstStyle/>
          <a:p>
            <a:r>
              <a:rPr lang="en-US" altLang="ko-KR" dirty="0"/>
              <a:t> for</a:t>
            </a:r>
            <a:r>
              <a:rPr lang="ko-KR" altLang="en-US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2294908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E4DF-31F3-3AE4-C9D3-881A0EF0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DC25A15-F8AC-3753-C49D-0E415968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 for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DBF1BE-71D4-1551-8D92-3B2C4173B0B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문 구조</a:t>
            </a:r>
            <a:endParaRPr lang="en-US" altLang="ko-KR" dirty="0"/>
          </a:p>
          <a:p>
            <a:pPr lvl="2"/>
            <a:r>
              <a:rPr lang="en-US" altLang="ko-KR" dirty="0"/>
              <a:t>for</a:t>
            </a:r>
            <a:r>
              <a:rPr lang="ko-KR" altLang="en-US" dirty="0"/>
              <a:t>문은 주로 정해진 횟수만큼 반복하거나 제한된 개수의 요소들을 순회하면서 처리할 때 주로 사용하는 반복문</a:t>
            </a:r>
          </a:p>
          <a:p>
            <a:pPr lvl="2"/>
            <a:r>
              <a:rPr lang="ko-KR" altLang="en-US" sz="1600" dirty="0"/>
              <a:t>‘</a:t>
            </a:r>
            <a:r>
              <a:rPr lang="en-US" altLang="ko-KR" sz="1600" dirty="0"/>
              <a:t>while’ </a:t>
            </a:r>
            <a:r>
              <a:rPr lang="ko-KR" altLang="en-US" sz="1600" dirty="0"/>
              <a:t>문에서 사용한 반복을 벗어나기 위한 증감 변수는 ‘</a:t>
            </a:r>
            <a:r>
              <a:rPr lang="en-US" altLang="ko-KR" sz="1600" dirty="0"/>
              <a:t>for’ </a:t>
            </a:r>
            <a:r>
              <a:rPr lang="ko-KR" altLang="en-US" sz="1600" dirty="0"/>
              <a:t>문에서는 사용할 필요가 없음</a:t>
            </a:r>
            <a:r>
              <a:rPr lang="en-US" altLang="ko-KR" sz="1600" dirty="0"/>
              <a:t> 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259A03-CC7B-42A5-9E07-9485E6D5F251}"/>
              </a:ext>
            </a:extLst>
          </p:cNvPr>
          <p:cNvSpPr txBox="1"/>
          <p:nvPr/>
        </p:nvSpPr>
        <p:spPr>
          <a:xfrm>
            <a:off x="8068217" y="4110361"/>
            <a:ext cx="3675658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SzPct val="90000"/>
              <a:buFont typeface="Webdings" panose="05030102010509060703" pitchFamily="18" charset="2"/>
              <a:buChar char=""/>
            </a:pPr>
            <a:r>
              <a:rPr lang="ko-KR" altLang="en-US" sz="1200" dirty="0"/>
              <a:t>범위 </a:t>
            </a:r>
            <a:r>
              <a:rPr lang="en-US" altLang="ko-KR" sz="1200" dirty="0"/>
              <a:t>: </a:t>
            </a:r>
            <a:r>
              <a:rPr lang="ko-KR" altLang="en-US" sz="1200" dirty="0"/>
              <a:t>문자열</a:t>
            </a:r>
            <a:r>
              <a:rPr lang="en-US" altLang="ko-KR" sz="1200" dirty="0"/>
              <a:t>, range(), </a:t>
            </a:r>
            <a:r>
              <a:rPr lang="ko-KR" altLang="en-US" sz="1200" dirty="0"/>
              <a:t>리스트</a:t>
            </a:r>
            <a:r>
              <a:rPr lang="en-US" altLang="ko-KR" sz="1200" dirty="0"/>
              <a:t>(list), </a:t>
            </a:r>
            <a:r>
              <a:rPr lang="ko-KR" altLang="en-US" sz="1200" dirty="0" err="1"/>
              <a:t>튜플</a:t>
            </a:r>
            <a:r>
              <a:rPr lang="en-US" altLang="ko-KR" sz="1200" dirty="0"/>
              <a:t>(tuple) </a:t>
            </a:r>
            <a:r>
              <a:rPr lang="ko-KR" altLang="en-US" sz="1200" dirty="0"/>
              <a:t>등</a:t>
            </a:r>
          </a:p>
          <a:p>
            <a:pPr marL="285750" indent="-285750">
              <a:buSzPct val="90000"/>
              <a:buFont typeface="Webdings" panose="05030102010509060703" pitchFamily="18" charset="2"/>
              <a:buChar char=""/>
            </a:pPr>
            <a:r>
              <a:rPr lang="ko-KR" altLang="en-US" sz="1200" dirty="0"/>
              <a:t>범위의 각 요소들은 변수명에 치환되고 해당 변수명을 이용해서 코드</a:t>
            </a:r>
            <a:r>
              <a:rPr lang="en-US" altLang="ko-KR" sz="1200" dirty="0"/>
              <a:t>_</a:t>
            </a:r>
            <a:r>
              <a:rPr lang="ko-KR" altLang="en-US" sz="1200" dirty="0"/>
              <a:t>블록을 실행함</a:t>
            </a:r>
          </a:p>
          <a:p>
            <a:pPr marL="285750" indent="-285750">
              <a:buSzPct val="90000"/>
              <a:buFont typeface="Webdings" panose="05030102010509060703" pitchFamily="18" charset="2"/>
              <a:buChar char=""/>
            </a:pPr>
            <a:r>
              <a:rPr lang="ko-KR" altLang="en-US" sz="1200" dirty="0"/>
              <a:t>반복 횟수는 범위의 크기 혹은 아이템의 개수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D7CB4B9-F179-F65E-6946-F561DFCD3E12}"/>
              </a:ext>
            </a:extLst>
          </p:cNvPr>
          <p:cNvGrpSpPr/>
          <p:nvPr/>
        </p:nvGrpSpPr>
        <p:grpSpPr>
          <a:xfrm>
            <a:off x="1141262" y="3429000"/>
            <a:ext cx="6874647" cy="2365229"/>
            <a:chOff x="1043608" y="2557636"/>
            <a:chExt cx="6874647" cy="2365229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50AB8D8-5EDA-9C7B-BBEC-B2AB1997F76A}"/>
                </a:ext>
              </a:extLst>
            </p:cNvPr>
            <p:cNvSpPr/>
            <p:nvPr/>
          </p:nvSpPr>
          <p:spPr>
            <a:xfrm>
              <a:off x="1043608" y="2762625"/>
              <a:ext cx="4140000" cy="180000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for </a:t>
              </a:r>
              <a:r>
                <a:rPr kumimoji="0" lang="ko-KR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변수 </a:t>
              </a: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in range(</a:t>
              </a:r>
              <a:r>
                <a:rPr kumimoji="0" lang="ko-KR" altLang="en-US" sz="15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시작값</a:t>
              </a: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ko-KR" altLang="en-US" sz="15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종료값</a:t>
              </a: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+1, </a:t>
              </a:r>
              <a:r>
                <a:rPr kumimoji="0" lang="ko-KR" altLang="en-US" sz="15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증가값</a:t>
              </a: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):</a:t>
              </a:r>
              <a:endPara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defTabSz="45720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      </a:t>
              </a:r>
              <a:r>
                <a:rPr kumimoji="0" lang="ko-KR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코드</a:t>
              </a: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</a:t>
              </a:r>
              <a:endPara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defTabSz="45720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      코드</a:t>
              </a: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2</a:t>
              </a:r>
              <a:endPara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defTabSz="45720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     </a:t>
              </a:r>
              <a:r>
                <a:rPr kumimoji="0" lang="ko-KR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코드</a:t>
              </a: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3</a:t>
              </a:r>
              <a:endParaRPr kumimoji="0" lang="ko-KR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defTabSz="45720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      </a:t>
              </a:r>
              <a:r>
                <a:rPr kumimoji="0" lang="ko-KR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⋮</a:t>
              </a:r>
            </a:p>
          </p:txBody>
        </p:sp>
        <p:sp>
          <p:nvSpPr>
            <p:cNvPr id="19" name="다이아몬드 18">
              <a:extLst>
                <a:ext uri="{FF2B5EF4-FFF2-40B4-BE49-F238E27FC236}">
                  <a16:creationId xmlns:a16="http://schemas.microsoft.com/office/drawing/2014/main" id="{52E28CCF-1E2C-D6D3-ADD0-5DC4C05393D6}"/>
                </a:ext>
              </a:extLst>
            </p:cNvPr>
            <p:cNvSpPr/>
            <p:nvPr/>
          </p:nvSpPr>
          <p:spPr>
            <a:xfrm>
              <a:off x="6029655" y="2871330"/>
              <a:ext cx="1440000" cy="468000"/>
            </a:xfrm>
            <a:prstGeom prst="diamond">
              <a:avLst/>
            </a:prstGeom>
            <a:ln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범위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항목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?</a:t>
              </a: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EA5DA41-B529-757E-1263-BA5F7F6E042E}"/>
                </a:ext>
              </a:extLst>
            </p:cNvPr>
            <p:cNvSpPr/>
            <p:nvPr/>
          </p:nvSpPr>
          <p:spPr>
            <a:xfrm>
              <a:off x="6029655" y="3662769"/>
              <a:ext cx="1440000" cy="396000"/>
            </a:xfrm>
            <a:prstGeom prst="rect">
              <a:avLst/>
            </a:prstGeom>
            <a:ln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문장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코드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4572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⋮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0B01629-5FDF-1E61-44A2-C416948A4DFB}"/>
                </a:ext>
              </a:extLst>
            </p:cNvPr>
            <p:cNvSpPr/>
            <p:nvPr/>
          </p:nvSpPr>
          <p:spPr>
            <a:xfrm>
              <a:off x="6029655" y="4526865"/>
              <a:ext cx="1440000" cy="3960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for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문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다음 코드</a:t>
              </a:r>
            </a:p>
          </p:txBody>
        </p:sp>
        <p:cxnSp>
          <p:nvCxnSpPr>
            <p:cNvPr id="22" name="꺾인 연결선 13">
              <a:extLst>
                <a:ext uri="{FF2B5EF4-FFF2-40B4-BE49-F238E27FC236}">
                  <a16:creationId xmlns:a16="http://schemas.microsoft.com/office/drawing/2014/main" id="{982EB235-C7AB-3552-8A36-26A6C8ACD69F}"/>
                </a:ext>
              </a:extLst>
            </p:cNvPr>
            <p:cNvCxnSpPr>
              <a:stCxn id="19" idx="3"/>
              <a:endCxn id="21" idx="0"/>
            </p:cNvCxnSpPr>
            <p:nvPr/>
          </p:nvCxnSpPr>
          <p:spPr>
            <a:xfrm flipH="1">
              <a:off x="6749655" y="3105332"/>
              <a:ext cx="720000" cy="1421535"/>
            </a:xfrm>
            <a:prstGeom prst="bentConnector4">
              <a:avLst>
                <a:gd name="adj1" fmla="val -31750"/>
                <a:gd name="adj2" fmla="val 85033"/>
              </a:avLst>
            </a:prstGeom>
            <a:noFill/>
            <a:ln w="19050" cap="flat" cmpd="sng" algn="ctr">
              <a:solidFill>
                <a:srgbClr val="FFC000">
                  <a:lumMod val="75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" name="꺾인 연결선 14">
              <a:extLst>
                <a:ext uri="{FF2B5EF4-FFF2-40B4-BE49-F238E27FC236}">
                  <a16:creationId xmlns:a16="http://schemas.microsoft.com/office/drawing/2014/main" id="{A6D9F2F9-844F-1282-0A0D-5B3A085D1A0F}"/>
                </a:ext>
              </a:extLst>
            </p:cNvPr>
            <p:cNvCxnSpPr>
              <a:stCxn id="20" idx="2"/>
              <a:endCxn id="19" idx="1"/>
            </p:cNvCxnSpPr>
            <p:nvPr/>
          </p:nvCxnSpPr>
          <p:spPr>
            <a:xfrm rot="5400000" flipH="1">
              <a:off x="5912937" y="3222050"/>
              <a:ext cx="953439" cy="720000"/>
            </a:xfrm>
            <a:prstGeom prst="bentConnector4">
              <a:avLst>
                <a:gd name="adj1" fmla="val -18981"/>
                <a:gd name="adj2" fmla="val 131750"/>
              </a:avLst>
            </a:prstGeom>
            <a:noFill/>
            <a:ln w="19050" cap="flat" cmpd="sng" algn="ctr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F3BA732-4AEB-8A29-3BC2-1263EE2818D0}"/>
                </a:ext>
              </a:extLst>
            </p:cNvPr>
            <p:cNvSpPr txBox="1"/>
            <p:nvPr/>
          </p:nvSpPr>
          <p:spPr>
            <a:xfrm>
              <a:off x="5380598" y="3417818"/>
              <a:ext cx="5248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다음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항목</a:t>
              </a: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1BB49CCE-8F88-0E09-4008-037A6C3CD33A}"/>
                </a:ext>
              </a:extLst>
            </p:cNvPr>
            <p:cNvCxnSpPr>
              <a:stCxn id="19" idx="2"/>
              <a:endCxn id="20" idx="0"/>
            </p:cNvCxnSpPr>
            <p:nvPr/>
          </p:nvCxnSpPr>
          <p:spPr>
            <a:xfrm>
              <a:off x="6749655" y="3339332"/>
              <a:ext cx="0" cy="323439"/>
            </a:xfrm>
            <a:prstGeom prst="straightConnector1">
              <a:avLst/>
            </a:prstGeom>
            <a:noFill/>
            <a:ln w="19050" cap="flat" cmpd="sng" algn="ctr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E8A9739-A035-342E-8E94-FF73D3555380}"/>
                </a:ext>
              </a:extLst>
            </p:cNvPr>
            <p:cNvSpPr txBox="1"/>
            <p:nvPr/>
          </p:nvSpPr>
          <p:spPr>
            <a:xfrm>
              <a:off x="6664036" y="3348419"/>
              <a:ext cx="10801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항목이 있으면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3C38123-72FE-763F-70A9-95F5E914FDA4}"/>
                </a:ext>
              </a:extLst>
            </p:cNvPr>
            <p:cNvSpPr txBox="1"/>
            <p:nvPr/>
          </p:nvSpPr>
          <p:spPr>
            <a:xfrm>
              <a:off x="5950017" y="2557636"/>
              <a:ext cx="15992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for 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변수 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in 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범위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9429E00-4785-5E6E-CC4A-5F5AD8D022BB}"/>
                </a:ext>
              </a:extLst>
            </p:cNvPr>
            <p:cNvSpPr txBox="1"/>
            <p:nvPr/>
          </p:nvSpPr>
          <p:spPr>
            <a:xfrm>
              <a:off x="7250565" y="2757108"/>
              <a:ext cx="667690" cy="387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항목이</a:t>
              </a:r>
              <a:endParaRPr kumimoji="0" lang="en-US" altLang="ko-KR" sz="12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algn="ctr" defTabSz="4572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없으면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9032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A8854-35BF-D549-508F-A5581FC2F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03D84F8-0614-EA26-5494-A8489A07F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 for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ADB2EA6-8319-DDAD-1EEE-F87821A6F9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문 구조</a:t>
            </a:r>
            <a:endParaRPr lang="en-US" altLang="ko-KR" dirty="0"/>
          </a:p>
          <a:p>
            <a:pPr lvl="2"/>
            <a:r>
              <a:rPr lang="en-US" altLang="ko-KR" dirty="0"/>
              <a:t>for</a:t>
            </a:r>
            <a:r>
              <a:rPr lang="ko-KR" altLang="en-US" sz="1600" dirty="0"/>
              <a:t>문을 활용하는 예</a:t>
            </a:r>
            <a:endParaRPr lang="en-US" altLang="ko-KR" sz="1600" dirty="0"/>
          </a:p>
          <a:p>
            <a:pPr lvl="3"/>
            <a:r>
              <a:rPr lang="en-US" altLang="ko-KR" dirty="0"/>
              <a:t>for</a:t>
            </a:r>
            <a:r>
              <a:rPr lang="ko-KR" altLang="en-US" dirty="0"/>
              <a:t>문과 문자열을 이용해서 글자들을 한 줄에 한 개씩 화면에 출력</a:t>
            </a:r>
          </a:p>
        </p:txBody>
      </p:sp>
      <p:sp>
        <p:nvSpPr>
          <p:cNvPr id="9" name="Text Box 20">
            <a:extLst>
              <a:ext uri="{FF2B5EF4-FFF2-40B4-BE49-F238E27FC236}">
                <a16:creationId xmlns:a16="http://schemas.microsoft.com/office/drawing/2014/main" id="{A776A568-6A71-4F57-A111-7153C7F3D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220" y="3038872"/>
            <a:ext cx="4265781" cy="258532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latinLnBrk="0">
              <a:buClrTx/>
              <a:buSzTx/>
              <a:buFontTx/>
              <a:buNone/>
              <a:defRPr kumimoji="1" sz="2400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9pPr>
          </a:lstStyle>
          <a:p>
            <a:r>
              <a:rPr lang="en-US" altLang="ko-KR" sz="1800" dirty="0">
                <a:latin typeface="+mn-ea"/>
              </a:rPr>
              <a:t>&gt;&gt;&gt; s = "hello"</a:t>
            </a:r>
          </a:p>
          <a:p>
            <a:r>
              <a:rPr lang="en-US" altLang="ko-KR" sz="1800" dirty="0">
                <a:latin typeface="+mn-ea"/>
              </a:rPr>
              <a:t>&gt;&gt;&gt; for </a:t>
            </a:r>
            <a:r>
              <a:rPr lang="en-US" altLang="ko-KR" sz="1800" dirty="0" err="1">
                <a:latin typeface="+mn-ea"/>
              </a:rPr>
              <a:t>ch</a:t>
            </a:r>
            <a:r>
              <a:rPr lang="en-US" altLang="ko-KR" sz="1800" dirty="0">
                <a:latin typeface="+mn-ea"/>
              </a:rPr>
              <a:t> in s: # for </a:t>
            </a:r>
            <a:r>
              <a:rPr lang="en-US" altLang="ko-KR" sz="1800" dirty="0" err="1">
                <a:latin typeface="+mn-ea"/>
              </a:rPr>
              <a:t>ch</a:t>
            </a:r>
            <a:r>
              <a:rPr lang="en-US" altLang="ko-KR" sz="1800" dirty="0">
                <a:latin typeface="+mn-ea"/>
              </a:rPr>
              <a:t> in "hello":</a:t>
            </a:r>
            <a:endParaRPr lang="ko-KR" altLang="en-US" sz="1800" dirty="0">
              <a:latin typeface="+mn-ea"/>
            </a:endParaRPr>
          </a:p>
          <a:p>
            <a:r>
              <a:rPr lang="en-US" altLang="ko-KR" sz="1800" dirty="0">
                <a:latin typeface="+mn-ea"/>
              </a:rPr>
              <a:t>...     print(</a:t>
            </a:r>
            <a:r>
              <a:rPr lang="en-US" altLang="ko-KR" sz="1800" dirty="0" err="1">
                <a:latin typeface="+mn-ea"/>
              </a:rPr>
              <a:t>ch</a:t>
            </a:r>
            <a:r>
              <a:rPr lang="en-US" altLang="ko-KR" sz="1800" dirty="0">
                <a:latin typeface="+mn-ea"/>
              </a:rPr>
              <a:t>)</a:t>
            </a:r>
          </a:p>
          <a:p>
            <a:r>
              <a:rPr lang="en-US" altLang="ko-KR" sz="1800" dirty="0">
                <a:latin typeface="+mn-ea"/>
              </a:rPr>
              <a:t>...</a:t>
            </a:r>
          </a:p>
          <a:p>
            <a:r>
              <a:rPr lang="en-US" altLang="ko-KR" sz="1800" dirty="0">
                <a:latin typeface="+mn-ea"/>
              </a:rPr>
              <a:t>h</a:t>
            </a:r>
          </a:p>
          <a:p>
            <a:r>
              <a:rPr lang="en-US" altLang="ko-KR" sz="1800" dirty="0">
                <a:latin typeface="+mn-ea"/>
              </a:rPr>
              <a:t>e</a:t>
            </a:r>
          </a:p>
          <a:p>
            <a:r>
              <a:rPr lang="en-US" altLang="ko-KR" sz="1800" dirty="0">
                <a:latin typeface="+mn-ea"/>
              </a:rPr>
              <a:t>l</a:t>
            </a:r>
          </a:p>
          <a:p>
            <a:r>
              <a:rPr lang="en-US" altLang="ko-KR" sz="1800" dirty="0">
                <a:latin typeface="+mn-ea"/>
              </a:rPr>
              <a:t>l</a:t>
            </a:r>
          </a:p>
          <a:p>
            <a:r>
              <a:rPr lang="en-US" altLang="ko-KR" sz="1800" dirty="0">
                <a:latin typeface="+mn-ea"/>
              </a:rPr>
              <a:t>o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5F2F779-0997-A612-E34F-A32799E9CE90}"/>
              </a:ext>
            </a:extLst>
          </p:cNvPr>
          <p:cNvGrpSpPr/>
          <p:nvPr/>
        </p:nvGrpSpPr>
        <p:grpSpPr>
          <a:xfrm>
            <a:off x="7315240" y="2689934"/>
            <a:ext cx="3911750" cy="3663639"/>
            <a:chOff x="7315240" y="2689934"/>
            <a:chExt cx="3911750" cy="3663639"/>
          </a:xfrm>
        </p:grpSpPr>
        <p:sp>
          <p:nvSpPr>
            <p:cNvPr id="5" name="Text Box 20">
              <a:extLst>
                <a:ext uri="{FF2B5EF4-FFF2-40B4-BE49-F238E27FC236}">
                  <a16:creationId xmlns:a16="http://schemas.microsoft.com/office/drawing/2014/main" id="{38AAAEEB-525B-663E-424D-8857797D3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0145" y="3171388"/>
              <a:ext cx="1715012" cy="34032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latinLnBrk="0">
                <a:buClrTx/>
                <a:buSzTx/>
                <a:buFontTx/>
                <a:buNone/>
                <a:defRPr kumimoji="1" sz="2400">
                  <a:solidFill>
                    <a:schemeClr val="tx1"/>
                  </a:solidFill>
                  <a:latin typeface="Consolas" panose="020B0609020204030204" pitchFamily="49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9pPr>
            </a:lstStyle>
            <a:p>
              <a:r>
                <a:rPr lang="en-US" altLang="ko-KR" sz="1800" dirty="0">
                  <a:latin typeface="+mn-ea"/>
                </a:rPr>
                <a:t>‘h’, ‘e’, ‘l’, ‘l’, ‘o’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491FA2-CC31-6D6C-A267-0D9789F43FF8}"/>
                </a:ext>
              </a:extLst>
            </p:cNvPr>
            <p:cNvSpPr txBox="1"/>
            <p:nvPr/>
          </p:nvSpPr>
          <p:spPr>
            <a:xfrm>
              <a:off x="7486631" y="2689934"/>
              <a:ext cx="426720" cy="3403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chemeClr val="tx1"/>
                  </a:solidFill>
                  <a:latin typeface="+mn-ea"/>
                </a:rPr>
                <a:t>ch</a:t>
              </a:r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6FF37B-DC80-E7A9-4C4B-E1E121D18A81}"/>
                </a:ext>
              </a:extLst>
            </p:cNvPr>
            <p:cNvSpPr txBox="1"/>
            <p:nvPr/>
          </p:nvSpPr>
          <p:spPr>
            <a:xfrm>
              <a:off x="7486631" y="3910296"/>
              <a:ext cx="426720" cy="3403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chemeClr val="tx1"/>
                  </a:solidFill>
                  <a:latin typeface="+mn-ea"/>
                </a:rPr>
                <a:t>ch</a:t>
              </a:r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521078-502C-7FA8-A9C1-B0631644383F}"/>
                </a:ext>
              </a:extLst>
            </p:cNvPr>
            <p:cNvSpPr txBox="1"/>
            <p:nvPr/>
          </p:nvSpPr>
          <p:spPr>
            <a:xfrm>
              <a:off x="7545942" y="4401865"/>
              <a:ext cx="308098" cy="3403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tx1"/>
                  </a:solidFill>
                  <a:latin typeface="+mn-ea"/>
                </a:rPr>
                <a:t>e</a:t>
              </a:r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B48113A-96D0-EDD5-3869-9B3BD70036A8}"/>
                </a:ext>
              </a:extLst>
            </p:cNvPr>
            <p:cNvSpPr txBox="1"/>
            <p:nvPr/>
          </p:nvSpPr>
          <p:spPr>
            <a:xfrm>
              <a:off x="7541133" y="3147443"/>
              <a:ext cx="317716" cy="3403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tx1"/>
                  </a:solidFill>
                  <a:latin typeface="+mn-ea"/>
                </a:rPr>
                <a:t>h</a:t>
              </a:r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왼쪽 화살표 4">
              <a:extLst>
                <a:ext uri="{FF2B5EF4-FFF2-40B4-BE49-F238E27FC236}">
                  <a16:creationId xmlns:a16="http://schemas.microsoft.com/office/drawing/2014/main" id="{F15D82C6-CABA-E5C0-8320-FBE8D4F14A1F}"/>
                </a:ext>
              </a:extLst>
            </p:cNvPr>
            <p:cNvSpPr/>
            <p:nvPr/>
          </p:nvSpPr>
          <p:spPr bwMode="auto">
            <a:xfrm>
              <a:off x="8228742" y="4451374"/>
              <a:ext cx="345685" cy="251487"/>
            </a:xfrm>
            <a:prstGeom prst="leftArrow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15" name="왼쪽 화살표 29">
              <a:extLst>
                <a:ext uri="{FF2B5EF4-FFF2-40B4-BE49-F238E27FC236}">
                  <a16:creationId xmlns:a16="http://schemas.microsoft.com/office/drawing/2014/main" id="{2182CE56-9C77-1CC5-75CA-56E70C134579}"/>
                </a:ext>
              </a:extLst>
            </p:cNvPr>
            <p:cNvSpPr/>
            <p:nvPr/>
          </p:nvSpPr>
          <p:spPr bwMode="auto">
            <a:xfrm>
              <a:off x="8228742" y="3253638"/>
              <a:ext cx="345685" cy="251487"/>
            </a:xfrm>
            <a:prstGeom prst="leftArrow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16" name="원통 5">
              <a:extLst>
                <a:ext uri="{FF2B5EF4-FFF2-40B4-BE49-F238E27FC236}">
                  <a16:creationId xmlns:a16="http://schemas.microsoft.com/office/drawing/2014/main" id="{F18C9CCB-FF81-C6EA-163F-5979C4904C4D}"/>
                </a:ext>
              </a:extLst>
            </p:cNvPr>
            <p:cNvSpPr/>
            <p:nvPr/>
          </p:nvSpPr>
          <p:spPr bwMode="auto">
            <a:xfrm rot="16200000">
              <a:off x="9523723" y="3284689"/>
              <a:ext cx="845908" cy="2560626"/>
            </a:xfrm>
            <a:prstGeom prst="can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17" name="원통 21">
              <a:extLst>
                <a:ext uri="{FF2B5EF4-FFF2-40B4-BE49-F238E27FC236}">
                  <a16:creationId xmlns:a16="http://schemas.microsoft.com/office/drawing/2014/main" id="{0DB08F7B-2C5A-3321-1794-AF10EB89FEA4}"/>
                </a:ext>
              </a:extLst>
            </p:cNvPr>
            <p:cNvSpPr/>
            <p:nvPr/>
          </p:nvSpPr>
          <p:spPr bwMode="auto">
            <a:xfrm rot="16200000">
              <a:off x="9523723" y="2035715"/>
              <a:ext cx="845908" cy="2560626"/>
            </a:xfrm>
            <a:prstGeom prst="can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CA37401-41C4-20A3-4197-33C7E12DE534}"/>
                </a:ext>
              </a:extLst>
            </p:cNvPr>
            <p:cNvSpPr/>
            <p:nvPr/>
          </p:nvSpPr>
          <p:spPr bwMode="auto">
            <a:xfrm>
              <a:off x="7315240" y="4317521"/>
              <a:ext cx="769503" cy="619250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02BD2C8-86AF-5292-E25A-9E46114E0857}"/>
                </a:ext>
              </a:extLst>
            </p:cNvPr>
            <p:cNvSpPr/>
            <p:nvPr/>
          </p:nvSpPr>
          <p:spPr bwMode="auto">
            <a:xfrm>
              <a:off x="7315240" y="3048886"/>
              <a:ext cx="769503" cy="619250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EDB025-522A-FC9A-EEE0-0DE5E6970316}"/>
                </a:ext>
              </a:extLst>
            </p:cNvPr>
            <p:cNvSpPr txBox="1"/>
            <p:nvPr/>
          </p:nvSpPr>
          <p:spPr>
            <a:xfrm>
              <a:off x="7612240" y="5015182"/>
              <a:ext cx="573353" cy="309619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3200" dirty="0">
                  <a:solidFill>
                    <a:schemeClr val="tx1"/>
                  </a:solidFill>
                  <a:latin typeface="+mn-ea"/>
                </a:rPr>
                <a:t>…</a:t>
              </a:r>
              <a:endParaRPr lang="ko-KR" altLang="en-US" sz="3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E1AD5150-9AEF-691C-ABCF-CE639DB98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0145" y="4401865"/>
              <a:ext cx="1715012" cy="34032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latinLnBrk="0">
                <a:buClrTx/>
                <a:buSzTx/>
                <a:buFontTx/>
                <a:buNone/>
                <a:defRPr kumimoji="1" sz="2400">
                  <a:solidFill>
                    <a:schemeClr val="tx1"/>
                  </a:solidFill>
                  <a:latin typeface="Consolas" panose="020B0609020204030204" pitchFamily="49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9pPr>
            </a:lstStyle>
            <a:p>
              <a:r>
                <a:rPr lang="en-US" altLang="ko-KR" sz="1800" dirty="0">
                  <a:latin typeface="+mn-ea"/>
                </a:rPr>
                <a:t>‘h’, ‘e’, ‘l’, ‘l’, ‘o’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B969956-01C3-1CEF-93E6-2306C30FCE6B}"/>
                </a:ext>
              </a:extLst>
            </p:cNvPr>
            <p:cNvSpPr txBox="1"/>
            <p:nvPr/>
          </p:nvSpPr>
          <p:spPr>
            <a:xfrm>
              <a:off x="7538729" y="5767481"/>
              <a:ext cx="322524" cy="3403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tx1"/>
                  </a:solidFill>
                  <a:latin typeface="+mn-ea"/>
                </a:rPr>
                <a:t>o</a:t>
              </a:r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왼쪽 화살표 4">
              <a:extLst>
                <a:ext uri="{FF2B5EF4-FFF2-40B4-BE49-F238E27FC236}">
                  <a16:creationId xmlns:a16="http://schemas.microsoft.com/office/drawing/2014/main" id="{EE985A49-9B5B-433E-50A9-1061ADDCC75B}"/>
                </a:ext>
              </a:extLst>
            </p:cNvPr>
            <p:cNvSpPr/>
            <p:nvPr/>
          </p:nvSpPr>
          <p:spPr bwMode="auto">
            <a:xfrm>
              <a:off x="8228742" y="5816991"/>
              <a:ext cx="345685" cy="251487"/>
            </a:xfrm>
            <a:prstGeom prst="leftArrow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5" name="원통 5">
              <a:extLst>
                <a:ext uri="{FF2B5EF4-FFF2-40B4-BE49-F238E27FC236}">
                  <a16:creationId xmlns:a16="http://schemas.microsoft.com/office/drawing/2014/main" id="{F9D911DD-C731-3379-ED91-4F6570231504}"/>
                </a:ext>
              </a:extLst>
            </p:cNvPr>
            <p:cNvSpPr/>
            <p:nvPr/>
          </p:nvSpPr>
          <p:spPr bwMode="auto">
            <a:xfrm rot="16200000">
              <a:off x="9523723" y="4650306"/>
              <a:ext cx="845908" cy="2560626"/>
            </a:xfrm>
            <a:prstGeom prst="can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E972452-7986-C721-8A6A-A5B4BD5F2C34}"/>
                </a:ext>
              </a:extLst>
            </p:cNvPr>
            <p:cNvSpPr/>
            <p:nvPr/>
          </p:nvSpPr>
          <p:spPr bwMode="auto">
            <a:xfrm>
              <a:off x="7315240" y="5683137"/>
              <a:ext cx="769503" cy="619250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7" name="Text Box 20">
              <a:extLst>
                <a:ext uri="{FF2B5EF4-FFF2-40B4-BE49-F238E27FC236}">
                  <a16:creationId xmlns:a16="http://schemas.microsoft.com/office/drawing/2014/main" id="{3A940BC4-6B0D-B3A4-EFF0-B13C12370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0145" y="5767481"/>
              <a:ext cx="1715012" cy="34032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latinLnBrk="0">
                <a:buClrTx/>
                <a:buSzTx/>
                <a:buFontTx/>
                <a:buNone/>
                <a:defRPr kumimoji="1" sz="2400">
                  <a:solidFill>
                    <a:schemeClr val="tx1"/>
                  </a:solidFill>
                  <a:latin typeface="Consolas" panose="020B0609020204030204" pitchFamily="49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9pPr>
            </a:lstStyle>
            <a:p>
              <a:r>
                <a:rPr lang="en-US" altLang="ko-KR" sz="1800" dirty="0">
                  <a:latin typeface="+mn-ea"/>
                </a:rPr>
                <a:t>‘h’, ‘e’, ‘l’, ‘l’, ‘o’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95FFC4C-CCF1-49C5-AF68-AB93E3FC79FA}"/>
                </a:ext>
              </a:extLst>
            </p:cNvPr>
            <p:cNvSpPr txBox="1"/>
            <p:nvPr/>
          </p:nvSpPr>
          <p:spPr>
            <a:xfrm>
              <a:off x="7486631" y="5342816"/>
              <a:ext cx="426720" cy="3403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solidFill>
                    <a:schemeClr val="tx1"/>
                  </a:solidFill>
                  <a:latin typeface="+mn-ea"/>
                </a:rPr>
                <a:t>ch</a:t>
              </a:r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Text Box 20">
              <a:extLst>
                <a:ext uri="{FF2B5EF4-FFF2-40B4-BE49-F238E27FC236}">
                  <a16:creationId xmlns:a16="http://schemas.microsoft.com/office/drawing/2014/main" id="{6A2F1771-6D81-958E-66F5-EB6640CDE8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0145" y="3173682"/>
              <a:ext cx="1715012" cy="34032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latinLnBrk="0">
                <a:buClrTx/>
                <a:buSzTx/>
                <a:buFontTx/>
                <a:buNone/>
                <a:defRPr kumimoji="1" sz="2400">
                  <a:solidFill>
                    <a:schemeClr val="tx1"/>
                  </a:solidFill>
                  <a:latin typeface="Consolas" panose="020B0609020204030204" pitchFamily="49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9pPr>
            </a:lstStyle>
            <a:p>
              <a:r>
                <a:rPr lang="en-US" altLang="ko-KR" sz="1800" dirty="0">
                  <a:latin typeface="+mn-ea"/>
                </a:rPr>
                <a:t>‘h’, ‘e’, ‘l’, ‘l’, ‘o’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8696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A8854-35BF-D549-508F-A5581FC2F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03D84F8-0614-EA26-5494-A8489A07F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 for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ADB2EA6-8319-DDAD-1EEE-F87821A6F9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문과</a:t>
            </a:r>
            <a:r>
              <a:rPr lang="en-US" altLang="ko-KR" dirty="0"/>
              <a:t> range()</a:t>
            </a:r>
          </a:p>
          <a:p>
            <a:pPr lvl="2"/>
            <a:r>
              <a:rPr lang="ko-KR" altLang="en-US" dirty="0"/>
              <a:t>일정 정수 범위 또는 패턴에 대해서 수행되는 경우가 많은데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특정 횟수만큼 혹은 특정 주기를 반복</a:t>
            </a:r>
            <a:r>
              <a:rPr lang="en-US" altLang="ko-KR" dirty="0"/>
              <a:t>), </a:t>
            </a:r>
            <a:r>
              <a:rPr lang="ko-KR" altLang="en-US" dirty="0"/>
              <a:t>이럴 때에는 </a:t>
            </a:r>
            <a:r>
              <a:rPr lang="en-US" altLang="ko-KR" dirty="0"/>
              <a:t>range </a:t>
            </a:r>
            <a:r>
              <a:rPr lang="ko-KR" altLang="en-US" dirty="0"/>
              <a:t>함수를 이용</a:t>
            </a:r>
          </a:p>
          <a:p>
            <a:pPr lvl="3"/>
            <a:r>
              <a:rPr lang="ko-KR" altLang="en-US" dirty="0"/>
              <a:t>특정범위를 지정하여 범위 내에서 반복을 수행</a:t>
            </a:r>
            <a:endParaRPr lang="en-US" altLang="ko-KR" dirty="0"/>
          </a:p>
          <a:p>
            <a:pPr lvl="3"/>
            <a:r>
              <a:rPr lang="en-US" altLang="ko-KR" dirty="0"/>
              <a:t>for </a:t>
            </a:r>
            <a:r>
              <a:rPr lang="ko-KR" altLang="en-US" dirty="0"/>
              <a:t>반복문의 전통적인 모양은 아니고</a:t>
            </a:r>
            <a:r>
              <a:rPr lang="en-US" altLang="ko-KR" dirty="0"/>
              <a:t>, </a:t>
            </a:r>
            <a:r>
              <a:rPr lang="ko-KR" altLang="en-US" dirty="0" err="1"/>
              <a:t>파이썬에서</a:t>
            </a:r>
            <a:r>
              <a:rPr lang="ko-KR" altLang="en-US" dirty="0"/>
              <a:t> 유용하게 사용하기 위해 조금 변형된 형태 </a:t>
            </a:r>
          </a:p>
        </p:txBody>
      </p:sp>
      <p:sp>
        <p:nvSpPr>
          <p:cNvPr id="11" name="Text Box 20">
            <a:extLst>
              <a:ext uri="{FF2B5EF4-FFF2-40B4-BE49-F238E27FC236}">
                <a16:creationId xmlns:a16="http://schemas.microsoft.com/office/drawing/2014/main" id="{6441084F-A3D8-4A16-8C1A-A866E649E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353" y="3760918"/>
            <a:ext cx="2928541" cy="64633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latinLnBrk="0">
              <a:buClrTx/>
              <a:buSzTx/>
              <a:buFontTx/>
              <a:buNone/>
              <a:defRPr kumimoji="1" sz="2400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9pPr>
          </a:lstStyle>
          <a:p>
            <a:r>
              <a:rPr lang="en-US" altLang="ko-KR" sz="1800" dirty="0">
                <a:latin typeface="+mn-ea"/>
              </a:rPr>
              <a:t>for </a:t>
            </a:r>
            <a:r>
              <a:rPr lang="ko-KR" altLang="en-US" sz="1800" dirty="0">
                <a:latin typeface="+mn-ea"/>
              </a:rPr>
              <a:t>변수</a:t>
            </a:r>
            <a:r>
              <a:rPr lang="en-US" altLang="ko-KR" sz="1800" dirty="0">
                <a:latin typeface="+mn-ea"/>
              </a:rPr>
              <a:t> in range(6):</a:t>
            </a:r>
          </a:p>
          <a:p>
            <a:r>
              <a:rPr lang="en-US" altLang="ko-KR" sz="1800" dirty="0">
                <a:latin typeface="+mn-ea"/>
              </a:rPr>
              <a:t>    </a:t>
            </a:r>
            <a:r>
              <a:rPr lang="ko-KR" altLang="en-US" sz="1800" dirty="0">
                <a:latin typeface="+mn-ea"/>
              </a:rPr>
              <a:t>코드블록</a:t>
            </a:r>
            <a:endParaRPr lang="en-US" altLang="ko-KR" sz="1800" dirty="0">
              <a:latin typeface="+mn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C5BAFF8-1A25-46D0-8FE4-AEDCA25A6FF0}"/>
              </a:ext>
            </a:extLst>
          </p:cNvPr>
          <p:cNvGrpSpPr/>
          <p:nvPr/>
        </p:nvGrpSpPr>
        <p:grpSpPr>
          <a:xfrm>
            <a:off x="4928411" y="3550469"/>
            <a:ext cx="4292226" cy="2859475"/>
            <a:chOff x="2990941" y="2772048"/>
            <a:chExt cx="5068952" cy="3364027"/>
          </a:xfrm>
        </p:grpSpPr>
        <p:sp>
          <p:nvSpPr>
            <p:cNvPr id="13" name="Text Box 20">
              <a:extLst>
                <a:ext uri="{FF2B5EF4-FFF2-40B4-BE49-F238E27FC236}">
                  <a16:creationId xmlns:a16="http://schemas.microsoft.com/office/drawing/2014/main" id="{9135F2A7-86F6-4126-9EFB-10A868776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0076" y="3386737"/>
              <a:ext cx="2025362" cy="434500"/>
            </a:xfrm>
            <a:prstGeom prst="rect">
              <a:avLst/>
            </a:prstGeom>
            <a:solidFill>
              <a:srgbClr val="E6E6E6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latinLnBrk="0">
                <a:buClrTx/>
                <a:buSzTx/>
                <a:buFontTx/>
                <a:buNone/>
                <a:defRPr kumimoji="1" sz="2400">
                  <a:solidFill>
                    <a:schemeClr val="tx1"/>
                  </a:solidFill>
                  <a:latin typeface="Consolas" panose="020B0609020204030204" pitchFamily="49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9pPr>
            </a:lstStyle>
            <a:p>
              <a:r>
                <a:rPr lang="en-US" altLang="ko-KR" sz="1800" dirty="0">
                  <a:latin typeface="+mn-ea"/>
                </a:rPr>
                <a:t>1, 2, 3, 4, 5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FE2D421-E6E5-496B-87EC-0244F52033F9}"/>
                </a:ext>
              </a:extLst>
            </p:cNvPr>
            <p:cNvSpPr txBox="1"/>
            <p:nvPr/>
          </p:nvSpPr>
          <p:spPr>
            <a:xfrm>
              <a:off x="2990941" y="4068191"/>
              <a:ext cx="1757161" cy="3982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코드블록 실행</a:t>
              </a:r>
            </a:p>
          </p:txBody>
        </p:sp>
        <p:sp>
          <p:nvSpPr>
            <p:cNvPr id="16" name="Text Box 20">
              <a:extLst>
                <a:ext uri="{FF2B5EF4-FFF2-40B4-BE49-F238E27FC236}">
                  <a16:creationId xmlns:a16="http://schemas.microsoft.com/office/drawing/2014/main" id="{E968AE3A-8DE4-4430-A083-E7294C14AA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1939" y="4981347"/>
              <a:ext cx="1973501" cy="434500"/>
            </a:xfrm>
            <a:prstGeom prst="rect">
              <a:avLst/>
            </a:prstGeom>
            <a:solidFill>
              <a:srgbClr val="E6E6E6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latinLnBrk="0">
                <a:buClrTx/>
                <a:buSzTx/>
                <a:buFontTx/>
                <a:buNone/>
                <a:defRPr kumimoji="1" sz="2400">
                  <a:solidFill>
                    <a:schemeClr val="tx1"/>
                  </a:solidFill>
                  <a:latin typeface="Consolas" panose="020B0609020204030204" pitchFamily="49" charset="0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kumimoji="1" sz="24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kumimoji="1" sz="1600">
                  <a:solidFill>
                    <a:schemeClr val="tx1"/>
                  </a:solidFill>
                  <a:latin typeface="Book Antiqua" panose="02040602050305030304" pitchFamily="18" charset="0"/>
                  <a:ea typeface="MingLiU" pitchFamily="49" charset="-120"/>
                </a:defRPr>
              </a:lvl9pPr>
            </a:lstStyle>
            <a:p>
              <a:r>
                <a:rPr lang="en-US" altLang="ko-KR" sz="1800" dirty="0">
                  <a:latin typeface="+mn-ea"/>
                </a:rPr>
                <a:t>2, 3, 4, 5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4A2902-4324-4717-AFD9-E789DF7D9D08}"/>
                </a:ext>
              </a:extLst>
            </p:cNvPr>
            <p:cNvSpPr txBox="1"/>
            <p:nvPr/>
          </p:nvSpPr>
          <p:spPr>
            <a:xfrm>
              <a:off x="3639013" y="2772048"/>
              <a:ext cx="375210" cy="4345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tx1"/>
                  </a:solidFill>
                  <a:latin typeface="+mn-ea"/>
                </a:rPr>
                <a:t>n</a:t>
              </a:r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7C65338-52BC-4D3F-A419-9255E6AE6645}"/>
                </a:ext>
              </a:extLst>
            </p:cNvPr>
            <p:cNvSpPr txBox="1"/>
            <p:nvPr/>
          </p:nvSpPr>
          <p:spPr>
            <a:xfrm>
              <a:off x="3733921" y="4330127"/>
              <a:ext cx="375210" cy="4345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tx1"/>
                  </a:solidFill>
                  <a:latin typeface="+mn-ea"/>
                </a:rPr>
                <a:t>n</a:t>
              </a:r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685F70-F01A-440A-96B0-C33A60450EC6}"/>
                </a:ext>
              </a:extLst>
            </p:cNvPr>
            <p:cNvSpPr txBox="1"/>
            <p:nvPr/>
          </p:nvSpPr>
          <p:spPr>
            <a:xfrm>
              <a:off x="3721480" y="4957731"/>
              <a:ext cx="367638" cy="4345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tx1"/>
                  </a:solidFill>
                  <a:latin typeface="+mn-ea"/>
                </a:rPr>
                <a:t>1</a:t>
              </a:r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C047DC4-70D2-4E1A-86D0-2CBB023C521B}"/>
                </a:ext>
              </a:extLst>
            </p:cNvPr>
            <p:cNvSpPr txBox="1"/>
            <p:nvPr/>
          </p:nvSpPr>
          <p:spPr>
            <a:xfrm>
              <a:off x="3671549" y="3356166"/>
              <a:ext cx="367638" cy="4345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tx1"/>
                  </a:solidFill>
                  <a:latin typeface="+mn-ea"/>
                </a:rPr>
                <a:t>0</a:t>
              </a:r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" name="왼쪽 화살표 4">
              <a:extLst>
                <a:ext uri="{FF2B5EF4-FFF2-40B4-BE49-F238E27FC236}">
                  <a16:creationId xmlns:a16="http://schemas.microsoft.com/office/drawing/2014/main" id="{1BC757F0-0150-40C0-90CD-FAF94E4A9316}"/>
                </a:ext>
              </a:extLst>
            </p:cNvPr>
            <p:cNvSpPr/>
            <p:nvPr/>
          </p:nvSpPr>
          <p:spPr bwMode="auto">
            <a:xfrm>
              <a:off x="4521070" y="5020941"/>
              <a:ext cx="408241" cy="321082"/>
            </a:xfrm>
            <a:prstGeom prst="leftArrow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2" name="왼쪽 화살표 29">
              <a:extLst>
                <a:ext uri="{FF2B5EF4-FFF2-40B4-BE49-F238E27FC236}">
                  <a16:creationId xmlns:a16="http://schemas.microsoft.com/office/drawing/2014/main" id="{555E8046-8A1C-43EC-A3FF-8F5E38BFFDF7}"/>
                </a:ext>
              </a:extLst>
            </p:cNvPr>
            <p:cNvSpPr/>
            <p:nvPr/>
          </p:nvSpPr>
          <p:spPr bwMode="auto">
            <a:xfrm>
              <a:off x="4403750" y="3491749"/>
              <a:ext cx="408241" cy="321082"/>
            </a:xfrm>
            <a:prstGeom prst="leftArrow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3" name="원통 5">
              <a:extLst>
                <a:ext uri="{FF2B5EF4-FFF2-40B4-BE49-F238E27FC236}">
                  <a16:creationId xmlns:a16="http://schemas.microsoft.com/office/drawing/2014/main" id="{C92F7835-96D2-40EA-B7D2-721B4BED03FE}"/>
                </a:ext>
              </a:extLst>
            </p:cNvPr>
            <p:cNvSpPr/>
            <p:nvPr/>
          </p:nvSpPr>
          <p:spPr bwMode="auto">
            <a:xfrm rot="16200000">
              <a:off x="6007893" y="3654014"/>
              <a:ext cx="1080000" cy="3024000"/>
            </a:xfrm>
            <a:prstGeom prst="can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4" name="원통 21">
              <a:extLst>
                <a:ext uri="{FF2B5EF4-FFF2-40B4-BE49-F238E27FC236}">
                  <a16:creationId xmlns:a16="http://schemas.microsoft.com/office/drawing/2014/main" id="{6244A71E-81D8-478F-A4B9-4A8C9885DA4A}"/>
                </a:ext>
              </a:extLst>
            </p:cNvPr>
            <p:cNvSpPr/>
            <p:nvPr/>
          </p:nvSpPr>
          <p:spPr bwMode="auto">
            <a:xfrm rot="16200000">
              <a:off x="6007893" y="2059404"/>
              <a:ext cx="1080000" cy="3024000"/>
            </a:xfrm>
            <a:prstGeom prst="can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0E0769F-2D44-4894-AC4A-9DD1562D0810}"/>
                </a:ext>
              </a:extLst>
            </p:cNvPr>
            <p:cNvSpPr/>
            <p:nvPr/>
          </p:nvSpPr>
          <p:spPr bwMode="auto">
            <a:xfrm>
              <a:off x="3465234" y="4850046"/>
              <a:ext cx="908753" cy="790619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0C6137D-7613-4803-AAD3-AB882F710E78}"/>
                </a:ext>
              </a:extLst>
            </p:cNvPr>
            <p:cNvSpPr/>
            <p:nvPr/>
          </p:nvSpPr>
          <p:spPr bwMode="auto">
            <a:xfrm>
              <a:off x="3415303" y="3230335"/>
              <a:ext cx="908753" cy="790619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48C86DD-8C0B-4C72-962B-CFA00CEE0747}"/>
                </a:ext>
              </a:extLst>
            </p:cNvPr>
            <p:cNvSpPr txBox="1"/>
            <p:nvPr/>
          </p:nvSpPr>
          <p:spPr>
            <a:xfrm>
              <a:off x="3864406" y="5740774"/>
              <a:ext cx="677108" cy="39530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3200" dirty="0">
                  <a:solidFill>
                    <a:schemeClr val="tx1"/>
                  </a:solidFill>
                  <a:latin typeface="+mn-ea"/>
                </a:rPr>
                <a:t>…</a:t>
              </a:r>
              <a:endParaRPr lang="ko-KR" altLang="en-US" sz="3200" dirty="0">
                <a:solidFill>
                  <a:schemeClr val="tx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3567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A8854-35BF-D549-508F-A5581FC2F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03D84F8-0614-EA26-5494-A8489A07F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 for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ADB2EA6-8319-DDAD-1EEE-F87821A6F9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문과</a:t>
            </a:r>
            <a:r>
              <a:rPr lang="en-US" altLang="ko-KR" dirty="0"/>
              <a:t> range()</a:t>
            </a:r>
          </a:p>
          <a:p>
            <a:pPr lvl="2"/>
            <a:r>
              <a:rPr lang="en-US" altLang="ko-KR" dirty="0"/>
              <a:t>range()</a:t>
            </a:r>
            <a:r>
              <a:rPr lang="ko-KR" altLang="en-US" dirty="0"/>
              <a:t>의 범위는 다양하게 정의 가능함</a:t>
            </a:r>
          </a:p>
        </p:txBody>
      </p:sp>
      <p:sp>
        <p:nvSpPr>
          <p:cNvPr id="6" name="Text Box 20">
            <a:extLst>
              <a:ext uri="{FF2B5EF4-FFF2-40B4-BE49-F238E27FC236}">
                <a16:creationId xmlns:a16="http://schemas.microsoft.com/office/drawing/2014/main" id="{473CEAEA-FADE-488E-AD2D-6DC55947C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3115" y="3489808"/>
            <a:ext cx="10397885" cy="211628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latinLnBrk="0">
              <a:buClrTx/>
              <a:buSzTx/>
              <a:buFontTx/>
              <a:buNone/>
              <a:defRPr kumimoji="1" sz="2400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range(c)	# range(0, 1, 2, …, c – 1)</a:t>
            </a: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range(c, d)       # range(c, c + 1, c + 2, …, d – 1)</a:t>
            </a: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range(c, d, e)    # range(c, c + e, c + 2 * e, </a:t>
            </a: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                     # …, c + n * e (c &lt; d and e &gt; 0</a:t>
            </a:r>
            <a:r>
              <a:rPr lang="ko-KR" altLang="en-US" sz="1800" dirty="0">
                <a:latin typeface="+mn-ea"/>
              </a:rPr>
              <a:t>이면</a:t>
            </a:r>
            <a:r>
              <a:rPr lang="en-US" altLang="ko-KR" sz="1800" dirty="0">
                <a:latin typeface="+mn-ea"/>
              </a:rPr>
              <a:t>, c + n * e</a:t>
            </a:r>
            <a:r>
              <a:rPr lang="ko-KR" altLang="en-US" sz="1800" dirty="0">
                <a:latin typeface="+mn-ea"/>
              </a:rPr>
              <a:t>는 </a:t>
            </a:r>
            <a:r>
              <a:rPr lang="en-US" altLang="ko-KR" sz="1800" dirty="0">
                <a:latin typeface="+mn-ea"/>
              </a:rPr>
              <a:t>d</a:t>
            </a:r>
            <a:r>
              <a:rPr lang="ko-KR" altLang="en-US" sz="1800" dirty="0">
                <a:latin typeface="+mn-ea"/>
              </a:rPr>
              <a:t>보다 작은 가장 큰 정수</a:t>
            </a:r>
            <a:endParaRPr lang="en-US" altLang="ko-KR" sz="18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                     #, c &gt; d and e &lt; 0</a:t>
            </a:r>
            <a:r>
              <a:rPr lang="ko-KR" altLang="en-US" sz="1800" dirty="0">
                <a:latin typeface="+mn-ea"/>
              </a:rPr>
              <a:t>이면</a:t>
            </a:r>
            <a:r>
              <a:rPr lang="en-US" altLang="ko-KR" sz="1800" dirty="0">
                <a:latin typeface="+mn-ea"/>
              </a:rPr>
              <a:t>, c + n * e</a:t>
            </a:r>
            <a:r>
              <a:rPr lang="ko-KR" altLang="en-US" sz="1800" dirty="0">
                <a:latin typeface="+mn-ea"/>
              </a:rPr>
              <a:t>는 </a:t>
            </a:r>
            <a:r>
              <a:rPr lang="en-US" altLang="ko-KR" sz="1800" dirty="0">
                <a:latin typeface="+mn-ea"/>
              </a:rPr>
              <a:t>d</a:t>
            </a:r>
            <a:r>
              <a:rPr lang="ko-KR" altLang="en-US" sz="1800" dirty="0">
                <a:latin typeface="+mn-ea"/>
              </a:rPr>
              <a:t>보다 큰 가장 작은 정수</a:t>
            </a:r>
            <a:r>
              <a:rPr lang="en-US" altLang="ko-KR" sz="1800" dirty="0">
                <a:latin typeface="+mn-ea"/>
              </a:rPr>
              <a:t>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9548AE-3854-AEEB-4E40-5C6C11A5CDE6}"/>
              </a:ext>
            </a:extLst>
          </p:cNvPr>
          <p:cNvSpPr txBox="1"/>
          <p:nvPr/>
        </p:nvSpPr>
        <p:spPr>
          <a:xfrm>
            <a:off x="1839897" y="2616239"/>
            <a:ext cx="357548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range(</a:t>
            </a:r>
            <a:r>
              <a:rPr kumimoji="0" lang="ko-KR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시작값</a:t>
            </a: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종료값</a:t>
            </a: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+1, </a:t>
            </a:r>
            <a:r>
              <a:rPr kumimoji="0" lang="ko-KR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증가값</a:t>
            </a: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59192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A8854-35BF-D549-508F-A5581FC2F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03D84F8-0614-EA26-5494-A8489A07F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 for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ADB2EA6-8319-DDAD-1EEE-F87821A6F9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문과</a:t>
            </a:r>
            <a:r>
              <a:rPr lang="en-US" altLang="ko-KR" dirty="0"/>
              <a:t> range()</a:t>
            </a:r>
          </a:p>
          <a:p>
            <a:pPr lvl="2"/>
            <a:r>
              <a:rPr lang="en-US" altLang="ko-KR" dirty="0"/>
              <a:t>range()</a:t>
            </a:r>
            <a:r>
              <a:rPr lang="ko-KR" altLang="en-US" dirty="0"/>
              <a:t>의 사용</a:t>
            </a:r>
            <a:r>
              <a:rPr lang="en-US" altLang="ko-KR" dirty="0"/>
              <a:t> </a:t>
            </a:r>
            <a:r>
              <a:rPr lang="ko-KR" altLang="en-US" dirty="0"/>
              <a:t>예</a:t>
            </a:r>
          </a:p>
        </p:txBody>
      </p:sp>
      <p:sp>
        <p:nvSpPr>
          <p:cNvPr id="6" name="Text Box 20">
            <a:extLst>
              <a:ext uri="{FF2B5EF4-FFF2-40B4-BE49-F238E27FC236}">
                <a16:creationId xmlns:a16="http://schemas.microsoft.com/office/drawing/2014/main" id="{473CEAEA-FADE-488E-AD2D-6DC55947C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0848" y="2578606"/>
            <a:ext cx="5622685" cy="170078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latinLnBrk="0">
              <a:buClrTx/>
              <a:buSzTx/>
              <a:buFontTx/>
              <a:buNone/>
              <a:defRPr kumimoji="1" sz="2400">
                <a:solidFill>
                  <a:schemeClr val="tx1"/>
                </a:solidFill>
                <a:latin typeface="Consolas" panose="020B0609020204030204" pitchFamily="49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kumimoji="1" sz="24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3pPr>
            <a:lvl4pPr marL="1600200" indent="-228600" latinLnBrk="1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4pPr>
            <a:lvl5pPr marL="2057400" indent="-228600" latinLnBrk="1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Book Antiqua" panose="02040602050305030304" pitchFamily="18" charset="0"/>
                <a:ea typeface="MingLiU" pitchFamily="49" charset="-12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a = range(-5, -2)    # a = range(-5, -4, -3)</a:t>
            </a: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a = range(-5, 3, 2)  # a = range(-5, -3, -1, 1)</a:t>
            </a: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a = range(7, 1, -3)  # a = range(7, 4)</a:t>
            </a: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a = range(7, -3, -2) # a = range(7, 5, 3, 1, -1)</a:t>
            </a:r>
          </a:p>
        </p:txBody>
      </p:sp>
    </p:spTree>
    <p:extLst>
      <p:ext uri="{BB962C8B-B14F-4D97-AF65-F5344CB8AC3E}">
        <p14:creationId xmlns:p14="http://schemas.microsoft.com/office/powerpoint/2010/main" val="496477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A8854-35BF-D549-508F-A5581FC2F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03D84F8-0614-EA26-5494-A8489A07F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 for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ADB2EA6-8319-DDAD-1EEE-F87821A6F9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문과</a:t>
            </a:r>
            <a:r>
              <a:rPr lang="en-US" altLang="ko-KR" dirty="0"/>
              <a:t> range()</a:t>
            </a:r>
          </a:p>
          <a:p>
            <a:pPr lvl="2"/>
            <a:r>
              <a:rPr lang="ko-KR" altLang="en-US" sz="1600" dirty="0"/>
              <a:t> ‘</a:t>
            </a:r>
            <a:r>
              <a:rPr lang="en-US" altLang="ko-KR" sz="1600" dirty="0"/>
              <a:t>range( )’ </a:t>
            </a:r>
            <a:r>
              <a:rPr lang="ko-KR" altLang="en-US" sz="1600" dirty="0"/>
              <a:t>함수를 사용할 때는 다음과 같은 사항을 주의</a:t>
            </a:r>
            <a:endParaRPr lang="en-US" altLang="ko-KR" sz="1600" dirty="0"/>
          </a:p>
          <a:p>
            <a:pPr lvl="3"/>
            <a:endParaRPr lang="en-US" altLang="ko-KR" dirty="0"/>
          </a:p>
          <a:p>
            <a:pPr lvl="3"/>
            <a:r>
              <a:rPr lang="en-US" altLang="ko-KR" dirty="0"/>
              <a:t>start </a:t>
            </a:r>
            <a:r>
              <a:rPr lang="ko-KR" altLang="en-US" dirty="0"/>
              <a:t>값은 포함하지만 </a:t>
            </a:r>
            <a:r>
              <a:rPr lang="en-US" altLang="ko-KR" dirty="0"/>
              <a:t>stop </a:t>
            </a:r>
            <a:r>
              <a:rPr lang="ko-KR" altLang="en-US" dirty="0"/>
              <a:t>값은 포함되지 않는다</a:t>
            </a:r>
            <a:r>
              <a:rPr lang="en-US" altLang="ko-KR" dirty="0"/>
              <a:t>.</a:t>
            </a:r>
          </a:p>
          <a:p>
            <a:pPr lvl="3"/>
            <a:r>
              <a:rPr lang="en-US" altLang="ko-KR" dirty="0"/>
              <a:t>start </a:t>
            </a:r>
            <a:r>
              <a:rPr lang="ko-KR" altLang="en-US" dirty="0"/>
              <a:t>값은 생략할 수 있으며</a:t>
            </a:r>
            <a:r>
              <a:rPr lang="en-US" altLang="ko-KR" dirty="0"/>
              <a:t>, </a:t>
            </a:r>
            <a:r>
              <a:rPr lang="ko-KR" altLang="en-US" dirty="0"/>
              <a:t>기본 값은 </a:t>
            </a:r>
            <a:r>
              <a:rPr lang="en-US" altLang="ko-KR" dirty="0"/>
              <a:t>0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</a:p>
          <a:p>
            <a:pPr lvl="3"/>
            <a:r>
              <a:rPr lang="en-US" altLang="ko-KR" dirty="0"/>
              <a:t>start </a:t>
            </a:r>
            <a:r>
              <a:rPr lang="ko-KR" altLang="en-US" dirty="0"/>
              <a:t>값에는 정수</a:t>
            </a:r>
            <a:r>
              <a:rPr lang="en-US" altLang="ko-KR" dirty="0"/>
              <a:t>(int </a:t>
            </a:r>
            <a:r>
              <a:rPr lang="ko-KR" altLang="en-US" dirty="0"/>
              <a:t>형</a:t>
            </a:r>
            <a:r>
              <a:rPr lang="en-US" altLang="ko-KR" dirty="0"/>
              <a:t>)</a:t>
            </a:r>
            <a:r>
              <a:rPr lang="ko-KR" altLang="en-US" dirty="0"/>
              <a:t>만 쓸 수 있다</a:t>
            </a:r>
            <a:r>
              <a:rPr lang="en-US" altLang="ko-KR" dirty="0"/>
              <a:t>.</a:t>
            </a:r>
          </a:p>
          <a:p>
            <a:pPr lvl="3"/>
            <a:r>
              <a:rPr lang="en-US" altLang="ko-KR" dirty="0"/>
              <a:t>stop </a:t>
            </a:r>
            <a:r>
              <a:rPr lang="ko-KR" altLang="en-US" dirty="0"/>
              <a:t>값은 생략될 수 없다</a:t>
            </a:r>
            <a:r>
              <a:rPr lang="en-US" altLang="ko-KR" dirty="0"/>
              <a:t>.</a:t>
            </a:r>
          </a:p>
          <a:p>
            <a:pPr lvl="3"/>
            <a:r>
              <a:rPr lang="en-US" altLang="ko-KR" dirty="0"/>
              <a:t>stop </a:t>
            </a:r>
            <a:r>
              <a:rPr lang="ko-KR" altLang="en-US" dirty="0"/>
              <a:t>값에는 정수</a:t>
            </a:r>
            <a:r>
              <a:rPr lang="en-US" altLang="ko-KR" dirty="0"/>
              <a:t>(int </a:t>
            </a:r>
            <a:r>
              <a:rPr lang="ko-KR" altLang="en-US" dirty="0"/>
              <a:t>형</a:t>
            </a:r>
            <a:r>
              <a:rPr lang="en-US" altLang="ko-KR" dirty="0"/>
              <a:t>)</a:t>
            </a:r>
            <a:r>
              <a:rPr lang="ko-KR" altLang="en-US" dirty="0"/>
              <a:t>만 쓸 수 있다</a:t>
            </a:r>
            <a:r>
              <a:rPr lang="en-US" altLang="ko-KR" dirty="0"/>
              <a:t>.</a:t>
            </a:r>
          </a:p>
          <a:p>
            <a:pPr lvl="3"/>
            <a:r>
              <a:rPr lang="en-US" altLang="ko-KR" dirty="0"/>
              <a:t>step </a:t>
            </a:r>
            <a:r>
              <a:rPr lang="ko-KR" altLang="en-US" dirty="0"/>
              <a:t>값은 생략될 수 있으며 기본 값은 </a:t>
            </a:r>
            <a:r>
              <a:rPr lang="en-US" altLang="ko-KR" dirty="0"/>
              <a:t>1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pPr lvl="3"/>
            <a:r>
              <a:rPr lang="en-US" altLang="ko-KR" dirty="0"/>
              <a:t>step</a:t>
            </a:r>
            <a:r>
              <a:rPr lang="ko-KR" altLang="en-US" dirty="0"/>
              <a:t>은 </a:t>
            </a:r>
            <a:r>
              <a:rPr lang="en-US" altLang="ko-KR" dirty="0"/>
              <a:t>0</a:t>
            </a:r>
            <a:r>
              <a:rPr lang="ko-KR" altLang="en-US" dirty="0"/>
              <a:t>이 될 수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5F495-43B1-2EC0-5080-356DB6ABF43C}"/>
              </a:ext>
            </a:extLst>
          </p:cNvPr>
          <p:cNvSpPr txBox="1"/>
          <p:nvPr/>
        </p:nvSpPr>
        <p:spPr>
          <a:xfrm>
            <a:off x="1802345" y="2423938"/>
            <a:ext cx="294720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range([start], stop, [</a:t>
            </a:r>
            <a:r>
              <a:rPr lang="en-US" altLang="ko-KR" kern="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step</a:t>
            </a: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981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FA6F7-3276-1C71-46D9-3AAD9676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95D1CFC-7F6E-3E8B-2356-B3AFCD1E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 for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FB3E0DF-2B8D-450F-F2C0-234F471463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 </a:t>
            </a:r>
            <a:r>
              <a:rPr lang="en-US" altLang="ko-KR" dirty="0"/>
              <a:t>for</a:t>
            </a:r>
            <a:r>
              <a:rPr lang="ko-KR" altLang="en-US" dirty="0"/>
              <a:t>문 적용하기</a:t>
            </a:r>
            <a:r>
              <a:rPr lang="en-US" altLang="ko-KR" dirty="0"/>
              <a:t>1</a:t>
            </a:r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4-2: : </a:t>
            </a:r>
            <a:r>
              <a:rPr lang="en-US" altLang="ko-KR" sz="1600" dirty="0"/>
              <a:t>1</a:t>
            </a:r>
            <a:r>
              <a:rPr lang="ko-KR" altLang="en-US" sz="1600" dirty="0"/>
              <a:t>부터 시작하여 사용자가 입력한 값까지 홀수 정수를 합한 결과를 출력하는 프로그램을 작성해 보자</a:t>
            </a:r>
            <a:r>
              <a:rPr lang="en-US" altLang="ko-KR" sz="1600" dirty="0"/>
              <a:t>. </a:t>
            </a:r>
          </a:p>
          <a:p>
            <a:pPr lvl="3"/>
            <a:r>
              <a:rPr lang="en-US" altLang="ko-KR" dirty="0"/>
              <a:t> range()</a:t>
            </a:r>
            <a:r>
              <a:rPr lang="ko-KR" altLang="en-US" dirty="0"/>
              <a:t> 함수를 사용</a:t>
            </a:r>
            <a:r>
              <a:rPr lang="en-US" altLang="ko-KR" dirty="0"/>
              <a:t> </a:t>
            </a:r>
          </a:p>
          <a:p>
            <a:pPr lvl="3"/>
            <a:r>
              <a:rPr lang="en-US" altLang="ko-KR" dirty="0"/>
              <a:t> </a:t>
            </a:r>
            <a:r>
              <a:rPr lang="ko-KR" altLang="en-US" dirty="0"/>
              <a:t>입력 값으로 </a:t>
            </a:r>
            <a:r>
              <a:rPr lang="en-US" altLang="ko-KR" dirty="0"/>
              <a:t>20</a:t>
            </a:r>
            <a:r>
              <a:rPr lang="ko-KR" altLang="en-US" dirty="0"/>
              <a:t>을 넣어서 합한 결과를 출력해 보자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219234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952ED-A49C-2DE4-65D5-0754A179E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BF7E859-C835-3205-2931-26696D28B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 for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C1859CF-5EF1-1148-1E42-4DD4174AF3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문 적용하기</a:t>
            </a:r>
            <a:r>
              <a:rPr lang="en-US" altLang="ko-KR" dirty="0"/>
              <a:t>1</a:t>
            </a:r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4-2: : </a:t>
            </a:r>
            <a:r>
              <a:rPr lang="en-US" altLang="ko-KR" sz="1600" dirty="0"/>
              <a:t>1</a:t>
            </a:r>
            <a:r>
              <a:rPr lang="ko-KR" altLang="en-US" sz="1600" dirty="0"/>
              <a:t>부터 시작하여 사용자가 입력한 값까지 홀수 정수를 합한 결과를 출력하는 프로그램을 작성해 보자</a:t>
            </a:r>
            <a:r>
              <a:rPr lang="en-US" altLang="ko-KR" sz="1600" dirty="0"/>
              <a:t>. </a:t>
            </a:r>
          </a:p>
          <a:p>
            <a:pPr lvl="3"/>
            <a:r>
              <a:rPr lang="ko-KR" altLang="en-US" dirty="0"/>
              <a:t>알고리즘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D33CB5-50EE-714C-9FC3-EC932506833C}"/>
              </a:ext>
            </a:extLst>
          </p:cNvPr>
          <p:cNvSpPr/>
          <p:nvPr/>
        </p:nvSpPr>
        <p:spPr>
          <a:xfrm>
            <a:off x="1892284" y="3107185"/>
            <a:ext cx="7668966" cy="212176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177800" lvl="2">
              <a:lnSpc>
                <a:spcPct val="150000"/>
              </a:lnSpc>
            </a:pPr>
            <a:r>
              <a:rPr lang="ko-KR" altLang="en-US" sz="1600" dirty="0"/>
              <a:t>① 합계를 위한 변수</a:t>
            </a:r>
            <a:r>
              <a:rPr lang="en-US" altLang="ko-KR" sz="1600" dirty="0"/>
              <a:t>, </a:t>
            </a:r>
            <a:r>
              <a:rPr lang="ko-KR" altLang="en-US" sz="1600" dirty="0"/>
              <a:t>단계를 나타내는 변수 초기화한다</a:t>
            </a:r>
            <a:r>
              <a:rPr lang="en-US" altLang="ko-KR" sz="1600" dirty="0"/>
              <a:t>. 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② </a:t>
            </a:r>
            <a:r>
              <a:rPr lang="ko-KR" altLang="en-US" sz="1600" dirty="0"/>
              <a:t>하나의 정수 </a:t>
            </a:r>
            <a:r>
              <a:rPr lang="en-US" altLang="ko-KR" sz="1600" dirty="0"/>
              <a:t>n</a:t>
            </a:r>
            <a:r>
              <a:rPr lang="ko-KR" altLang="en-US" sz="1600" dirty="0"/>
              <a:t>을 입력한다</a:t>
            </a:r>
            <a:r>
              <a:rPr lang="en-US" altLang="ko-KR" sz="1600" dirty="0"/>
              <a:t>.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③ range()</a:t>
            </a:r>
            <a:r>
              <a:rPr lang="ko-KR" altLang="en-US" sz="1600" dirty="0"/>
              <a:t>함수를 이용하여 정수 </a:t>
            </a:r>
            <a:r>
              <a:rPr lang="en-US" altLang="ko-KR" sz="1600" dirty="0"/>
              <a:t>1</a:t>
            </a:r>
            <a:r>
              <a:rPr lang="ko-KR" altLang="en-US" sz="1600" dirty="0"/>
              <a:t>부터 </a:t>
            </a:r>
            <a:r>
              <a:rPr lang="en-US" altLang="ko-KR" sz="1600" dirty="0"/>
              <a:t>n </a:t>
            </a:r>
            <a:r>
              <a:rPr lang="ko-KR" altLang="en-US" sz="1600" dirty="0"/>
              <a:t>까지 홀수의 정수를 합계를 구한다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④ 1~n</a:t>
            </a:r>
            <a:r>
              <a:rPr lang="ko-KR" altLang="en-US" sz="1600" dirty="0"/>
              <a:t>까지의 범위를 벗어난 경우 반복문을 빠져나온다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⑤ </a:t>
            </a:r>
            <a:r>
              <a:rPr lang="ko-KR" altLang="en-US" sz="1600" dirty="0"/>
              <a:t>합계를 출력한다</a:t>
            </a:r>
            <a:r>
              <a:rPr lang="en-US" altLang="ko-KR" sz="1600" dirty="0"/>
              <a:t>. </a:t>
            </a:r>
            <a:endParaRPr lang="ko-KR" altLang="en-US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060335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E8CFB-B019-2D5D-BE0A-5CB01B3EC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A1E1CBB-26AC-B4CB-8D4F-068CF6C9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 for</a:t>
            </a:r>
            <a:r>
              <a:rPr lang="ko-KR" altLang="en-US" dirty="0"/>
              <a:t>문  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BE8358A-F109-54B3-50D0-60F88AB33C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문 적용하기</a:t>
            </a:r>
            <a:r>
              <a:rPr lang="en-US" altLang="ko-KR" dirty="0"/>
              <a:t>1</a:t>
            </a:r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4-2: : </a:t>
            </a:r>
            <a:r>
              <a:rPr lang="en-US" altLang="ko-KR" sz="1600" dirty="0"/>
              <a:t>1</a:t>
            </a:r>
            <a:r>
              <a:rPr lang="ko-KR" altLang="en-US" sz="1600" dirty="0"/>
              <a:t>부터 시작하여 사용자가 입력한 값까지 홀수 정수를 합한 결과를 출력하는 프로그램을 작성해 보자</a:t>
            </a:r>
            <a:r>
              <a:rPr lang="en-US" altLang="ko-KR" sz="1600" dirty="0"/>
              <a:t>. </a:t>
            </a:r>
          </a:p>
          <a:p>
            <a:pPr lvl="3"/>
            <a:r>
              <a:rPr lang="ko-KR" altLang="en-US" dirty="0"/>
              <a:t>프로그램 코드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0A3D0C-D3B8-F506-DCF2-DE70B1170877}"/>
              </a:ext>
            </a:extLst>
          </p:cNvPr>
          <p:cNvSpPr/>
          <p:nvPr/>
        </p:nvSpPr>
        <p:spPr>
          <a:xfrm>
            <a:off x="1927795" y="3222595"/>
            <a:ext cx="6346193" cy="199747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total = 0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n = int(input(‘Enter the number : ’))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for i in range(1, n+1, 2):</a:t>
            </a:r>
            <a:endParaRPr lang="ko-KR" altLang="en-US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    total += i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print(‘total is %d’ %total)   # print(</a:t>
            </a:r>
            <a:r>
              <a:rPr lang="en-US" altLang="ko-KR" sz="1600" dirty="0" err="1"/>
              <a:t>f‘total</a:t>
            </a:r>
            <a:r>
              <a:rPr lang="en-US" altLang="ko-KR" sz="1600" dirty="0"/>
              <a:t> is {total}’) </a:t>
            </a:r>
          </a:p>
        </p:txBody>
      </p:sp>
    </p:spTree>
    <p:extLst>
      <p:ext uri="{BB962C8B-B14F-4D97-AF65-F5344CB8AC3E}">
        <p14:creationId xmlns:p14="http://schemas.microsoft.com/office/powerpoint/2010/main" val="130634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38C8E-F52C-8AF1-5248-1C7E5C41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7CE681D-C885-33EE-0C1D-E1391D72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 for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3685FE4-8B89-44C9-C9D0-E0D557D13BC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문 적용하기</a:t>
            </a:r>
            <a:r>
              <a:rPr lang="en-US" altLang="ko-KR" dirty="0"/>
              <a:t>1</a:t>
            </a:r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4-2: : </a:t>
            </a:r>
            <a:r>
              <a:rPr lang="en-US" altLang="ko-KR" sz="1600" dirty="0"/>
              <a:t>1</a:t>
            </a:r>
            <a:r>
              <a:rPr lang="ko-KR" altLang="en-US" sz="1600" dirty="0"/>
              <a:t>부터 시작하여 사용자가 입력한 값까지 홀수 정수를 합한 결과를 출력하는 프로그램을 작성해 보자</a:t>
            </a:r>
            <a:r>
              <a:rPr lang="en-US" altLang="ko-KR" sz="1600" dirty="0"/>
              <a:t>. </a:t>
            </a:r>
          </a:p>
          <a:p>
            <a:pPr lvl="3"/>
            <a:r>
              <a:rPr lang="ko-KR" altLang="en-US" dirty="0"/>
              <a:t>테스트 결과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944D8C-30AB-EB14-D57E-69146826E2F3}"/>
              </a:ext>
            </a:extLst>
          </p:cNvPr>
          <p:cNvSpPr/>
          <p:nvPr/>
        </p:nvSpPr>
        <p:spPr>
          <a:xfrm>
            <a:off x="1883407" y="3243634"/>
            <a:ext cx="6346193" cy="1748901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Enter the number : 20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total is 100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65553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FA6F7-3276-1C71-46D9-3AAD9676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95D1CFC-7F6E-3E8B-2356-B3AFCD1E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 for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FB3E0DF-2B8D-450F-F2C0-234F471463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 </a:t>
            </a:r>
            <a:r>
              <a:rPr lang="en-US" altLang="ko-KR" dirty="0"/>
              <a:t>for</a:t>
            </a:r>
            <a:r>
              <a:rPr lang="ko-KR" altLang="en-US" dirty="0"/>
              <a:t>문 적용하기</a:t>
            </a:r>
            <a:r>
              <a:rPr lang="en-US" altLang="ko-KR" dirty="0"/>
              <a:t>2</a:t>
            </a:r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4-3: : </a:t>
            </a:r>
            <a:r>
              <a:rPr lang="ko-KR" altLang="en-US" sz="1600" dirty="0"/>
              <a:t>키보드로 출력할 </a:t>
            </a:r>
            <a:r>
              <a:rPr lang="ko-KR" altLang="en-US" dirty="0"/>
              <a:t>문자열과 </a:t>
            </a:r>
            <a:r>
              <a:rPr lang="ko-KR" altLang="en-US" sz="1600" dirty="0"/>
              <a:t>숫자를 입력 받아 입력 받은 수 만큼 문자열을 반복 출력하는 프로그램 작성하자</a:t>
            </a:r>
          </a:p>
          <a:p>
            <a:pPr lvl="3"/>
            <a:r>
              <a:rPr lang="en-US" altLang="ko-KR" dirty="0"/>
              <a:t> </a:t>
            </a:r>
            <a:r>
              <a:rPr lang="ko-KR" altLang="en-US" dirty="0"/>
              <a:t>임의 문자열을 입력 받는다</a:t>
            </a:r>
            <a:r>
              <a:rPr lang="en-US" altLang="ko-KR" dirty="0"/>
              <a:t>. </a:t>
            </a:r>
          </a:p>
          <a:p>
            <a:pPr lvl="3"/>
            <a:r>
              <a:rPr lang="en-US" altLang="ko-KR" dirty="0"/>
              <a:t> </a:t>
            </a:r>
            <a:r>
              <a:rPr lang="ko-KR" altLang="en-US" dirty="0"/>
              <a:t>입력 값으로 임의 수를 입력 받아  그 숫자 만큼 문자열을 출력해 보자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dirty="0"/>
              <a:t>출력 예시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4FEED7-EE44-4425-B9A5-163ADB481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601" y="3692754"/>
            <a:ext cx="3505689" cy="2486372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4856501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952ED-A49C-2DE4-65D5-0754A179E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BF7E859-C835-3205-2931-26696D28B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 for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C1859CF-5EF1-1148-1E42-4DD4174AF3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문 적용하기</a:t>
            </a:r>
            <a:r>
              <a:rPr lang="en-US" altLang="ko-KR" dirty="0"/>
              <a:t>2</a:t>
            </a:r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4-3: : </a:t>
            </a:r>
            <a:r>
              <a:rPr lang="ko-KR" altLang="en-US" sz="1600" dirty="0"/>
              <a:t>키보드로 출력할 </a:t>
            </a:r>
            <a:r>
              <a:rPr lang="ko-KR" altLang="en-US" dirty="0"/>
              <a:t>문자열과 </a:t>
            </a:r>
            <a:r>
              <a:rPr lang="ko-KR" altLang="en-US" sz="1600" dirty="0"/>
              <a:t>숫자를 입력 받아 입력 받은 수 만큼 문자열을 반복 출력하는 프로그램 작성하자</a:t>
            </a:r>
            <a:endParaRPr lang="en-US" altLang="ko-KR" sz="1600" dirty="0"/>
          </a:p>
          <a:p>
            <a:pPr lvl="3"/>
            <a:r>
              <a:rPr lang="ko-KR" altLang="en-US" dirty="0"/>
              <a:t>알고리즘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D33CB5-50EE-714C-9FC3-EC932506833C}"/>
              </a:ext>
            </a:extLst>
          </p:cNvPr>
          <p:cNvSpPr/>
          <p:nvPr/>
        </p:nvSpPr>
        <p:spPr>
          <a:xfrm>
            <a:off x="1892284" y="3107185"/>
            <a:ext cx="7668966" cy="212176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177800" lvl="2">
              <a:lnSpc>
                <a:spcPct val="150000"/>
              </a:lnSpc>
            </a:pPr>
            <a:r>
              <a:rPr lang="ko-KR" altLang="en-US" sz="1600" dirty="0"/>
              <a:t>① 문자열을 입력한다</a:t>
            </a:r>
            <a:r>
              <a:rPr lang="en-US" altLang="ko-KR" sz="1600" dirty="0"/>
              <a:t>.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② </a:t>
            </a:r>
            <a:r>
              <a:rPr lang="ko-KR" altLang="en-US" sz="1600" dirty="0"/>
              <a:t>하나의 정수를 입력한다</a:t>
            </a:r>
            <a:r>
              <a:rPr lang="en-US" altLang="ko-KR" sz="1600" dirty="0"/>
              <a:t>.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③ range()</a:t>
            </a:r>
            <a:r>
              <a:rPr lang="ko-KR" altLang="en-US" sz="1600" dirty="0"/>
              <a:t>함수를 이용하여 정수 </a:t>
            </a:r>
            <a:r>
              <a:rPr lang="en-US" altLang="ko-KR" sz="1600" dirty="0"/>
              <a:t>1</a:t>
            </a:r>
            <a:r>
              <a:rPr lang="ko-KR" altLang="en-US" sz="1600" dirty="0"/>
              <a:t>부터 </a:t>
            </a:r>
            <a:r>
              <a:rPr lang="en-US" altLang="ko-KR" sz="1600" dirty="0"/>
              <a:t>n </a:t>
            </a:r>
            <a:r>
              <a:rPr lang="ko-KR" altLang="en-US" sz="1600" dirty="0"/>
              <a:t>까지 문자열을 출력한다</a:t>
            </a:r>
            <a:r>
              <a:rPr lang="en-US" altLang="ko-KR" sz="1600" dirty="0"/>
              <a:t>.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④ 1~n</a:t>
            </a:r>
            <a:r>
              <a:rPr lang="ko-KR" altLang="en-US" sz="1600" dirty="0"/>
              <a:t>까지의 범위를 벗어난 경우 반복문을 빠져나온다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⑤ “end”</a:t>
            </a:r>
            <a:r>
              <a:rPr lang="ko-KR" altLang="en-US" sz="1600" dirty="0"/>
              <a:t>를 출력하고</a:t>
            </a:r>
            <a:r>
              <a:rPr lang="en-US" altLang="ko-KR" sz="1600" dirty="0"/>
              <a:t> </a:t>
            </a:r>
            <a:r>
              <a:rPr lang="ko-KR" altLang="en-US" sz="1600" dirty="0"/>
              <a:t>종료한다</a:t>
            </a:r>
            <a:r>
              <a:rPr lang="en-US" altLang="ko-KR" sz="1600" dirty="0"/>
              <a:t>. </a:t>
            </a:r>
            <a:endParaRPr lang="ko-KR" altLang="en-US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106644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E8CFB-B019-2D5D-BE0A-5CB01B3EC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A1E1CBB-26AC-B4CB-8D4F-068CF6C9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 for</a:t>
            </a:r>
            <a:r>
              <a:rPr lang="ko-KR" altLang="en-US" dirty="0"/>
              <a:t>문  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BE8358A-F109-54B3-50D0-60F88AB33C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문 적용하기</a:t>
            </a:r>
            <a:r>
              <a:rPr lang="en-US" altLang="ko-KR" dirty="0"/>
              <a:t>2</a:t>
            </a:r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4-3: : </a:t>
            </a:r>
            <a:r>
              <a:rPr lang="ko-KR" altLang="en-US" sz="1600" dirty="0"/>
              <a:t>키보드로 출력할 </a:t>
            </a:r>
            <a:r>
              <a:rPr lang="ko-KR" altLang="en-US" dirty="0"/>
              <a:t>문자열과 </a:t>
            </a:r>
            <a:r>
              <a:rPr lang="ko-KR" altLang="en-US" sz="1600" dirty="0"/>
              <a:t>숫자를 입력 받아 입력 받은 수 만큼 문자열을 반복 출력하는 프로그램 작성하자</a:t>
            </a:r>
            <a:endParaRPr lang="en-US" altLang="ko-KR" sz="1600" dirty="0"/>
          </a:p>
          <a:p>
            <a:pPr lvl="3"/>
            <a:r>
              <a:rPr lang="ko-KR" altLang="en-US" dirty="0"/>
              <a:t>프로그램 코드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0A3D0C-D3B8-F506-DCF2-DE70B1170877}"/>
              </a:ext>
            </a:extLst>
          </p:cNvPr>
          <p:cNvSpPr/>
          <p:nvPr/>
        </p:nvSpPr>
        <p:spPr>
          <a:xfrm>
            <a:off x="1927795" y="3070194"/>
            <a:ext cx="6346193" cy="333975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dirty="0" err="1"/>
              <a:t>strInput</a:t>
            </a:r>
            <a:r>
              <a:rPr lang="en-US" altLang="ko-KR" sz="1600" dirty="0"/>
              <a:t>= input("Input the string: ")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print("You input the string: ",  </a:t>
            </a:r>
            <a:r>
              <a:rPr lang="en-US" altLang="ko-KR" sz="1600" dirty="0" err="1"/>
              <a:t>strInput</a:t>
            </a:r>
            <a:r>
              <a:rPr lang="en-US" altLang="ko-KR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number = int(input("Input the number: "))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print("You input the number: ",  number)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for i in range(1, number+1):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print(</a:t>
            </a:r>
            <a:r>
              <a:rPr lang="en-US" altLang="ko-KR" sz="1600" dirty="0" err="1"/>
              <a:t>strInput</a:t>
            </a:r>
            <a:r>
              <a:rPr lang="en-US" altLang="ko-KR" sz="1600" dirty="0"/>
              <a:t>, i)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   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print("end")</a:t>
            </a:r>
          </a:p>
        </p:txBody>
      </p:sp>
    </p:spTree>
    <p:extLst>
      <p:ext uri="{BB962C8B-B14F-4D97-AF65-F5344CB8AC3E}">
        <p14:creationId xmlns:p14="http://schemas.microsoft.com/office/powerpoint/2010/main" val="39879603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38C8E-F52C-8AF1-5248-1C7E5C41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7CE681D-C885-33EE-0C1D-E1391D72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 for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3685FE4-8B89-44C9-C9D0-E0D557D13BC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문 적용하기</a:t>
            </a:r>
            <a:r>
              <a:rPr lang="en-US" altLang="ko-KR" dirty="0"/>
              <a:t>2</a:t>
            </a:r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4-3: : </a:t>
            </a:r>
            <a:r>
              <a:rPr lang="ko-KR" altLang="en-US" sz="1600" dirty="0"/>
              <a:t>키보드로 출력할 </a:t>
            </a:r>
            <a:r>
              <a:rPr lang="ko-KR" altLang="en-US" dirty="0"/>
              <a:t>문자열과 </a:t>
            </a:r>
            <a:r>
              <a:rPr lang="ko-KR" altLang="en-US" sz="1600" dirty="0"/>
              <a:t>숫자를 입력 받아 입력 받은 수 만큼 문자열을 반복 출력하는 프로그램 작성하자</a:t>
            </a:r>
            <a:endParaRPr lang="en-US" altLang="ko-KR" sz="1600" dirty="0"/>
          </a:p>
          <a:p>
            <a:pPr lvl="3"/>
            <a:r>
              <a:rPr lang="ko-KR" altLang="en-US" dirty="0"/>
              <a:t>테스트 결과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944D8C-30AB-EB14-D57E-69146826E2F3}"/>
              </a:ext>
            </a:extLst>
          </p:cNvPr>
          <p:cNvSpPr/>
          <p:nvPr/>
        </p:nvSpPr>
        <p:spPr>
          <a:xfrm>
            <a:off x="1883407" y="3073400"/>
            <a:ext cx="6346193" cy="333654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500" dirty="0"/>
              <a:t>Input the string: student</a:t>
            </a:r>
          </a:p>
          <a:p>
            <a:pPr>
              <a:lnSpc>
                <a:spcPct val="150000"/>
              </a:lnSpc>
            </a:pPr>
            <a:r>
              <a:rPr lang="en-US" altLang="ko-KR" sz="1500" dirty="0"/>
              <a:t>You input the string:  student</a:t>
            </a:r>
          </a:p>
          <a:p>
            <a:pPr>
              <a:lnSpc>
                <a:spcPct val="150000"/>
              </a:lnSpc>
            </a:pPr>
            <a:r>
              <a:rPr lang="en-US" altLang="ko-KR" sz="1500" dirty="0"/>
              <a:t>Input the number: 5</a:t>
            </a:r>
          </a:p>
          <a:p>
            <a:pPr>
              <a:lnSpc>
                <a:spcPct val="150000"/>
              </a:lnSpc>
            </a:pPr>
            <a:r>
              <a:rPr lang="en-US" altLang="ko-KR" sz="1500" dirty="0"/>
              <a:t>You input the number:  5</a:t>
            </a:r>
          </a:p>
          <a:p>
            <a:pPr>
              <a:lnSpc>
                <a:spcPct val="150000"/>
              </a:lnSpc>
            </a:pPr>
            <a:r>
              <a:rPr lang="en-US" altLang="ko-KR" sz="1500" dirty="0"/>
              <a:t>student 1</a:t>
            </a:r>
          </a:p>
          <a:p>
            <a:pPr>
              <a:lnSpc>
                <a:spcPct val="150000"/>
              </a:lnSpc>
            </a:pPr>
            <a:r>
              <a:rPr lang="en-US" altLang="ko-KR" sz="1500" dirty="0"/>
              <a:t>student 2</a:t>
            </a:r>
          </a:p>
          <a:p>
            <a:pPr>
              <a:lnSpc>
                <a:spcPct val="150000"/>
              </a:lnSpc>
            </a:pPr>
            <a:r>
              <a:rPr lang="en-US" altLang="ko-KR" sz="1500" dirty="0"/>
              <a:t>student 3</a:t>
            </a:r>
          </a:p>
          <a:p>
            <a:pPr>
              <a:lnSpc>
                <a:spcPct val="150000"/>
              </a:lnSpc>
            </a:pPr>
            <a:r>
              <a:rPr lang="en-US" altLang="ko-KR" sz="1500" dirty="0"/>
              <a:t>student 4</a:t>
            </a:r>
          </a:p>
          <a:p>
            <a:pPr>
              <a:lnSpc>
                <a:spcPct val="150000"/>
              </a:lnSpc>
            </a:pPr>
            <a:r>
              <a:rPr lang="en-US" altLang="ko-KR" sz="1500" dirty="0"/>
              <a:t>student 5</a:t>
            </a:r>
          </a:p>
          <a:p>
            <a:pPr>
              <a:lnSpc>
                <a:spcPct val="150000"/>
              </a:lnSpc>
            </a:pPr>
            <a:r>
              <a:rPr lang="en-US" altLang="ko-KR" sz="1500" dirty="0"/>
              <a:t>end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840218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F901FB6-45AE-449B-95B7-4CD748C19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10192" y="2923585"/>
            <a:ext cx="955248" cy="297962"/>
          </a:xfrm>
        </p:spPr>
        <p:txBody>
          <a:bodyPr/>
          <a:lstStyle/>
          <a:p>
            <a:r>
              <a:rPr lang="en-US" altLang="ko-KR" dirty="0"/>
              <a:t>Part</a:t>
            </a:r>
            <a:r>
              <a:rPr lang="ko-KR" altLang="en-US" dirty="0"/>
              <a:t> </a:t>
            </a:r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54CE90-7E98-47F8-B393-E8D58DC0F4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13206" y="3382375"/>
            <a:ext cx="3883984" cy="454928"/>
          </a:xfrm>
        </p:spPr>
        <p:txBody>
          <a:bodyPr/>
          <a:lstStyle/>
          <a:p>
            <a:r>
              <a:rPr lang="ko-KR" altLang="en-US" dirty="0"/>
              <a:t>조건문과 반복문</a:t>
            </a:r>
          </a:p>
        </p:txBody>
      </p:sp>
    </p:spTree>
    <p:extLst>
      <p:ext uri="{BB962C8B-B14F-4D97-AF65-F5344CB8AC3E}">
        <p14:creationId xmlns:p14="http://schemas.microsoft.com/office/powerpoint/2010/main" val="34352606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E4DF-31F3-3AE4-C9D3-881A0EF0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DC25A15-F8AC-3753-C49D-0E415968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04. 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조건문과 반복문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DBF1BE-71D4-1551-8D92-3B2C4173B0B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조건문과 반복문의 결합 구조 </a:t>
            </a:r>
            <a:endParaRPr lang="en-US" altLang="ko-KR" dirty="0"/>
          </a:p>
          <a:p>
            <a:pPr lvl="2"/>
            <a:r>
              <a:rPr lang="ko-KR" altLang="en-US" dirty="0"/>
              <a:t>단순히 조건문과 반복문을 개별적으로 사용하기 보다는 혼용하여 사용하면 프로그램을 좀 더 효율적으로 작성</a:t>
            </a:r>
            <a:endParaRPr lang="en-US" altLang="ko-KR" dirty="0"/>
          </a:p>
          <a:p>
            <a:pPr lvl="2"/>
            <a:r>
              <a:rPr lang="ko-KR" altLang="en-US" dirty="0"/>
              <a:t>예를 들어 무한 루프가 실행되는 코드에서 반복을 멈추고 빠져나오려면 특정 조건을 부여하여 중단시킬 수 있다</a:t>
            </a:r>
            <a:r>
              <a:rPr lang="en-US" altLang="ko-KR" dirty="0"/>
              <a:t>. </a:t>
            </a:r>
            <a:r>
              <a:rPr lang="ko-KR" altLang="en-US" dirty="0"/>
              <a:t>이때 특정 조건을 나타내는 조건문이 포함 됨</a:t>
            </a:r>
            <a:endParaRPr lang="en-US" altLang="ko-KR" dirty="0"/>
          </a:p>
          <a:p>
            <a:pPr lvl="2"/>
            <a:r>
              <a:rPr lang="ko-KR" altLang="en-US" dirty="0"/>
              <a:t>반복문 안에서 특정 조건에 따라 반복 실행되는 조건문을 결합하여 활용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B6B700B-FEBF-9B71-A5FD-810C3ACAE1D7}"/>
              </a:ext>
            </a:extLst>
          </p:cNvPr>
          <p:cNvSpPr/>
          <p:nvPr/>
        </p:nvSpPr>
        <p:spPr>
          <a:xfrm>
            <a:off x="3818146" y="4084556"/>
            <a:ext cx="1260000" cy="1800000"/>
          </a:xfrm>
          <a:prstGeom prst="rect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while </a:t>
            </a:r>
            <a:r>
              <a:rPr kumimoji="0" lang="ko-KR" altLang="en-US" sz="1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조건 </a:t>
            </a:r>
            <a:r>
              <a:rPr kumimoji="0" lang="en-US" altLang="ko-KR" sz="1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  <a:endParaRPr kumimoji="0" lang="ko-KR" altLang="en-US" sz="15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45720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</a:t>
            </a:r>
            <a:r>
              <a:rPr lang="en-US" altLang="ko-KR" sz="1500" kern="0" dirty="0">
                <a:latin typeface="맑은 고딕" panose="020F0502020204030204"/>
                <a:ea typeface="맑은 고딕" panose="020B0503020000020004" pitchFamily="50" charset="-127"/>
              </a:rPr>
              <a:t>if </a:t>
            </a:r>
            <a:r>
              <a:rPr lang="ko-KR" altLang="en-US" sz="1500" kern="0" dirty="0">
                <a:latin typeface="맑은 고딕" panose="020F0502020204030204"/>
                <a:ea typeface="맑은 고딕" panose="020B0503020000020004" pitchFamily="50" charset="-127"/>
              </a:rPr>
              <a:t>조건</a:t>
            </a:r>
            <a:r>
              <a:rPr lang="en-US" altLang="ko-KR" sz="1500" kern="0" dirty="0">
                <a:latin typeface="맑은 고딕" panose="020F0502020204030204"/>
                <a:ea typeface="맑은 고딕" panose="020B0503020000020004" pitchFamily="50" charset="-127"/>
              </a:rPr>
              <a:t>:</a:t>
            </a:r>
            <a:endParaRPr kumimoji="0" lang="ko-KR" altLang="en-US" sz="15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defTabSz="45720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코드</a:t>
            </a:r>
            <a:r>
              <a:rPr kumimoji="0" lang="en-US" altLang="ko-KR" sz="1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5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45720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</a:t>
            </a:r>
            <a:r>
              <a:rPr kumimoji="0" lang="ko-KR" altLang="en-US" sz="15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⋮</a:t>
            </a:r>
          </a:p>
        </p:txBody>
      </p:sp>
      <p:sp>
        <p:nvSpPr>
          <p:cNvPr id="5" name="다이아몬드 4">
            <a:extLst>
              <a:ext uri="{FF2B5EF4-FFF2-40B4-BE49-F238E27FC236}">
                <a16:creationId xmlns:a16="http://schemas.microsoft.com/office/drawing/2014/main" id="{85E70906-DC76-9715-8A41-F95B03208308}"/>
              </a:ext>
            </a:extLst>
          </p:cNvPr>
          <p:cNvSpPr/>
          <p:nvPr/>
        </p:nvSpPr>
        <p:spPr>
          <a:xfrm>
            <a:off x="5383532" y="4162233"/>
            <a:ext cx="1080000" cy="495225"/>
          </a:xfrm>
          <a:prstGeom prst="diamond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조건식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3662253-F4E3-B1FC-E491-CDBE5D374F97}"/>
              </a:ext>
            </a:extLst>
          </p:cNvPr>
          <p:cNvSpPr/>
          <p:nvPr/>
        </p:nvSpPr>
        <p:spPr>
          <a:xfrm>
            <a:off x="5383531" y="4932582"/>
            <a:ext cx="1080000" cy="385175"/>
          </a:xfrm>
          <a:prstGeom prst="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코드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7099042-4078-3D89-B813-2BDAF45FA602}"/>
              </a:ext>
            </a:extLst>
          </p:cNvPr>
          <p:cNvSpPr/>
          <p:nvPr/>
        </p:nvSpPr>
        <p:spPr>
          <a:xfrm>
            <a:off x="5383531" y="5793951"/>
            <a:ext cx="1080000" cy="3851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while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문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다음 코드</a:t>
            </a:r>
          </a:p>
        </p:txBody>
      </p:sp>
      <p:cxnSp>
        <p:nvCxnSpPr>
          <p:cNvPr id="9" name="꺾인 연결선 13">
            <a:extLst>
              <a:ext uri="{FF2B5EF4-FFF2-40B4-BE49-F238E27FC236}">
                <a16:creationId xmlns:a16="http://schemas.microsoft.com/office/drawing/2014/main" id="{4AB46A4A-F6B2-C1AB-CEEE-5A5D0CE2D4BC}"/>
              </a:ext>
            </a:extLst>
          </p:cNvPr>
          <p:cNvCxnSpPr>
            <a:stCxn id="5" idx="3"/>
            <a:endCxn id="7" idx="0"/>
          </p:cNvCxnSpPr>
          <p:nvPr/>
        </p:nvCxnSpPr>
        <p:spPr>
          <a:xfrm flipH="1">
            <a:off x="5923533" y="4409847"/>
            <a:ext cx="540001" cy="1384105"/>
          </a:xfrm>
          <a:prstGeom prst="bentConnector4">
            <a:avLst>
              <a:gd name="adj1" fmla="val -42333"/>
              <a:gd name="adj2" fmla="val 84407"/>
            </a:avLst>
          </a:prstGeom>
          <a:noFill/>
          <a:ln w="19050" cap="flat" cmpd="sng" algn="ctr">
            <a:solidFill>
              <a:srgbClr val="FFC000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꺾인 연결선 14">
            <a:extLst>
              <a:ext uri="{FF2B5EF4-FFF2-40B4-BE49-F238E27FC236}">
                <a16:creationId xmlns:a16="http://schemas.microsoft.com/office/drawing/2014/main" id="{36B1F3CB-6B17-9CED-6E90-DA9C24EAE408}"/>
              </a:ext>
            </a:extLst>
          </p:cNvPr>
          <p:cNvCxnSpPr>
            <a:stCxn id="6" idx="2"/>
            <a:endCxn id="5" idx="1"/>
          </p:cNvCxnSpPr>
          <p:nvPr/>
        </p:nvCxnSpPr>
        <p:spPr>
          <a:xfrm rot="5400000" flipH="1">
            <a:off x="5199578" y="4593804"/>
            <a:ext cx="907911" cy="539999"/>
          </a:xfrm>
          <a:prstGeom prst="bentConnector4">
            <a:avLst>
              <a:gd name="adj1" fmla="val -17836"/>
              <a:gd name="adj2" fmla="val 142334"/>
            </a:avLst>
          </a:prstGeom>
          <a:noFill/>
          <a:ln w="19050" cap="flat" cmpd="sng" algn="ctr">
            <a:solidFill>
              <a:srgbClr val="0070C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722FB42-A468-1147-E37E-824ACAD05700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5923533" y="4657457"/>
            <a:ext cx="1" cy="275124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1FFA50A-E1E1-6E2D-6AC2-9FB826B826DF}"/>
              </a:ext>
            </a:extLst>
          </p:cNvPr>
          <p:cNvSpPr txBox="1"/>
          <p:nvPr/>
        </p:nvSpPr>
        <p:spPr>
          <a:xfrm>
            <a:off x="5815581" y="4647585"/>
            <a:ext cx="605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True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EE2FEE-A856-EE8F-C94E-D8280115AC0A}"/>
              </a:ext>
            </a:extLst>
          </p:cNvPr>
          <p:cNvSpPr txBox="1"/>
          <p:nvPr/>
        </p:nvSpPr>
        <p:spPr>
          <a:xfrm>
            <a:off x="5468238" y="3946878"/>
            <a:ext cx="9234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while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38EFD2-2C49-8A05-2D10-CD69E972687B}"/>
              </a:ext>
            </a:extLst>
          </p:cNvPr>
          <p:cNvSpPr txBox="1"/>
          <p:nvPr/>
        </p:nvSpPr>
        <p:spPr>
          <a:xfrm>
            <a:off x="6251042" y="4173935"/>
            <a:ext cx="6341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False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0117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13" grpId="0"/>
      <p:bldP spid="14" grpId="0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E4DF-31F3-3AE4-C9D3-881A0EF0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DC25A15-F8AC-3753-C49D-0E415968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04. 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조건문과 반복문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DBF1BE-71D4-1551-8D92-3B2C4173B0B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5" y="1435607"/>
            <a:ext cx="10895123" cy="4974337"/>
          </a:xfrm>
        </p:spPr>
        <p:txBody>
          <a:bodyPr/>
          <a:lstStyle/>
          <a:p>
            <a:r>
              <a:rPr lang="ko-KR" altLang="en-US" dirty="0"/>
              <a:t>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무한루프 </a:t>
            </a:r>
            <a:endParaRPr lang="en-US" altLang="ko-KR" dirty="0"/>
          </a:p>
          <a:p>
            <a:pPr lvl="2"/>
            <a:r>
              <a:rPr lang="en-US" altLang="ko-KR" dirty="0"/>
              <a:t>while </a:t>
            </a:r>
            <a:r>
              <a:rPr lang="ko-KR" altLang="en-US" dirty="0"/>
              <a:t>구문의 조건식이 항상 참</a:t>
            </a:r>
            <a:r>
              <a:rPr lang="en-US" altLang="ko-KR" dirty="0"/>
              <a:t>(True)</a:t>
            </a:r>
            <a:r>
              <a:rPr lang="ko-KR" altLang="en-US" dirty="0"/>
              <a:t>일 경우</a:t>
            </a:r>
          </a:p>
          <a:p>
            <a:pPr lvl="3"/>
            <a:r>
              <a:rPr lang="en-US" altLang="ko-KR" dirty="0"/>
              <a:t>while </a:t>
            </a:r>
            <a:r>
              <a:rPr lang="ko-KR" altLang="en-US" dirty="0"/>
              <a:t>구문 안의 명령어들이 무한 반복</a:t>
            </a:r>
          </a:p>
          <a:p>
            <a:pPr lvl="2"/>
            <a:r>
              <a:rPr lang="ko-KR" altLang="en-US" dirty="0"/>
              <a:t>일반적인 프로그램에서 자주 사용되는 형태로 특정 이벤트가 발생될 때 까지 대기</a:t>
            </a:r>
          </a:p>
          <a:p>
            <a:pPr lvl="3"/>
            <a:r>
              <a:rPr lang="en-US" altLang="ko-KR" dirty="0"/>
              <a:t> </a:t>
            </a:r>
            <a:r>
              <a:rPr lang="ko-KR" altLang="en-US" dirty="0"/>
              <a:t>윈도우의 대기화면</a:t>
            </a:r>
          </a:p>
          <a:p>
            <a:pPr lvl="3"/>
            <a:r>
              <a:rPr lang="en-US" altLang="ko-KR" dirty="0"/>
              <a:t> </a:t>
            </a:r>
            <a:r>
              <a:rPr lang="ko-KR" altLang="en-US" dirty="0"/>
              <a:t>아이디</a:t>
            </a:r>
            <a:r>
              <a:rPr lang="en-US" altLang="ko-KR" dirty="0"/>
              <a:t>/</a:t>
            </a:r>
            <a:r>
              <a:rPr lang="ko-KR" altLang="en-US" dirty="0"/>
              <a:t>패스워드 입력 화면</a:t>
            </a:r>
          </a:p>
          <a:p>
            <a:pPr lvl="3"/>
            <a:r>
              <a:rPr lang="en-US" altLang="ko-KR" dirty="0"/>
              <a:t> </a:t>
            </a:r>
            <a:r>
              <a:rPr lang="ko-KR" altLang="en-US" dirty="0"/>
              <a:t>워드이나 한글 문서 입력화면 등</a:t>
            </a:r>
            <a:endParaRPr lang="en-US" altLang="ko-KR" dirty="0"/>
          </a:p>
          <a:p>
            <a:pPr lvl="2"/>
            <a:r>
              <a:rPr lang="ko-KR" altLang="en-US" dirty="0"/>
              <a:t>무한루프를 빠져나오는 방법</a:t>
            </a:r>
          </a:p>
          <a:p>
            <a:pPr lvl="3"/>
            <a:r>
              <a:rPr lang="ko-KR" altLang="en-US" dirty="0"/>
              <a:t>특정 이벤트를 만족</a:t>
            </a:r>
          </a:p>
          <a:p>
            <a:pPr lvl="3"/>
            <a:r>
              <a:rPr lang="ko-KR" altLang="en-US" dirty="0"/>
              <a:t>강제 종료 </a:t>
            </a:r>
            <a:r>
              <a:rPr lang="en-US" altLang="ko-KR" dirty="0"/>
              <a:t>(ctrl + z) or break</a:t>
            </a:r>
          </a:p>
          <a:p>
            <a:pPr lvl="2"/>
            <a:endParaRPr lang="ko-KR" altLang="en-US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791913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E4DF-31F3-3AE4-C9D3-881A0EF0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DC25A15-F8AC-3753-C49D-0E415968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04. 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조건문과 반복문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DBF1BE-71D4-1551-8D92-3B2C4173B0B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5" y="1435607"/>
            <a:ext cx="10895123" cy="4974337"/>
          </a:xfrm>
        </p:spPr>
        <p:txBody>
          <a:bodyPr/>
          <a:lstStyle/>
          <a:p>
            <a:r>
              <a:rPr lang="ko-KR" altLang="en-US" dirty="0"/>
              <a:t>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무한루프 사용 예</a:t>
            </a:r>
            <a:endParaRPr lang="en-US" altLang="ko-KR" sz="1800" b="1" dirty="0"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  <a:p>
            <a:endParaRPr lang="en-US" altLang="ko-KR" dirty="0">
              <a:cs typeface="+mj-cs"/>
            </a:endParaRPr>
          </a:p>
          <a:p>
            <a:endParaRPr lang="en-US" altLang="ko-KR" dirty="0">
              <a:cs typeface="+mj-cs"/>
            </a:endParaRPr>
          </a:p>
          <a:p>
            <a:endParaRPr lang="en-US" altLang="ko-KR" dirty="0">
              <a:cs typeface="+mj-cs"/>
            </a:endParaRPr>
          </a:p>
          <a:p>
            <a:endParaRPr lang="en-US" altLang="ko-KR" dirty="0">
              <a:cs typeface="+mj-cs"/>
            </a:endParaRPr>
          </a:p>
          <a:p>
            <a:endParaRPr lang="en-US" altLang="ko-KR" dirty="0">
              <a:cs typeface="+mj-cs"/>
            </a:endParaRPr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반복문 안에 </a:t>
            </a:r>
            <a:r>
              <a:rPr lang="en-US" altLang="ko-KR" dirty="0"/>
              <a:t>input()</a:t>
            </a:r>
            <a:r>
              <a:rPr lang="ko-KR" altLang="en-US" dirty="0"/>
              <a:t>함수를 사용하여 값을 입력</a:t>
            </a:r>
          </a:p>
          <a:p>
            <a:pPr lvl="2"/>
            <a:r>
              <a:rPr lang="ko-KR" altLang="en-US" dirty="0"/>
              <a:t>키보드로부터 수를 입력 받고 출력수행을 반복적으로 진행</a:t>
            </a:r>
          </a:p>
          <a:p>
            <a:pPr lvl="2"/>
            <a:r>
              <a:rPr lang="ko-KR" altLang="en-US" dirty="0" err="1"/>
              <a:t>무한루프이기</a:t>
            </a:r>
            <a:r>
              <a:rPr lang="ko-KR" altLang="en-US" dirty="0"/>
              <a:t> 때문에 프로그램 안에서 종료를 </a:t>
            </a:r>
            <a:r>
              <a:rPr lang="ko-KR" altLang="en-US" dirty="0" err="1"/>
              <a:t>할수</a:t>
            </a:r>
            <a:r>
              <a:rPr lang="ko-KR" altLang="en-US" dirty="0"/>
              <a:t> 없음</a:t>
            </a:r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5BEBD02-0743-4188-9571-0173D58CCA99}"/>
              </a:ext>
            </a:extLst>
          </p:cNvPr>
          <p:cNvGrpSpPr/>
          <p:nvPr/>
        </p:nvGrpSpPr>
        <p:grpSpPr>
          <a:xfrm>
            <a:off x="1371380" y="2020532"/>
            <a:ext cx="9937732" cy="2265236"/>
            <a:chOff x="1202266" y="2001505"/>
            <a:chExt cx="9937732" cy="226523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8565924-2B2B-48A2-A292-D0FBCE9EDA6E}"/>
                </a:ext>
              </a:extLst>
            </p:cNvPr>
            <p:cNvSpPr txBox="1"/>
            <p:nvPr/>
          </p:nvSpPr>
          <p:spPr>
            <a:xfrm>
              <a:off x="1202266" y="2001505"/>
              <a:ext cx="5232401" cy="2265236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>
                  <a:latin typeface="+mn-ea"/>
                </a:rPr>
                <a:t>while True: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latin typeface="+mn-ea"/>
                </a:rPr>
                <a:t>    score = int(input('enter the score : '))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latin typeface="+mn-ea"/>
                </a:rPr>
                <a:t>    if(0 &lt;= score &lt;=100):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latin typeface="+mn-ea"/>
                </a:rPr>
                <a:t>        print(score)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latin typeface="+mn-ea"/>
                </a:rPr>
                <a:t>    else: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dirty="0">
                  <a:latin typeface="+mn-ea"/>
                </a:rPr>
                <a:t>        print('invalid score')</a:t>
              </a:r>
              <a:endParaRPr lang="ko-KR" altLang="en-US" sz="1600" dirty="0">
                <a:latin typeface="+mn-ea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8549F2C-02D2-4C58-8DAB-BEF7DA0C3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76886" y="2001505"/>
              <a:ext cx="4563112" cy="2265236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7385704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E4DF-31F3-3AE4-C9D3-881A0EF0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DC25A15-F8AC-3753-C49D-0E415968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04. 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조건문과 반복문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DBF1BE-71D4-1551-8D92-3B2C4173B0B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5" y="1435607"/>
            <a:ext cx="10895123" cy="4974337"/>
          </a:xfrm>
        </p:spPr>
        <p:txBody>
          <a:bodyPr/>
          <a:lstStyle/>
          <a:p>
            <a:r>
              <a:rPr lang="ko-KR" altLang="en-US" dirty="0"/>
              <a:t> 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무한루프 사용 예</a:t>
            </a:r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(cont’d)</a:t>
            </a:r>
          </a:p>
          <a:p>
            <a:pPr lvl="2"/>
            <a:r>
              <a:rPr lang="en-US" altLang="ko-KR" dirty="0"/>
              <a:t>0~100</a:t>
            </a:r>
            <a:r>
              <a:rPr lang="ko-KR" altLang="en-US" dirty="0"/>
              <a:t>사이의 수를 입력 받고 출력해주는 프로그램</a:t>
            </a:r>
          </a:p>
          <a:p>
            <a:pPr lvl="2"/>
            <a:r>
              <a:rPr lang="en-US" altLang="ko-KR" dirty="0"/>
              <a:t>0~100</a:t>
            </a:r>
            <a:r>
              <a:rPr lang="ko-KR" altLang="en-US" dirty="0"/>
              <a:t>사이의 수가 아니면 다시 입력을 받는다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0</a:t>
            </a:r>
            <a:r>
              <a:rPr lang="ko-KR" altLang="en-US" dirty="0"/>
              <a:t>을 입력하면 프로그램 종료</a:t>
            </a:r>
          </a:p>
          <a:p>
            <a:pPr lvl="2"/>
            <a:endParaRPr lang="ko-KR" altLang="en-US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65924-2B2B-48A2-A292-D0FBCE9EDA6E}"/>
              </a:ext>
            </a:extLst>
          </p:cNvPr>
          <p:cNvSpPr txBox="1"/>
          <p:nvPr/>
        </p:nvSpPr>
        <p:spPr>
          <a:xfrm>
            <a:off x="6202217" y="2211102"/>
            <a:ext cx="5232401" cy="378334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aseline="0" dirty="0">
                <a:solidFill>
                  <a:schemeClr val="tx1"/>
                </a:solidFill>
              </a:rPr>
              <a:t>running = </a:t>
            </a:r>
            <a:r>
              <a:rPr lang="en-US" altLang="ko-KR" sz="1800" baseline="0" dirty="0">
                <a:solidFill>
                  <a:schemeClr val="tx2"/>
                </a:solidFill>
              </a:rPr>
              <a:t>True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while </a:t>
            </a:r>
            <a:r>
              <a:rPr lang="en-US" altLang="ko-KR" sz="1800" baseline="0" dirty="0">
                <a:solidFill>
                  <a:schemeClr val="tx1"/>
                </a:solidFill>
              </a:rPr>
              <a:t>running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score = int(input('enter the score : ‘))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if(score == 0):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running=</a:t>
            </a:r>
            <a:r>
              <a:rPr lang="en-US" altLang="ko-KR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False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if(0 &lt;= score &lt;=100):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print(score)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else: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print('invalid score')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54550F4A-3C39-4DDE-89C3-73DC9BF31FAA}"/>
              </a:ext>
            </a:extLst>
          </p:cNvPr>
          <p:cNvSpPr/>
          <p:nvPr/>
        </p:nvSpPr>
        <p:spPr>
          <a:xfrm>
            <a:off x="2339789" y="3854823"/>
            <a:ext cx="2994211" cy="1213284"/>
          </a:xfrm>
          <a:prstGeom prst="wedgeRoundRectCallout">
            <a:avLst>
              <a:gd name="adj1" fmla="val 78569"/>
              <a:gd name="adj2" fmla="val -40205"/>
              <a:gd name="adj3" fmla="val 16667"/>
            </a:avLst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800" dirty="0"/>
              <a:t>0</a:t>
            </a:r>
            <a:r>
              <a:rPr lang="ko-KR" altLang="en-US" sz="1800" dirty="0"/>
              <a:t>을 입력 받으면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ko-KR" altLang="en-US" sz="1800" dirty="0"/>
              <a:t>조건문을 거짓으로 변경</a:t>
            </a:r>
          </a:p>
        </p:txBody>
      </p:sp>
      <p:sp>
        <p:nvSpPr>
          <p:cNvPr id="8" name="오른쪽 중괄호[R] 5">
            <a:extLst>
              <a:ext uri="{FF2B5EF4-FFF2-40B4-BE49-F238E27FC236}">
                <a16:creationId xmlns:a16="http://schemas.microsoft.com/office/drawing/2014/main" id="{23375E84-94F9-4979-AA54-FC9EFAF1020D}"/>
              </a:ext>
            </a:extLst>
          </p:cNvPr>
          <p:cNvSpPr/>
          <p:nvPr/>
        </p:nvSpPr>
        <p:spPr>
          <a:xfrm flipH="1">
            <a:off x="6272982" y="3695093"/>
            <a:ext cx="272933" cy="545212"/>
          </a:xfrm>
          <a:prstGeom prst="rightBrace">
            <a:avLst>
              <a:gd name="adj1" fmla="val 8333"/>
              <a:gd name="adj2" fmla="val 48356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 b="1"/>
          </a:p>
        </p:txBody>
      </p:sp>
    </p:spTree>
    <p:extLst>
      <p:ext uri="{BB962C8B-B14F-4D97-AF65-F5344CB8AC3E}">
        <p14:creationId xmlns:p14="http://schemas.microsoft.com/office/powerpoint/2010/main" val="197479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E4DF-31F3-3AE4-C9D3-881A0EF0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DC25A15-F8AC-3753-C49D-0E415968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04. 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조건문과 반복문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DBF1BE-71D4-1551-8D92-3B2C4173B0B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조건문과 반복문 적용하기</a:t>
            </a:r>
            <a:endParaRPr lang="en-US" altLang="ko-KR" dirty="0"/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4-4: : </a:t>
            </a:r>
            <a:r>
              <a:rPr lang="ko-KR" altLang="en-US" sz="1600" dirty="0"/>
              <a:t>두 정수를 입력 받아 최대 공약수를 구하는 프로그램을 작성</a:t>
            </a:r>
            <a:endParaRPr lang="en-US" altLang="ko-KR" dirty="0"/>
          </a:p>
          <a:p>
            <a:pPr lvl="3"/>
            <a:r>
              <a:rPr lang="ko-KR" altLang="en-US" dirty="0"/>
              <a:t>두 정수 </a:t>
            </a:r>
            <a:r>
              <a:rPr lang="en-US" altLang="ko-KR" dirty="0"/>
              <a:t>num1, num2</a:t>
            </a:r>
            <a:r>
              <a:rPr lang="ko-KR" altLang="en-US" dirty="0"/>
              <a:t>의 공약수 </a:t>
            </a:r>
            <a:r>
              <a:rPr lang="en-US" altLang="ko-KR" dirty="0"/>
              <a:t>1</a:t>
            </a:r>
            <a:r>
              <a:rPr lang="ko-KR" altLang="en-US" dirty="0"/>
              <a:t>은 최대공약수가 아닐 수 있다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dirty="0"/>
              <a:t>두 정수의 최대공약수가 </a:t>
            </a:r>
            <a:r>
              <a:rPr lang="en-US" altLang="ko-KR" dirty="0"/>
              <a:t>num1, num2</a:t>
            </a:r>
            <a:r>
              <a:rPr lang="ko-KR" altLang="en-US" dirty="0"/>
              <a:t>의 공약수인지를 </a:t>
            </a:r>
            <a:r>
              <a:rPr lang="en-US" altLang="ko-KR" dirty="0"/>
              <a:t>num1, num2 </a:t>
            </a:r>
            <a:r>
              <a:rPr lang="ko-KR" altLang="en-US" dirty="0"/>
              <a:t>보다 작을 때까지 검사한다</a:t>
            </a:r>
            <a:r>
              <a:rPr lang="en-US" altLang="ko-KR" dirty="0"/>
              <a:t>.</a:t>
            </a:r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166288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E4DF-31F3-3AE4-C9D3-881A0EF0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DC25A15-F8AC-3753-C49D-0E415968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04. 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조건문과 반복문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DBF1BE-71D4-1551-8D92-3B2C4173B0B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조건문과 반복문 적용하기</a:t>
            </a:r>
            <a:endParaRPr lang="en-US" altLang="ko-KR" dirty="0"/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4-4: : </a:t>
            </a:r>
            <a:r>
              <a:rPr lang="ko-KR" altLang="en-US" sz="1600" dirty="0"/>
              <a:t>두 정수를 입력 받아 최대 공약수를 구하는 프로그램을 작성</a:t>
            </a:r>
            <a:endParaRPr lang="en-US" altLang="ko-KR" dirty="0"/>
          </a:p>
          <a:p>
            <a:pPr lvl="3"/>
            <a:r>
              <a:rPr lang="ko-KR" altLang="en-US" dirty="0"/>
              <a:t>알고리즘</a:t>
            </a:r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077B4F-9D17-4B7E-B9E0-05E64F3700C0}"/>
              </a:ext>
            </a:extLst>
          </p:cNvPr>
          <p:cNvSpPr/>
          <p:nvPr/>
        </p:nvSpPr>
        <p:spPr>
          <a:xfrm>
            <a:off x="1946083" y="3016722"/>
            <a:ext cx="7637188" cy="284619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177800" lvl="2">
              <a:lnSpc>
                <a:spcPct val="150000"/>
              </a:lnSpc>
            </a:pPr>
            <a:r>
              <a:rPr lang="ko-KR" altLang="en-US" sz="1600" dirty="0"/>
              <a:t>① 최대공약수</a:t>
            </a:r>
            <a:r>
              <a:rPr lang="en-US" altLang="ko-KR" sz="1600" dirty="0"/>
              <a:t>(</a:t>
            </a:r>
            <a:r>
              <a:rPr lang="en-US" altLang="ko-KR" sz="1600" dirty="0" err="1"/>
              <a:t>gcd</a:t>
            </a:r>
            <a:r>
              <a:rPr lang="en-US" altLang="ko-KR" sz="1600" dirty="0"/>
              <a:t>)</a:t>
            </a:r>
            <a:r>
              <a:rPr lang="ko-KR" altLang="en-US" sz="1600" dirty="0"/>
              <a:t>와 </a:t>
            </a:r>
            <a:r>
              <a:rPr lang="ko-KR" altLang="en-US" sz="1600" dirty="0" err="1"/>
              <a:t>반복카운터변수</a:t>
            </a:r>
            <a:r>
              <a:rPr lang="en-US" altLang="ko-KR" sz="1600" dirty="0"/>
              <a:t>(step)</a:t>
            </a:r>
            <a:r>
              <a:rPr lang="ko-KR" altLang="en-US" sz="1600" dirty="0"/>
              <a:t> 초기화 한 후</a:t>
            </a:r>
            <a:r>
              <a:rPr lang="en-US" altLang="ko-KR" sz="1600" dirty="0"/>
              <a:t>, </a:t>
            </a:r>
            <a:r>
              <a:rPr lang="ko-KR" altLang="en-US" sz="1600" dirty="0"/>
              <a:t>두 정수를 입력 받는다</a:t>
            </a:r>
            <a:r>
              <a:rPr lang="en-US" altLang="ko-KR" sz="1600" dirty="0"/>
              <a:t>.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② step</a:t>
            </a:r>
            <a:r>
              <a:rPr lang="ko-KR" altLang="en-US" sz="1600" dirty="0"/>
              <a:t>이 두 정수보다 작은지를 비교한다</a:t>
            </a:r>
            <a:r>
              <a:rPr lang="en-US" altLang="ko-KR" sz="1600" dirty="0"/>
              <a:t>.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③ </a:t>
            </a:r>
            <a:r>
              <a:rPr lang="ko-KR" altLang="en-US" sz="1600" dirty="0"/>
              <a:t>②조건을 만족할 경우 두 정수가 </a:t>
            </a:r>
            <a:r>
              <a:rPr lang="en-US" altLang="ko-KR" sz="1600" dirty="0"/>
              <a:t>step</a:t>
            </a:r>
            <a:r>
              <a:rPr lang="ko-KR" altLang="en-US" sz="1600" dirty="0"/>
              <a:t>으로 나눠지면 최대공약수를 변경한다</a:t>
            </a:r>
            <a:r>
              <a:rPr lang="en-US" altLang="ko-KR" sz="1600" dirty="0"/>
              <a:t>.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④ </a:t>
            </a:r>
            <a:r>
              <a:rPr lang="ko-KR" altLang="en-US" sz="1600" dirty="0"/>
              <a:t>②조건을 만족하지 않을 때까지 </a:t>
            </a:r>
            <a:r>
              <a:rPr lang="en-US" altLang="ko-KR" sz="1600" dirty="0"/>
              <a:t>③</a:t>
            </a:r>
            <a:r>
              <a:rPr lang="ko-KR" altLang="en-US" sz="1600" dirty="0"/>
              <a:t>을</a:t>
            </a:r>
            <a:r>
              <a:rPr lang="en-US" altLang="ko-KR" sz="1600" dirty="0"/>
              <a:t> </a:t>
            </a:r>
            <a:r>
              <a:rPr lang="ko-KR" altLang="en-US" sz="1600" dirty="0"/>
              <a:t> 반복한다</a:t>
            </a:r>
            <a:r>
              <a:rPr lang="en-US" altLang="ko-KR" sz="1600" dirty="0"/>
              <a:t>.</a:t>
            </a:r>
          </a:p>
          <a:p>
            <a:pPr marL="177800" lvl="2">
              <a:lnSpc>
                <a:spcPct val="150000"/>
              </a:lnSpc>
            </a:pPr>
            <a:r>
              <a:rPr lang="ko-KR" altLang="en-US" sz="1600" dirty="0"/>
              <a:t>⑤ ②조건을 만족하지 않으면 현재 최대공약수를 출력하고 종료한다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32972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E4DF-31F3-3AE4-C9D3-881A0EF0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DC25A15-F8AC-3753-C49D-0E415968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04. 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조건문과 반복문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DBF1BE-71D4-1551-8D92-3B2C4173B0B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조건문과 반복문 적용하기</a:t>
            </a:r>
            <a:endParaRPr lang="en-US" altLang="ko-KR" dirty="0"/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4-4: : </a:t>
            </a:r>
            <a:r>
              <a:rPr lang="ko-KR" altLang="en-US" sz="1600" dirty="0"/>
              <a:t>두 정수를 입력 받아 최대 공약수를 구하는 프로그램을 작성</a:t>
            </a:r>
            <a:endParaRPr lang="en-US" altLang="ko-KR" dirty="0"/>
          </a:p>
          <a:p>
            <a:pPr lvl="3"/>
            <a:r>
              <a:rPr lang="ko-KR" altLang="en-US" dirty="0"/>
              <a:t>프로그램 코드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077B4F-9D17-4B7E-B9E0-05E64F3700C0}"/>
              </a:ext>
            </a:extLst>
          </p:cNvPr>
          <p:cNvSpPr/>
          <p:nvPr/>
        </p:nvSpPr>
        <p:spPr>
          <a:xfrm>
            <a:off x="1937119" y="2909146"/>
            <a:ext cx="7637188" cy="350079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177800" lvl="2">
              <a:lnSpc>
                <a:spcPct val="150000"/>
              </a:lnSpc>
            </a:pPr>
            <a:r>
              <a:rPr lang="en-US" altLang="ko-KR" sz="1600" dirty="0" err="1"/>
              <a:t>gcd</a:t>
            </a:r>
            <a:r>
              <a:rPr lang="en-US" altLang="ko-KR" sz="1600" dirty="0"/>
              <a:t> = 1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step = 2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num1 = int(input('Enter the number : '))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num2 = int(input('Enter the number : '))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while(step &lt;= num1) and (step &lt;=num2):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    if (num1%step==0) and (num2%step==0):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        </a:t>
            </a:r>
            <a:r>
              <a:rPr lang="en-US" altLang="ko-KR" sz="1600" dirty="0" err="1"/>
              <a:t>gcd</a:t>
            </a:r>
            <a:r>
              <a:rPr lang="en-US" altLang="ko-KR" sz="1600" dirty="0"/>
              <a:t> = step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    step = step + 1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print('</a:t>
            </a:r>
            <a:r>
              <a:rPr lang="ko-KR" altLang="en-US" sz="1600" dirty="0"/>
              <a:t>최대공약수 </a:t>
            </a:r>
            <a:r>
              <a:rPr lang="en-US" altLang="ko-KR" sz="1600" dirty="0"/>
              <a:t>: ', </a:t>
            </a:r>
            <a:r>
              <a:rPr lang="en-US" altLang="ko-KR" sz="1600" dirty="0" err="1"/>
              <a:t>gcd</a:t>
            </a:r>
            <a:r>
              <a:rPr lang="en-US" altLang="ko-KR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966309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E4DF-31F3-3AE4-C9D3-881A0EF0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DC25A15-F8AC-3753-C49D-0E415968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04. 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조건문과 반복문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DBF1BE-71D4-1551-8D92-3B2C4173B0B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조건문과 반복문 적용하기</a:t>
            </a:r>
            <a:endParaRPr lang="en-US" altLang="ko-KR" dirty="0"/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4-4: : </a:t>
            </a:r>
            <a:r>
              <a:rPr lang="ko-KR" altLang="en-US" sz="1600" dirty="0"/>
              <a:t>두 정수를 입력 받아 최대 공약수를 구하는 프로그램을 작성</a:t>
            </a:r>
            <a:endParaRPr lang="en-US" altLang="ko-KR" dirty="0"/>
          </a:p>
          <a:p>
            <a:pPr lvl="3"/>
            <a:r>
              <a:rPr lang="ko-KR" altLang="en-US" dirty="0"/>
              <a:t>테스트 결과</a:t>
            </a:r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077B4F-9D17-4B7E-B9E0-05E64F3700C0}"/>
              </a:ext>
            </a:extLst>
          </p:cNvPr>
          <p:cNvSpPr/>
          <p:nvPr/>
        </p:nvSpPr>
        <p:spPr>
          <a:xfrm>
            <a:off x="1937119" y="2909146"/>
            <a:ext cx="7637188" cy="166285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Enter the number : 20</a:t>
            </a:r>
          </a:p>
          <a:p>
            <a:pPr marL="177800" lvl="2">
              <a:lnSpc>
                <a:spcPct val="150000"/>
              </a:lnSpc>
            </a:pPr>
            <a:r>
              <a:rPr lang="en-US" altLang="ko-KR" sz="1600" dirty="0"/>
              <a:t>Enter the number : 16</a:t>
            </a:r>
          </a:p>
          <a:p>
            <a:pPr marL="177800" lvl="2">
              <a:lnSpc>
                <a:spcPct val="150000"/>
              </a:lnSpc>
            </a:pPr>
            <a:r>
              <a:rPr lang="ko-KR" altLang="en-US" sz="1600" dirty="0"/>
              <a:t>최대공약수 </a:t>
            </a:r>
            <a:r>
              <a:rPr lang="en-US" altLang="ko-KR" sz="1600" dirty="0"/>
              <a:t>:  4</a:t>
            </a:r>
          </a:p>
        </p:txBody>
      </p:sp>
    </p:spTree>
    <p:extLst>
      <p:ext uri="{BB962C8B-B14F-4D97-AF65-F5344CB8AC3E}">
        <p14:creationId xmlns:p14="http://schemas.microsoft.com/office/powerpoint/2010/main" val="28047076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F901FB6-45AE-449B-95B7-4CD748C19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10192" y="2923585"/>
            <a:ext cx="955248" cy="297962"/>
          </a:xfrm>
        </p:spPr>
        <p:txBody>
          <a:bodyPr/>
          <a:lstStyle/>
          <a:p>
            <a:r>
              <a:rPr lang="en-US" altLang="ko-KR" dirty="0"/>
              <a:t>Part</a:t>
            </a:r>
            <a:r>
              <a:rPr lang="ko-KR" altLang="en-US" dirty="0"/>
              <a:t> </a:t>
            </a:r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54CE90-7E98-47F8-B393-E8D58DC0F4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13206" y="3382375"/>
            <a:ext cx="3883984" cy="454928"/>
          </a:xfrm>
        </p:spPr>
        <p:txBody>
          <a:bodyPr/>
          <a:lstStyle/>
          <a:p>
            <a:r>
              <a:rPr lang="ko-KR" altLang="en-US" dirty="0"/>
              <a:t>중첩 반복문 </a:t>
            </a:r>
          </a:p>
        </p:txBody>
      </p:sp>
    </p:spTree>
    <p:extLst>
      <p:ext uri="{BB962C8B-B14F-4D97-AF65-F5344CB8AC3E}">
        <p14:creationId xmlns:p14="http://schemas.microsoft.com/office/powerpoint/2010/main" val="14369717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E4DF-31F3-3AE4-C9D3-881A0EF0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DC25A15-F8AC-3753-C49D-0E415968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05. </a:t>
            </a:r>
            <a:r>
              <a:rPr lang="ko-KR" altLang="en-US" dirty="0"/>
              <a:t>중첩</a:t>
            </a:r>
            <a:r>
              <a:rPr lang="en-US" altLang="ko-KR" dirty="0"/>
              <a:t> </a:t>
            </a:r>
            <a:r>
              <a:rPr lang="ko-KR" altLang="en-US" dirty="0"/>
              <a:t>반복문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DBF1BE-71D4-1551-8D92-3B2C4173B0B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중첩 반복문 구조</a:t>
            </a:r>
            <a:endParaRPr lang="en-US" altLang="ko-KR" dirty="0"/>
          </a:p>
          <a:p>
            <a:pPr lvl="2"/>
            <a:r>
              <a:rPr lang="ko-KR" altLang="en-US" sz="1600" dirty="0"/>
              <a:t>반복문 안에 다른 반복문이 있는 상태</a:t>
            </a:r>
            <a:endParaRPr lang="en-US" altLang="ko-KR" sz="1600" dirty="0"/>
          </a:p>
          <a:p>
            <a:pPr lvl="3"/>
            <a:r>
              <a:rPr lang="ko-KR" altLang="en-US" dirty="0"/>
              <a:t>조건문과 마찬가지로 반복문 또한 중첩 가능</a:t>
            </a:r>
            <a:endParaRPr lang="en-US" altLang="ko-KR" dirty="0"/>
          </a:p>
          <a:p>
            <a:pPr lvl="3"/>
            <a:r>
              <a:rPr lang="en-US" altLang="ko-KR" dirty="0"/>
              <a:t> </a:t>
            </a:r>
            <a:r>
              <a:rPr lang="ko-KR" altLang="en-US" dirty="0"/>
              <a:t>중첩 반복문은 한 개의 ‘</a:t>
            </a:r>
            <a:r>
              <a:rPr lang="en-US" altLang="ko-KR" dirty="0"/>
              <a:t>for’ </a:t>
            </a:r>
            <a:r>
              <a:rPr lang="ko-KR" altLang="en-US" dirty="0"/>
              <a:t>문 또는 ‘</a:t>
            </a:r>
            <a:r>
              <a:rPr lang="en-US" altLang="ko-KR" dirty="0"/>
              <a:t>while’ </a:t>
            </a:r>
            <a:r>
              <a:rPr lang="ko-KR" altLang="en-US" dirty="0"/>
              <a:t>문 안에 한 개 이상의 내부 반복문을 가짐</a:t>
            </a:r>
            <a:r>
              <a:rPr lang="en-US" altLang="ko-KR" dirty="0"/>
              <a:t> </a:t>
            </a:r>
          </a:p>
          <a:p>
            <a:pPr lvl="3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첫 번째 한 개의 ‘</a:t>
            </a:r>
            <a:r>
              <a:rPr lang="en-US" altLang="ko-KR" dirty="0"/>
              <a:t>for’ </a:t>
            </a:r>
            <a:r>
              <a:rPr lang="ko-KR" altLang="en-US" dirty="0"/>
              <a:t>문과 ‘</a:t>
            </a:r>
            <a:r>
              <a:rPr lang="en-US" altLang="ko-KR" dirty="0"/>
              <a:t>while’ </a:t>
            </a:r>
            <a:r>
              <a:rPr lang="ko-KR" altLang="en-US" dirty="0"/>
              <a:t>문은 외부 반복문으로 취급 됨</a:t>
            </a:r>
            <a:r>
              <a:rPr lang="en-US" altLang="ko-KR" dirty="0"/>
              <a:t> </a:t>
            </a:r>
          </a:p>
          <a:p>
            <a:pPr lvl="3"/>
            <a:r>
              <a:rPr lang="ko-KR" altLang="en-US" dirty="0"/>
              <a:t>바깥쪽 루프가 한번 반복 </a:t>
            </a:r>
            <a:r>
              <a:rPr lang="ko-KR" altLang="en-US" dirty="0" err="1"/>
              <a:t>할때</a:t>
            </a:r>
            <a:r>
              <a:rPr lang="ko-KR" altLang="en-US" dirty="0"/>
              <a:t> 안쪽 루프는 범위 전부 반복</a:t>
            </a:r>
          </a:p>
          <a:p>
            <a:pPr lvl="3"/>
            <a:r>
              <a:rPr lang="ko-KR" altLang="en-US" dirty="0"/>
              <a:t>들여쓰기 유지</a:t>
            </a:r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200736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E4DF-31F3-3AE4-C9D3-881A0EF0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DC25A15-F8AC-3753-C49D-0E415968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05. </a:t>
            </a:r>
            <a:r>
              <a:rPr lang="ko-KR" altLang="en-US" dirty="0"/>
              <a:t>중첩</a:t>
            </a:r>
            <a:r>
              <a:rPr lang="en-US" altLang="ko-KR" dirty="0"/>
              <a:t> </a:t>
            </a:r>
            <a:r>
              <a:rPr lang="ko-KR" altLang="en-US" dirty="0"/>
              <a:t>반복문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DBF1BE-71D4-1551-8D92-3B2C4173B0B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중첩 반복문 구조</a:t>
            </a:r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35E19D9-F477-411A-9F6A-B6FEE758C1B2}"/>
              </a:ext>
            </a:extLst>
          </p:cNvPr>
          <p:cNvGrpSpPr/>
          <p:nvPr/>
        </p:nvGrpSpPr>
        <p:grpSpPr>
          <a:xfrm>
            <a:off x="1745627" y="2187949"/>
            <a:ext cx="8653991" cy="3562350"/>
            <a:chOff x="1745627" y="2187949"/>
            <a:chExt cx="8653991" cy="356235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F232F6C-81B9-444E-9156-E5EF6B9CE649}"/>
                </a:ext>
              </a:extLst>
            </p:cNvPr>
            <p:cNvSpPr/>
            <p:nvPr/>
          </p:nvSpPr>
          <p:spPr>
            <a:xfrm>
              <a:off x="1745627" y="2187949"/>
              <a:ext cx="3100917" cy="3562350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b="1" dirty="0">
                  <a:solidFill>
                    <a:schemeClr val="tx2"/>
                  </a:solidFill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b="1" dirty="0">
                  <a:solidFill>
                    <a:schemeClr val="tx2"/>
                  </a:solidFill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b="1" dirty="0">
                  <a:solidFill>
                    <a:schemeClr val="tx2"/>
                  </a:solidFill>
                </a:rPr>
                <a:t>for i in range(</a:t>
              </a:r>
              <a:r>
                <a:rPr lang="ko-KR" altLang="en-US" b="1" dirty="0">
                  <a:solidFill>
                    <a:schemeClr val="tx2"/>
                  </a:solidFill>
                </a:rPr>
                <a:t> </a:t>
              </a:r>
              <a:r>
                <a:rPr lang="en-US" altLang="ko-KR" b="1" dirty="0">
                  <a:solidFill>
                    <a:schemeClr val="tx2"/>
                  </a:solidFill>
                </a:rPr>
                <a:t>N+1</a:t>
              </a:r>
              <a:r>
                <a:rPr lang="ko-KR" altLang="en-US" b="1" dirty="0">
                  <a:solidFill>
                    <a:schemeClr val="tx2"/>
                  </a:solidFill>
                </a:rPr>
                <a:t> </a:t>
              </a:r>
              <a:r>
                <a:rPr lang="en-US" altLang="ko-KR" b="1" dirty="0">
                  <a:solidFill>
                    <a:schemeClr val="tx2"/>
                  </a:solidFill>
                </a:rPr>
                <a:t>):</a:t>
              </a:r>
            </a:p>
            <a:p>
              <a:pPr>
                <a:lnSpc>
                  <a:spcPct val="150000"/>
                </a:lnSpc>
              </a:pPr>
              <a:r>
                <a:rPr lang="en-US" altLang="ko-KR" b="1" dirty="0">
                  <a:solidFill>
                    <a:schemeClr val="tx2"/>
                  </a:solidFill>
                </a:rPr>
                <a:t>     for j in range(</a:t>
              </a:r>
              <a:r>
                <a:rPr lang="ko-KR" altLang="en-US" b="1" dirty="0">
                  <a:solidFill>
                    <a:schemeClr val="tx2"/>
                  </a:solidFill>
                </a:rPr>
                <a:t> </a:t>
              </a:r>
              <a:r>
                <a:rPr lang="en-US" altLang="ko-KR" b="1" dirty="0">
                  <a:solidFill>
                    <a:schemeClr val="tx2"/>
                  </a:solidFill>
                </a:rPr>
                <a:t>M +1 ):</a:t>
              </a:r>
            </a:p>
            <a:p>
              <a:pPr>
                <a:lnSpc>
                  <a:spcPct val="150000"/>
                </a:lnSpc>
              </a:pPr>
              <a:r>
                <a:rPr lang="en-US" altLang="ko-KR" b="1" dirty="0">
                  <a:solidFill>
                    <a:schemeClr val="tx2"/>
                  </a:solidFill>
                </a:rPr>
                <a:t>	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b="1" dirty="0">
                  <a:solidFill>
                    <a:schemeClr val="tx2"/>
                  </a:solidFill>
                </a:rPr>
                <a:t>	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b="1" dirty="0"/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en-US" altLang="ko-KR" b="1" dirty="0">
                  <a:solidFill>
                    <a:schemeClr val="tx2"/>
                  </a:solidFill>
                </a:rPr>
                <a:t>…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A482CBF-2287-4771-BD2B-75F133304C81}"/>
                </a:ext>
              </a:extLst>
            </p:cNvPr>
            <p:cNvSpPr/>
            <p:nvPr/>
          </p:nvSpPr>
          <p:spPr>
            <a:xfrm>
              <a:off x="1812600" y="3099536"/>
              <a:ext cx="2976794" cy="172683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0E67660-F815-43A7-9DCB-A0C2A7EDBB2A}"/>
                </a:ext>
              </a:extLst>
            </p:cNvPr>
            <p:cNvSpPr/>
            <p:nvPr/>
          </p:nvSpPr>
          <p:spPr>
            <a:xfrm>
              <a:off x="2141444" y="3509111"/>
              <a:ext cx="2571750" cy="1193437"/>
            </a:xfrm>
            <a:prstGeom prst="rect">
              <a:avLst/>
            </a:prstGeom>
            <a:noFill/>
            <a:ln w="28575">
              <a:solidFill>
                <a:srgbClr val="00CC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0925A13-7E96-4746-A2DC-5025532E3B9E}"/>
                </a:ext>
              </a:extLst>
            </p:cNvPr>
            <p:cNvSpPr/>
            <p:nvPr/>
          </p:nvSpPr>
          <p:spPr>
            <a:xfrm>
              <a:off x="5046569" y="2607048"/>
              <a:ext cx="1409700" cy="45720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rgbClr val="FF0000"/>
                  </a:solidFill>
                </a:rPr>
                <a:t>바깥쪽 루프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D4A2BAB-CEBF-4AE8-A5EF-1FB2E3046F7A}"/>
                </a:ext>
              </a:extLst>
            </p:cNvPr>
            <p:cNvSpPr/>
            <p:nvPr/>
          </p:nvSpPr>
          <p:spPr>
            <a:xfrm>
              <a:off x="5084669" y="4950198"/>
              <a:ext cx="1409700" cy="457200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rgbClr val="00B050"/>
                  </a:solidFill>
                </a:rPr>
                <a:t>안쪽 루프</a:t>
              </a:r>
            </a:p>
          </p:txBody>
        </p:sp>
        <p:cxnSp>
          <p:nvCxnSpPr>
            <p:cNvPr id="11" name="Shape 10">
              <a:extLst>
                <a:ext uri="{FF2B5EF4-FFF2-40B4-BE49-F238E27FC236}">
                  <a16:creationId xmlns:a16="http://schemas.microsoft.com/office/drawing/2014/main" id="{99E81EE8-DE8A-46B1-B10B-AC95648B7B35}"/>
                </a:ext>
              </a:extLst>
            </p:cNvPr>
            <p:cNvCxnSpPr>
              <a:stCxn id="7" idx="0"/>
              <a:endCxn id="9" idx="1"/>
            </p:cNvCxnSpPr>
            <p:nvPr/>
          </p:nvCxnSpPr>
          <p:spPr>
            <a:xfrm rot="5400000" flipH="1" flipV="1">
              <a:off x="4041839" y="2094806"/>
              <a:ext cx="263888" cy="1745572"/>
            </a:xfrm>
            <a:prstGeom prst="bentConnector2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hape 11">
              <a:extLst>
                <a:ext uri="{FF2B5EF4-FFF2-40B4-BE49-F238E27FC236}">
                  <a16:creationId xmlns:a16="http://schemas.microsoft.com/office/drawing/2014/main" id="{13BA97B2-D435-4F05-9BAB-83DFB0ACAD70}"/>
                </a:ext>
              </a:extLst>
            </p:cNvPr>
            <p:cNvCxnSpPr>
              <a:stCxn id="8" idx="2"/>
              <a:endCxn id="10" idx="1"/>
            </p:cNvCxnSpPr>
            <p:nvPr/>
          </p:nvCxnSpPr>
          <p:spPr>
            <a:xfrm rot="16200000" flipH="1">
              <a:off x="4017869" y="4111998"/>
              <a:ext cx="476250" cy="1657350"/>
            </a:xfrm>
            <a:prstGeom prst="bentConnector2">
              <a:avLst/>
            </a:prstGeom>
            <a:ln w="28575">
              <a:solidFill>
                <a:srgbClr val="00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A95F4DF-85EE-4B3C-BEB5-6861A4A34F4E}"/>
                </a:ext>
              </a:extLst>
            </p:cNvPr>
            <p:cNvSpPr txBox="1"/>
            <p:nvPr/>
          </p:nvSpPr>
          <p:spPr>
            <a:xfrm>
              <a:off x="5341843" y="3156208"/>
              <a:ext cx="5057775" cy="164893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ko-KR" altLang="en-US" sz="1600" b="1" dirty="0"/>
                <a:t>바깥쪽 루프의 반복변수 </a:t>
              </a:r>
              <a:r>
                <a:rPr kumimoji="1" lang="en-US" altLang="ko-KR" sz="1600" b="1" dirty="0">
                  <a:solidFill>
                    <a:srgbClr val="FF0000"/>
                  </a:solidFill>
                </a:rPr>
                <a:t>i </a:t>
              </a:r>
              <a:r>
                <a:rPr kumimoji="1" lang="ko-KR" altLang="en-US" sz="1600" b="1" dirty="0">
                  <a:solidFill>
                    <a:srgbClr val="FF0000"/>
                  </a:solidFill>
                </a:rPr>
                <a:t>는 </a:t>
              </a:r>
              <a:r>
                <a:rPr kumimoji="1" lang="en-US" altLang="ko-KR" sz="1600" b="1" dirty="0">
                  <a:solidFill>
                    <a:srgbClr val="FF0000"/>
                  </a:solidFill>
                </a:rPr>
                <a:t>N</a:t>
              </a:r>
              <a:r>
                <a:rPr kumimoji="1" lang="ko-KR" altLang="en-US" sz="1600" b="1" dirty="0">
                  <a:solidFill>
                    <a:srgbClr val="FF0000"/>
                  </a:solidFill>
                </a:rPr>
                <a:t>번 까지 한번씩 수행</a:t>
              </a:r>
              <a:r>
                <a:rPr kumimoji="1" lang="ko-KR" altLang="en-US" sz="1600" b="1" dirty="0"/>
                <a:t> </a:t>
              </a:r>
              <a:r>
                <a:rPr kumimoji="1" lang="ko-KR" altLang="en-US" sz="1600" b="1" dirty="0" err="1"/>
                <a:t>할때</a:t>
              </a:r>
              <a:r>
                <a:rPr kumimoji="1" lang="ko-KR" altLang="en-US" sz="1600" b="1" dirty="0"/>
                <a:t> 마다 안쪽 루프의 반복변수 </a:t>
              </a:r>
              <a:r>
                <a:rPr kumimoji="1" lang="en-US" altLang="ko-KR" sz="1600" b="1" dirty="0">
                  <a:solidFill>
                    <a:srgbClr val="00B050"/>
                  </a:solidFill>
                </a:rPr>
                <a:t>j </a:t>
              </a:r>
              <a:r>
                <a:rPr kumimoji="1" lang="ko-KR" altLang="en-US" sz="1600" b="1" dirty="0">
                  <a:solidFill>
                    <a:srgbClr val="00B050"/>
                  </a:solidFill>
                </a:rPr>
                <a:t>는 </a:t>
              </a:r>
              <a:r>
                <a:rPr kumimoji="1" lang="en-US" altLang="ko-KR" sz="1600" b="1" dirty="0">
                  <a:solidFill>
                    <a:srgbClr val="00B050"/>
                  </a:solidFill>
                </a:rPr>
                <a:t>M</a:t>
              </a:r>
              <a:r>
                <a:rPr kumimoji="1" lang="ko-KR" altLang="en-US" sz="1600" b="1" dirty="0">
                  <a:solidFill>
                    <a:srgbClr val="00B050"/>
                  </a:solidFill>
                </a:rPr>
                <a:t>번을 반복</a:t>
              </a:r>
              <a:endParaRPr kumimoji="1" lang="en-US" altLang="ko-KR" sz="1600" b="1" dirty="0">
                <a:solidFill>
                  <a:srgbClr val="00B050"/>
                </a:solidFill>
              </a:endParaRPr>
            </a:p>
            <a:p>
              <a:pPr>
                <a:lnSpc>
                  <a:spcPct val="150000"/>
                </a:lnSpc>
              </a:pPr>
              <a:endParaRPr kumimoji="1" lang="en-US" altLang="ko-KR" sz="1600" b="1" dirty="0"/>
            </a:p>
            <a:p>
              <a:pPr>
                <a:lnSpc>
                  <a:spcPct val="150000"/>
                </a:lnSpc>
              </a:pPr>
              <a:r>
                <a:rPr kumimoji="1" lang="ko-KR" altLang="en-US" sz="1600" b="1" dirty="0"/>
                <a:t>프로그램 </a:t>
              </a:r>
              <a:r>
                <a:rPr kumimoji="1" lang="ko-KR" altLang="en-US" sz="1600" b="1" dirty="0" err="1"/>
                <a:t>수행시</a:t>
              </a:r>
              <a:r>
                <a:rPr kumimoji="1" lang="ko-KR" altLang="en-US" sz="1600" b="1" dirty="0"/>
                <a:t> 총 반복 횟수</a:t>
              </a:r>
              <a:r>
                <a:rPr kumimoji="1" lang="en-US" altLang="ko-KR" sz="1600" b="1" dirty="0"/>
                <a:t>: N x M </a:t>
              </a:r>
              <a:r>
                <a:rPr kumimoji="1" lang="ko-KR" altLang="en-US" sz="1600" b="1" dirty="0"/>
                <a:t>번</a:t>
              </a:r>
              <a:endParaRPr kumimoji="1" lang="en-US" altLang="ko-KR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4324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FA6F7-3276-1C71-46D9-3AAD9676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95D1CFC-7F6E-3E8B-2356-B3AFCD1E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05. </a:t>
            </a:r>
            <a:r>
              <a:rPr lang="ko-KR" altLang="en-US" dirty="0"/>
              <a:t>중첩</a:t>
            </a:r>
            <a:r>
              <a:rPr lang="en-US" altLang="ko-KR" dirty="0"/>
              <a:t> </a:t>
            </a:r>
            <a:r>
              <a:rPr lang="ko-KR" altLang="en-US" dirty="0"/>
              <a:t>반복문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FB3E0DF-2B8D-450F-F2C0-234F471463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중첩 반복문 적용하기</a:t>
            </a:r>
            <a:endParaRPr lang="en-US" altLang="ko-KR" dirty="0"/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4-5: </a:t>
            </a:r>
            <a:r>
              <a:rPr lang="ko-KR" altLang="en-US" dirty="0"/>
              <a:t>수를 입력 받고 입력 받은 수 까지 구구단을 실행하는 프로그램 작성해보자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dirty="0"/>
              <a:t>양식문자를 이용하여 출력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33492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E8CFB-B019-2D5D-BE0A-5CB01B3EC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A1E1CBB-26AC-B4CB-8D4F-068CF6C9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05. </a:t>
            </a:r>
            <a:r>
              <a:rPr lang="ko-KR" altLang="en-US" dirty="0"/>
              <a:t>중첩</a:t>
            </a:r>
            <a:r>
              <a:rPr lang="en-US" altLang="ko-KR" dirty="0"/>
              <a:t> </a:t>
            </a:r>
            <a:r>
              <a:rPr lang="ko-KR" altLang="en-US" dirty="0"/>
              <a:t>반복문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BE8358A-F109-54B3-50D0-60F88AB33C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중첩 반복문 적용하기</a:t>
            </a:r>
            <a:endParaRPr lang="en-US" altLang="ko-KR" dirty="0"/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4-5: </a:t>
            </a:r>
            <a:r>
              <a:rPr lang="ko-KR" altLang="en-US" dirty="0"/>
              <a:t>수를 입력 받고 입력 받은 수 까지 구구단을 실행하는 프로그램 작성해보자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dirty="0"/>
              <a:t>프로그램 코드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0A3D0C-D3B8-F506-DCF2-DE70B1170877}"/>
              </a:ext>
            </a:extLst>
          </p:cNvPr>
          <p:cNvSpPr/>
          <p:nvPr/>
        </p:nvSpPr>
        <p:spPr>
          <a:xfrm>
            <a:off x="1953757" y="2811968"/>
            <a:ext cx="8066597" cy="327213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number = int(input("Type Number: "))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for i in range(1,number +1):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for j in range(1,10):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  print("%d * %d = %d" %( i, j, i * j ))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  print()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print("End! Bye </a:t>
            </a:r>
            <a:r>
              <a:rPr lang="en-US" altLang="ko-KR" sz="1400" dirty="0" err="1"/>
              <a:t>Bye</a:t>
            </a:r>
            <a:r>
              <a:rPr lang="en-US" altLang="ko-KR" sz="1400" dirty="0"/>
              <a:t> ")</a:t>
            </a:r>
          </a:p>
        </p:txBody>
      </p:sp>
    </p:spTree>
    <p:extLst>
      <p:ext uri="{BB962C8B-B14F-4D97-AF65-F5344CB8AC3E}">
        <p14:creationId xmlns:p14="http://schemas.microsoft.com/office/powerpoint/2010/main" val="24933908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38C8E-F52C-8AF1-5248-1C7E5C41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7CE681D-C885-33EE-0C1D-E1391D72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05. </a:t>
            </a:r>
            <a:r>
              <a:rPr lang="ko-KR" altLang="en-US" dirty="0"/>
              <a:t>중첩</a:t>
            </a:r>
            <a:r>
              <a:rPr lang="en-US" altLang="ko-KR" dirty="0"/>
              <a:t> </a:t>
            </a:r>
            <a:r>
              <a:rPr lang="ko-KR" altLang="en-US" dirty="0"/>
              <a:t>반복문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3685FE4-8B89-44C9-C9D0-E0D557D13BC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중첩 반복문 적용하기</a:t>
            </a:r>
            <a:endParaRPr lang="en-US" altLang="ko-KR" dirty="0"/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4-5: </a:t>
            </a:r>
            <a:r>
              <a:rPr lang="ko-KR" altLang="en-US" dirty="0"/>
              <a:t>수를 입력 받고 입력 받은 수 까지 구구단을 실행하는 프로그램 작성해보자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dirty="0"/>
              <a:t>테스트 결과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E65EC62-53C4-4D0E-BD28-6487C10062EE}"/>
              </a:ext>
            </a:extLst>
          </p:cNvPr>
          <p:cNvGrpSpPr/>
          <p:nvPr/>
        </p:nvGrpSpPr>
        <p:grpSpPr>
          <a:xfrm>
            <a:off x="2088227" y="2850256"/>
            <a:ext cx="5935183" cy="3272132"/>
            <a:chOff x="1953757" y="2811968"/>
            <a:chExt cx="5935183" cy="327213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2865EC9-AC28-4BCB-BD13-49B0CC9C2C79}"/>
                </a:ext>
              </a:extLst>
            </p:cNvPr>
            <p:cNvSpPr/>
            <p:nvPr/>
          </p:nvSpPr>
          <p:spPr>
            <a:xfrm>
              <a:off x="1953757" y="2811968"/>
              <a:ext cx="5935183" cy="3272132"/>
            </a:xfrm>
            <a:prstGeom prst="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lang="en-US" altLang="ko-KR" sz="1400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30BBDE3C-5571-41E3-A446-103352CDF10C}"/>
                </a:ext>
              </a:extLst>
            </p:cNvPr>
            <p:cNvGrpSpPr/>
            <p:nvPr/>
          </p:nvGrpSpPr>
          <p:grpSpPr>
            <a:xfrm>
              <a:off x="2720744" y="3052427"/>
              <a:ext cx="4401208" cy="2791215"/>
              <a:chOff x="1939909" y="3091810"/>
              <a:chExt cx="4401208" cy="2791215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457307DC-55F2-4834-A109-82F616C4DD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39909" y="3091810"/>
                <a:ext cx="1552792" cy="2467319"/>
              </a:xfrm>
              <a:prstGeom prst="rect">
                <a:avLst/>
              </a:prstGeom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84902426-D263-4CBE-935D-C3D05BA834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93115" y="3091810"/>
                <a:ext cx="1448002" cy="2791215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2883AA-E2FB-434C-A825-A36B3224428A}"/>
                  </a:ext>
                </a:extLst>
              </p:cNvPr>
              <p:cNvSpPr txBox="1"/>
              <p:nvPr/>
            </p:nvSpPr>
            <p:spPr>
              <a:xfrm>
                <a:off x="3559274" y="4027904"/>
                <a:ext cx="633633" cy="29756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ko-KR" sz="2800" b="1" dirty="0"/>
                  <a:t>….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311326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38C8E-F52C-8AF1-5248-1C7E5C41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7CE681D-C885-33EE-0C1D-E1391D72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05. </a:t>
            </a:r>
            <a:r>
              <a:rPr lang="ko-KR" altLang="en-US" dirty="0"/>
              <a:t>복습문제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A1B0F16-9390-411C-AD05-E08C73C095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5" y="1435607"/>
            <a:ext cx="10895123" cy="446981"/>
          </a:xfrm>
        </p:spPr>
        <p:txBody>
          <a:bodyPr/>
          <a:lstStyle/>
          <a:p>
            <a:r>
              <a:rPr lang="ko-KR" altLang="ko-KR" dirty="0"/>
              <a:t>다음 프로그램의 실행 결과를 </a:t>
            </a:r>
            <a:r>
              <a:rPr lang="ko-KR" altLang="en-US" dirty="0" err="1"/>
              <a:t>보이시오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38710A7-2D5B-4B5C-A6F2-4EC81BD69E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800" r="50069" b="50023"/>
          <a:stretch/>
        </p:blipFill>
        <p:spPr>
          <a:xfrm>
            <a:off x="1411022" y="2534859"/>
            <a:ext cx="4194291" cy="220254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DE4CBA7-B426-4C1D-90CC-E5020FD7D9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751" r="50069"/>
          <a:stretch/>
        </p:blipFill>
        <p:spPr>
          <a:xfrm>
            <a:off x="5803728" y="2375261"/>
            <a:ext cx="4194291" cy="260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3466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F901FB6-45AE-449B-95B7-4CD748C19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10192" y="2923585"/>
            <a:ext cx="955248" cy="297962"/>
          </a:xfrm>
        </p:spPr>
        <p:txBody>
          <a:bodyPr/>
          <a:lstStyle/>
          <a:p>
            <a:r>
              <a:rPr lang="en-US" altLang="ko-KR" dirty="0"/>
              <a:t>Part</a:t>
            </a:r>
            <a:r>
              <a:rPr lang="ko-KR" altLang="en-US" dirty="0"/>
              <a:t> </a:t>
            </a:r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54CE90-7E98-47F8-B393-E8D58DC0F4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13206" y="3382375"/>
            <a:ext cx="3883984" cy="454928"/>
          </a:xfrm>
        </p:spPr>
        <p:txBody>
          <a:bodyPr/>
          <a:lstStyle/>
          <a:p>
            <a:r>
              <a:rPr lang="en-US" altLang="ko-KR" dirty="0"/>
              <a:t>break</a:t>
            </a:r>
            <a:r>
              <a:rPr lang="ko-KR" altLang="en-US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17098063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E4DF-31F3-3AE4-C9D3-881A0EF0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DC25A15-F8AC-3753-C49D-0E415968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06. break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DBF1BE-71D4-1551-8D92-3B2C4173B0B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break</a:t>
            </a:r>
            <a:r>
              <a:rPr lang="ko-KR" altLang="en-US" dirty="0"/>
              <a:t>문 구조</a:t>
            </a:r>
            <a:endParaRPr lang="en-US" altLang="ko-KR" dirty="0"/>
          </a:p>
          <a:p>
            <a:pPr lvl="2"/>
            <a:r>
              <a:rPr lang="en-US" altLang="ko-KR" sz="1600" dirty="0"/>
              <a:t>break’ </a:t>
            </a:r>
            <a:r>
              <a:rPr lang="ko-KR" altLang="en-US" sz="1600" dirty="0"/>
              <a:t>문은 반복문 안에서 사용하면 반복문을 강제 종료 시킬 수 있음</a:t>
            </a:r>
            <a:r>
              <a:rPr lang="en-US" altLang="ko-KR" sz="1600" dirty="0"/>
              <a:t> </a:t>
            </a:r>
          </a:p>
          <a:p>
            <a:pPr lvl="3"/>
            <a:r>
              <a:rPr lang="ko-KR" altLang="en-US" dirty="0"/>
              <a:t>반복 명령문에 추가적인 제어를 위해 사용</a:t>
            </a:r>
            <a:r>
              <a:rPr lang="en-US" altLang="ko-KR" dirty="0"/>
              <a:t> </a:t>
            </a:r>
          </a:p>
          <a:p>
            <a:pPr lvl="3"/>
            <a:r>
              <a:rPr lang="ko-KR" altLang="en-US" dirty="0"/>
              <a:t>반복문 안에서 탈출 조건식을 판단하여 참이면 반복문의 제어를 반복문 밖으로 제어를 넘김</a:t>
            </a:r>
            <a:r>
              <a:rPr lang="en-US" altLang="ko-KR" dirty="0"/>
              <a:t> </a:t>
            </a:r>
          </a:p>
          <a:p>
            <a:pPr lvl="3"/>
            <a:r>
              <a:rPr lang="ko-KR" altLang="en-US" dirty="0"/>
              <a:t>반면에 탈출 조건식이 거짓인 경우는 반복문 안에 있는 문장을 계속 수행</a:t>
            </a:r>
            <a:r>
              <a:rPr lang="en-US" altLang="ko-KR" dirty="0"/>
              <a:t> </a:t>
            </a:r>
          </a:p>
          <a:p>
            <a:pPr lvl="3"/>
            <a:r>
              <a:rPr lang="ko-KR" altLang="en-US" dirty="0"/>
              <a:t>주로 무한 반복문 안에서 사용자가 원하는 시점에서 강제적으로 반복을 벗어날 때 사용</a:t>
            </a:r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165933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E4DF-31F3-3AE4-C9D3-881A0EF0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DC25A15-F8AC-3753-C49D-0E415968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06. break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DBF1BE-71D4-1551-8D92-3B2C4173B0B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break</a:t>
            </a:r>
            <a:r>
              <a:rPr lang="ko-KR" altLang="en-US" dirty="0"/>
              <a:t>문 구조</a:t>
            </a:r>
            <a:endParaRPr lang="en-US" altLang="ko-KR" dirty="0"/>
          </a:p>
          <a:p>
            <a:pPr lvl="2"/>
            <a:r>
              <a:rPr lang="ko-KR" altLang="en-US" dirty="0"/>
              <a:t>반복문 구문 내에 원하는 위치에 </a:t>
            </a:r>
            <a:r>
              <a:rPr lang="en-US" altLang="ko-KR" dirty="0"/>
              <a:t>break</a:t>
            </a:r>
            <a:r>
              <a:rPr lang="ko-KR" altLang="en-US" dirty="0"/>
              <a:t>가 포함된 조건문을 추가</a:t>
            </a:r>
          </a:p>
          <a:p>
            <a:pPr lvl="2"/>
            <a:r>
              <a:rPr lang="ko-KR" altLang="en-US" dirty="0"/>
              <a:t>조건문이 만족되면 </a:t>
            </a:r>
            <a:r>
              <a:rPr lang="en-US" altLang="ko-KR" dirty="0"/>
              <a:t>break</a:t>
            </a:r>
            <a:r>
              <a:rPr lang="ko-KR" altLang="en-US" dirty="0"/>
              <a:t>를 통해서 해당 반복문을 빠져나옴</a:t>
            </a:r>
            <a:endParaRPr lang="en-US" altLang="ko-KR" dirty="0"/>
          </a:p>
          <a:p>
            <a:pPr lvl="2"/>
            <a:r>
              <a:rPr lang="en-US" altLang="ko-KR" sz="1600" dirty="0"/>
              <a:t>while, for, if </a:t>
            </a:r>
            <a:r>
              <a:rPr lang="ko-KR" altLang="en-US" sz="1600" dirty="0"/>
              <a:t>문에 모두 적용 가능</a:t>
            </a:r>
            <a:endParaRPr lang="en-US" altLang="ko-KR" sz="1600" dirty="0"/>
          </a:p>
          <a:p>
            <a:pPr lvl="2"/>
            <a:endParaRPr lang="ko-KR" altLang="en-US" dirty="0"/>
          </a:p>
          <a:p>
            <a:pPr lvl="2"/>
            <a:endParaRPr lang="en-US" altLang="ko-KR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0B6A1E-ADE9-458B-AFCF-DB66BDB28E13}"/>
              </a:ext>
            </a:extLst>
          </p:cNvPr>
          <p:cNvSpPr/>
          <p:nvPr/>
        </p:nvSpPr>
        <p:spPr>
          <a:xfrm>
            <a:off x="5855930" y="3089568"/>
            <a:ext cx="2930478" cy="3000821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while (True):</a:t>
            </a:r>
            <a:endParaRPr kumimoji="0" lang="en-US" altLang="ko-KR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코드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코드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if (</a:t>
            </a: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조건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코드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코드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4	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9252123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FA6F7-3276-1C71-46D9-3AAD9676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95D1CFC-7F6E-3E8B-2356-B3AFCD1E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06. break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FB3E0DF-2B8D-450F-F2C0-234F471463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break</a:t>
            </a:r>
            <a:r>
              <a:rPr lang="ko-KR" altLang="en-US" dirty="0"/>
              <a:t>문 적용하기</a:t>
            </a:r>
            <a:endParaRPr lang="en-US" altLang="ko-KR" dirty="0"/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4-6: </a:t>
            </a:r>
            <a:r>
              <a:rPr lang="ko-KR" altLang="en-US" dirty="0"/>
              <a:t>사용자가 입력한 숫자가 홀수인지 짝수인지 판별하는 프로그램을 작성해보자</a:t>
            </a:r>
            <a:r>
              <a:rPr lang="en-US" altLang="ko-KR" dirty="0"/>
              <a:t> </a:t>
            </a:r>
            <a:endParaRPr lang="ko-KR" altLang="en-US" dirty="0"/>
          </a:p>
          <a:p>
            <a:pPr lvl="3"/>
            <a:r>
              <a:rPr lang="ko-KR" altLang="en-US" dirty="0"/>
              <a:t>‘</a:t>
            </a:r>
            <a:r>
              <a:rPr lang="en-US" altLang="ko-KR" dirty="0"/>
              <a:t>0’ </a:t>
            </a:r>
            <a:r>
              <a:rPr lang="ko-KR" altLang="en-US" dirty="0"/>
              <a:t>값을 입력 받으면 프로그램 종료</a:t>
            </a:r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704080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E8CFB-B019-2D5D-BE0A-5CB01B3EC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A1E1CBB-26AC-B4CB-8D4F-068CF6C9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06. break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BE8358A-F109-54B3-50D0-60F88AB33C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break</a:t>
            </a:r>
            <a:r>
              <a:rPr lang="ko-KR" altLang="en-US" dirty="0"/>
              <a:t>문 적용하기</a:t>
            </a:r>
            <a:endParaRPr lang="en-US" altLang="ko-KR" dirty="0"/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4-6: </a:t>
            </a:r>
            <a:r>
              <a:rPr lang="ko-KR" altLang="en-US" dirty="0"/>
              <a:t>사용자가 입력한 숫자가 홀수인지 짝수인지 판별하는 프로그램을 작성해보자</a:t>
            </a:r>
            <a:r>
              <a:rPr lang="en-US" altLang="ko-KR" dirty="0"/>
              <a:t> </a:t>
            </a:r>
            <a:endParaRPr lang="ko-KR" altLang="en-US" dirty="0"/>
          </a:p>
          <a:p>
            <a:pPr lvl="3"/>
            <a:r>
              <a:rPr lang="ko-KR" altLang="en-US" dirty="0"/>
              <a:t>프로그램 코드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0A3D0C-D3B8-F506-DCF2-DE70B1170877}"/>
              </a:ext>
            </a:extLst>
          </p:cNvPr>
          <p:cNvSpPr/>
          <p:nvPr/>
        </p:nvSpPr>
        <p:spPr>
          <a:xfrm>
            <a:off x="1877558" y="2906993"/>
            <a:ext cx="7526418" cy="3502951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print("Start Infinite Loop")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print("input '0' exit from the Loop\n")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while True :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number = int(input("Enter the number :"))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if (number == 0):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  print("EXIT")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  break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</a:t>
            </a:r>
            <a:r>
              <a:rPr lang="en-US" altLang="ko-KR" sz="1400" dirty="0" err="1"/>
              <a:t>elif</a:t>
            </a:r>
            <a:r>
              <a:rPr lang="en-US" altLang="ko-KR" sz="1400" dirty="0"/>
              <a:t> (number % 2 == 0):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  print(number, "is even number")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else: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  print(number, "is odd number")</a:t>
            </a:r>
          </a:p>
        </p:txBody>
      </p:sp>
    </p:spTree>
    <p:extLst>
      <p:ext uri="{BB962C8B-B14F-4D97-AF65-F5344CB8AC3E}">
        <p14:creationId xmlns:p14="http://schemas.microsoft.com/office/powerpoint/2010/main" val="42324008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38C8E-F52C-8AF1-5248-1C7E5C41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7CE681D-C885-33EE-0C1D-E1391D72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06. break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3685FE4-8B89-44C9-C9D0-E0D557D13BC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 </a:t>
            </a:r>
            <a:r>
              <a:rPr lang="en-US" altLang="ko-KR" dirty="0"/>
              <a:t>break</a:t>
            </a:r>
            <a:r>
              <a:rPr lang="ko-KR" altLang="en-US" dirty="0"/>
              <a:t>문 적용하기</a:t>
            </a:r>
            <a:endParaRPr lang="en-US" altLang="ko-KR" dirty="0"/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4-6: </a:t>
            </a:r>
            <a:r>
              <a:rPr lang="ko-KR" altLang="en-US" dirty="0"/>
              <a:t>사용자가 입력한 숫자가 홀수인지 짝수인지 판별하는 프로그램을 작성해보자</a:t>
            </a:r>
            <a:r>
              <a:rPr lang="en-US" altLang="ko-KR" dirty="0"/>
              <a:t> </a:t>
            </a:r>
            <a:endParaRPr lang="ko-KR" altLang="en-US" dirty="0"/>
          </a:p>
          <a:p>
            <a:pPr lvl="3"/>
            <a:r>
              <a:rPr lang="ko-KR" altLang="en-US" dirty="0"/>
              <a:t>테스트 결과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944D8C-30AB-EB14-D57E-69146826E2F3}"/>
              </a:ext>
            </a:extLst>
          </p:cNvPr>
          <p:cNvSpPr/>
          <p:nvPr/>
        </p:nvSpPr>
        <p:spPr>
          <a:xfrm>
            <a:off x="1866184" y="3088364"/>
            <a:ext cx="6346193" cy="332158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Start Infinite Loop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input '0' exit from the Loop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Enter the number :24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24 is even number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Enter the number :7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7 is odd number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Enter the number :0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2488853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F901FB6-45AE-449B-95B7-4CD748C19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10192" y="2923585"/>
            <a:ext cx="955248" cy="297962"/>
          </a:xfrm>
        </p:spPr>
        <p:txBody>
          <a:bodyPr/>
          <a:lstStyle/>
          <a:p>
            <a:r>
              <a:rPr lang="en-US" altLang="ko-KR" dirty="0"/>
              <a:t>Part</a:t>
            </a:r>
            <a:r>
              <a:rPr lang="ko-KR" altLang="en-US" dirty="0"/>
              <a:t> </a:t>
            </a:r>
            <a:r>
              <a:rPr lang="en-US" altLang="ko-KR" dirty="0"/>
              <a:t>07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54CE90-7E98-47F8-B393-E8D58DC0F4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13206" y="3382375"/>
            <a:ext cx="3883984" cy="454928"/>
          </a:xfrm>
        </p:spPr>
        <p:txBody>
          <a:bodyPr/>
          <a:lstStyle/>
          <a:p>
            <a:r>
              <a:rPr lang="en-US" altLang="ko-KR" dirty="0"/>
              <a:t>continue</a:t>
            </a:r>
            <a:r>
              <a:rPr lang="ko-KR" altLang="en-US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31951209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E4DF-31F3-3AE4-C9D3-881A0EF0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DC25A15-F8AC-3753-C49D-0E415968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07. continue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DBF1BE-71D4-1551-8D92-3B2C4173B0B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continue</a:t>
            </a:r>
            <a:r>
              <a:rPr lang="ko-KR" altLang="en-US" dirty="0"/>
              <a:t>문 구조</a:t>
            </a:r>
            <a:endParaRPr lang="en-US" altLang="ko-KR" dirty="0"/>
          </a:p>
          <a:p>
            <a:pPr lvl="2"/>
            <a:r>
              <a:rPr lang="ko-KR" altLang="en-US" sz="1600" dirty="0"/>
              <a:t>특정 조건 시 해당 조건을 통과하고 다음 반복문을 진행 </a:t>
            </a:r>
          </a:p>
          <a:p>
            <a:pPr lvl="3"/>
            <a:r>
              <a:rPr lang="en-US" altLang="ko-KR" dirty="0"/>
              <a:t>break </a:t>
            </a:r>
            <a:r>
              <a:rPr lang="ko-KR" altLang="en-US" dirty="0"/>
              <a:t>키워드는 반복문 전체를 빠져나가지만 </a:t>
            </a:r>
            <a:r>
              <a:rPr lang="en-US" altLang="ko-KR" dirty="0"/>
              <a:t>continue</a:t>
            </a:r>
            <a:r>
              <a:rPr lang="ko-KR" altLang="en-US" dirty="0"/>
              <a:t>는 해당 조건만 건너뛰고 싶을 때 사용</a:t>
            </a:r>
            <a:endParaRPr lang="en-US" altLang="ko-KR" dirty="0"/>
          </a:p>
          <a:p>
            <a:pPr lvl="3"/>
            <a:r>
              <a:rPr lang="ko-KR" altLang="en-US" dirty="0"/>
              <a:t>‘</a:t>
            </a:r>
            <a:r>
              <a:rPr lang="en-US" altLang="ko-KR" dirty="0"/>
              <a:t>continue’ </a:t>
            </a:r>
            <a:r>
              <a:rPr lang="ko-KR" altLang="en-US" dirty="0"/>
              <a:t>문을 만나면 현재 반복을 종료하고 무조건 조건식으로 점프</a:t>
            </a:r>
            <a:r>
              <a:rPr lang="en-US" altLang="ko-KR" dirty="0"/>
              <a:t> </a:t>
            </a:r>
          </a:p>
          <a:p>
            <a:pPr lvl="3"/>
            <a:r>
              <a:rPr lang="en-US" altLang="ko-KR" dirty="0"/>
              <a:t>‘if’ </a:t>
            </a:r>
            <a:r>
              <a:rPr lang="ko-KR" altLang="en-US" dirty="0"/>
              <a:t>문과 같이 사용되는 경우가 많은데 ‘</a:t>
            </a:r>
            <a:r>
              <a:rPr lang="en-US" altLang="ko-KR" dirty="0"/>
              <a:t>if </a:t>
            </a:r>
            <a:r>
              <a:rPr lang="ko-KR" altLang="en-US" dirty="0" err="1"/>
              <a:t>조건식’에</a:t>
            </a:r>
            <a:r>
              <a:rPr lang="ko-KR" altLang="en-US" dirty="0"/>
              <a:t> 해당하는 조건이 참이면 </a:t>
            </a:r>
            <a:r>
              <a:rPr lang="ko-KR" altLang="en-US" dirty="0" err="1"/>
              <a:t>스킾</a:t>
            </a:r>
            <a:r>
              <a:rPr lang="en-US" altLang="ko-KR" dirty="0"/>
              <a:t> </a:t>
            </a:r>
          </a:p>
          <a:p>
            <a:pPr lvl="3"/>
            <a:endParaRPr lang="ko-KR" altLang="en-US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609855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E4DF-31F3-3AE4-C9D3-881A0EF0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DC25A15-F8AC-3753-C49D-0E415968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07. continue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DBF1BE-71D4-1551-8D92-3B2C4173B0B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continue</a:t>
            </a:r>
            <a:r>
              <a:rPr lang="ko-KR" altLang="en-US" dirty="0"/>
              <a:t>문 구조</a:t>
            </a:r>
            <a:endParaRPr lang="en-US" altLang="ko-KR" dirty="0"/>
          </a:p>
          <a:p>
            <a:pPr lvl="2"/>
            <a:r>
              <a:rPr lang="ko-KR" altLang="en-US" dirty="0"/>
              <a:t>반복문 구문 내에 </a:t>
            </a:r>
            <a:r>
              <a:rPr lang="en-US" altLang="ko-KR" dirty="0"/>
              <a:t>skip</a:t>
            </a:r>
            <a:r>
              <a:rPr lang="ko-KR" altLang="en-US" dirty="0"/>
              <a:t>을 원하는 조건을 추가하고 </a:t>
            </a:r>
            <a:r>
              <a:rPr lang="en-US" altLang="ko-KR" dirty="0"/>
              <a:t>continue </a:t>
            </a:r>
            <a:r>
              <a:rPr lang="ko-KR" altLang="en-US" dirty="0"/>
              <a:t>키워드를 사용</a:t>
            </a:r>
            <a:endParaRPr lang="en-US" altLang="ko-KR" dirty="0"/>
          </a:p>
          <a:p>
            <a:pPr lvl="2"/>
            <a:r>
              <a:rPr lang="ko-KR" altLang="en-US" dirty="0"/>
              <a:t>조건이 만족되면 </a:t>
            </a:r>
            <a:r>
              <a:rPr lang="en-US" altLang="ko-KR" dirty="0"/>
              <a:t>continue</a:t>
            </a:r>
            <a:r>
              <a:rPr lang="ko-KR" altLang="en-US" dirty="0"/>
              <a:t>에 의해서 해당 조건을 수행하지 않고 다음 반복문을 수행</a:t>
            </a:r>
          </a:p>
          <a:p>
            <a:pPr lvl="2"/>
            <a:r>
              <a:rPr lang="en-US" altLang="ko-KR" sz="1600" dirty="0"/>
              <a:t>While, for, if </a:t>
            </a:r>
            <a:r>
              <a:rPr lang="ko-KR" altLang="en-US" sz="1600" dirty="0"/>
              <a:t>문에 모두 적용 가능</a:t>
            </a:r>
            <a:endParaRPr lang="en-US" altLang="ko-KR" sz="1600" dirty="0"/>
          </a:p>
          <a:p>
            <a:pPr lvl="2"/>
            <a:endParaRPr lang="ko-KR" altLang="en-US" dirty="0"/>
          </a:p>
          <a:p>
            <a:pPr lvl="2"/>
            <a:endParaRPr lang="en-US" altLang="ko-KR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0B6A1E-ADE9-458B-AFCF-DB66BDB28E13}"/>
              </a:ext>
            </a:extLst>
          </p:cNvPr>
          <p:cNvSpPr/>
          <p:nvPr/>
        </p:nvSpPr>
        <p:spPr>
          <a:xfrm>
            <a:off x="2680929" y="3546768"/>
            <a:ext cx="2930478" cy="253178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2"/>
                </a:solidFill>
              </a:rPr>
              <a:t>while (True):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	</a:t>
            </a:r>
            <a:r>
              <a:rPr lang="ko-KR" altLang="en-US" b="1" dirty="0"/>
              <a:t>코드</a:t>
            </a:r>
            <a:r>
              <a:rPr lang="en-US" altLang="ko-KR" b="1" dirty="0"/>
              <a:t>1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	</a:t>
            </a:r>
            <a:r>
              <a:rPr lang="ko-KR" altLang="en-US" b="1" dirty="0"/>
              <a:t>코드</a:t>
            </a:r>
            <a:r>
              <a:rPr lang="en-US" altLang="ko-KR" b="1" dirty="0"/>
              <a:t>2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	</a:t>
            </a:r>
            <a:r>
              <a:rPr lang="en-US" altLang="ko-KR" b="1" dirty="0">
                <a:solidFill>
                  <a:srgbClr val="FF0000"/>
                </a:solidFill>
              </a:rPr>
              <a:t>if (</a:t>
            </a:r>
            <a:r>
              <a:rPr lang="ko-KR" altLang="en-US" b="1" dirty="0">
                <a:solidFill>
                  <a:srgbClr val="FF0000"/>
                </a:solidFill>
              </a:rPr>
              <a:t>조건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r>
              <a:rPr lang="en-US" altLang="ko-KR" b="1" dirty="0"/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		</a:t>
            </a:r>
            <a:r>
              <a:rPr lang="en-US" altLang="ko-KR" b="1" dirty="0">
                <a:solidFill>
                  <a:srgbClr val="00B050"/>
                </a:solidFill>
              </a:rPr>
              <a:t>continue</a:t>
            </a:r>
          </a:p>
        </p:txBody>
      </p:sp>
    </p:spTree>
    <p:extLst>
      <p:ext uri="{BB962C8B-B14F-4D97-AF65-F5344CB8AC3E}">
        <p14:creationId xmlns:p14="http://schemas.microsoft.com/office/powerpoint/2010/main" val="25512573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FA6F7-3276-1C71-46D9-3AAD9676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95D1CFC-7F6E-3E8B-2356-B3AFCD1E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07. continue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FB3E0DF-2B8D-450F-F2C0-234F471463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continue</a:t>
            </a:r>
            <a:r>
              <a:rPr lang="ko-KR" altLang="en-US" dirty="0"/>
              <a:t>문 적용하기</a:t>
            </a:r>
            <a:endParaRPr lang="en-US" altLang="ko-KR" dirty="0"/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4-7: </a:t>
            </a:r>
            <a:r>
              <a:rPr lang="en-US" altLang="ko-KR" sz="1600" dirty="0"/>
              <a:t>1</a:t>
            </a:r>
            <a:r>
              <a:rPr lang="ko-KR" altLang="en-US" sz="1600" dirty="0"/>
              <a:t>부터 사용자가 입력 받은 수까지 출력하는</a:t>
            </a:r>
            <a:r>
              <a:rPr lang="ko-KR" altLang="en-US" dirty="0"/>
              <a:t> 프로그램을 작성해보자</a:t>
            </a:r>
            <a:r>
              <a:rPr lang="en-US" altLang="ko-KR" dirty="0"/>
              <a:t> </a:t>
            </a:r>
            <a:endParaRPr lang="ko-KR" altLang="en-US" dirty="0"/>
          </a:p>
          <a:p>
            <a:pPr lvl="3"/>
            <a:r>
              <a:rPr lang="en-US" altLang="ko-KR" dirty="0"/>
              <a:t>2</a:t>
            </a:r>
            <a:r>
              <a:rPr lang="ko-KR" altLang="en-US" dirty="0"/>
              <a:t>와 </a:t>
            </a:r>
            <a:r>
              <a:rPr lang="en-US" altLang="ko-KR" dirty="0"/>
              <a:t>3</a:t>
            </a:r>
            <a:r>
              <a:rPr lang="ko-KR" altLang="en-US" dirty="0"/>
              <a:t>의 배수는 통과</a:t>
            </a:r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44033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E8CFB-B019-2D5D-BE0A-5CB01B3EC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A1E1CBB-26AC-B4CB-8D4F-068CF6C9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07. continue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BE8358A-F109-54B3-50D0-60F88AB33C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continue</a:t>
            </a:r>
            <a:r>
              <a:rPr lang="ko-KR" altLang="en-US" dirty="0"/>
              <a:t>문 적용하기</a:t>
            </a:r>
            <a:endParaRPr lang="en-US" altLang="ko-KR" dirty="0"/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4-7: </a:t>
            </a:r>
            <a:r>
              <a:rPr lang="en-US" altLang="ko-KR" sz="1600" dirty="0"/>
              <a:t>1</a:t>
            </a:r>
            <a:r>
              <a:rPr lang="ko-KR" altLang="en-US" sz="1600" dirty="0"/>
              <a:t>부터 사용자가 입력 받은 수까지 출력하는</a:t>
            </a:r>
            <a:r>
              <a:rPr lang="ko-KR" altLang="en-US" dirty="0"/>
              <a:t> 프로그램을 작성해보자</a:t>
            </a:r>
            <a:r>
              <a:rPr lang="en-US" altLang="ko-KR" dirty="0"/>
              <a:t> </a:t>
            </a:r>
            <a:endParaRPr lang="ko-KR" altLang="en-US" dirty="0"/>
          </a:p>
          <a:p>
            <a:pPr lvl="3"/>
            <a:r>
              <a:rPr lang="ko-KR" altLang="en-US" dirty="0"/>
              <a:t>프로그램 코드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0A3D0C-D3B8-F506-DCF2-DE70B1170877}"/>
              </a:ext>
            </a:extLst>
          </p:cNvPr>
          <p:cNvSpPr/>
          <p:nvPr/>
        </p:nvSpPr>
        <p:spPr>
          <a:xfrm>
            <a:off x="1877558" y="2906994"/>
            <a:ext cx="7526418" cy="315514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number = int(input("Enter the number :"))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print("Your number is ", number)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for i in range(1, number):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if(i % 2 == 0):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  continue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</a:t>
            </a:r>
            <a:r>
              <a:rPr lang="en-US" altLang="ko-KR" sz="1400" dirty="0" err="1"/>
              <a:t>elif</a:t>
            </a:r>
            <a:r>
              <a:rPr lang="en-US" altLang="ko-KR" sz="1400" dirty="0"/>
              <a:t>(i% 3 == 0):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  continue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else: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  print("number = ", i)</a:t>
            </a:r>
          </a:p>
        </p:txBody>
      </p:sp>
    </p:spTree>
    <p:extLst>
      <p:ext uri="{BB962C8B-B14F-4D97-AF65-F5344CB8AC3E}">
        <p14:creationId xmlns:p14="http://schemas.microsoft.com/office/powerpoint/2010/main" val="775606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38C8E-F52C-8AF1-5248-1C7E5C41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7CE681D-C885-33EE-0C1D-E1391D72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07. continue</a:t>
            </a:r>
            <a:r>
              <a:rPr lang="ko-KR" altLang="en-US" dirty="0"/>
              <a:t>문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3685FE4-8B89-44C9-C9D0-E0D557D13BC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continue</a:t>
            </a:r>
            <a:r>
              <a:rPr lang="ko-KR" altLang="en-US" dirty="0"/>
              <a:t>문 적용하기</a:t>
            </a:r>
            <a:endParaRPr lang="en-US" altLang="ko-KR" dirty="0"/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4-7: </a:t>
            </a:r>
            <a:r>
              <a:rPr lang="en-US" altLang="ko-KR" sz="1600" dirty="0"/>
              <a:t>1</a:t>
            </a:r>
            <a:r>
              <a:rPr lang="ko-KR" altLang="en-US" sz="1600" dirty="0"/>
              <a:t>부터 사용자가 입력 받은 수까지 출력하는</a:t>
            </a:r>
            <a:r>
              <a:rPr lang="ko-KR" altLang="en-US" dirty="0"/>
              <a:t> 프로그램을 작성해보자</a:t>
            </a:r>
            <a:r>
              <a:rPr lang="en-US" altLang="ko-KR" dirty="0"/>
              <a:t> </a:t>
            </a:r>
            <a:endParaRPr lang="ko-KR" altLang="en-US" dirty="0"/>
          </a:p>
          <a:p>
            <a:pPr lvl="3"/>
            <a:r>
              <a:rPr lang="ko-KR" altLang="en-US" dirty="0"/>
              <a:t>테스트 결과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944D8C-30AB-EB14-D57E-69146826E2F3}"/>
              </a:ext>
            </a:extLst>
          </p:cNvPr>
          <p:cNvSpPr/>
          <p:nvPr/>
        </p:nvSpPr>
        <p:spPr>
          <a:xfrm>
            <a:off x="1840784" y="2857546"/>
            <a:ext cx="6346193" cy="332158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Enter the number :20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Your number is  20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number =  1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number =  5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number =  7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number =  11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number =  13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number =  17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number =  19</a:t>
            </a:r>
          </a:p>
        </p:txBody>
      </p:sp>
    </p:spTree>
    <p:extLst>
      <p:ext uri="{BB962C8B-B14F-4D97-AF65-F5344CB8AC3E}">
        <p14:creationId xmlns:p14="http://schemas.microsoft.com/office/powerpoint/2010/main" val="18535415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78EA70-46F5-44D2-93C6-C880D52805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2A52-B5C7-4E42-BDBC-ABBBD2A61C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6614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F901FB6-45AE-449B-95B7-4CD748C19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10192" y="2923585"/>
            <a:ext cx="955248" cy="297962"/>
          </a:xfrm>
        </p:spPr>
        <p:txBody>
          <a:bodyPr/>
          <a:lstStyle/>
          <a:p>
            <a:r>
              <a:rPr lang="en-US" altLang="ko-KR" dirty="0"/>
              <a:t>Part</a:t>
            </a:r>
            <a:r>
              <a:rPr lang="ko-KR" altLang="en-US" dirty="0"/>
              <a:t> </a:t>
            </a:r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54CE90-7E98-47F8-B393-E8D58DC0F4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실습 문제 </a:t>
            </a:r>
          </a:p>
        </p:txBody>
      </p:sp>
    </p:spTree>
    <p:extLst>
      <p:ext uri="{BB962C8B-B14F-4D97-AF65-F5344CB8AC3E}">
        <p14:creationId xmlns:p14="http://schemas.microsoft.com/office/powerpoint/2010/main" val="16517657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419F2C3-8484-497E-A0AA-362AE7AB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 </a:t>
            </a:r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5AC18684-AC5A-4C06-A709-E1F42A72A44F}"/>
              </a:ext>
            </a:extLst>
          </p:cNvPr>
          <p:cNvSpPr txBox="1">
            <a:spLocks/>
          </p:cNvSpPr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20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ko-KR" altLang="en-US" sz="2000" b="1" dirty="0"/>
              <a:t>사용자 입력 받은 숫자 출력하기</a:t>
            </a:r>
            <a:endParaRPr lang="en-US" altLang="ko-KR" sz="2000" b="1" dirty="0"/>
          </a:p>
          <a:p>
            <a:pPr lvl="1"/>
            <a:endParaRPr lang="en-US" altLang="ko-KR" sz="2000" b="1" dirty="0"/>
          </a:p>
          <a:p>
            <a:pPr lvl="1"/>
            <a:endParaRPr lang="ko-KR" altLang="en-US" sz="2000" b="1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923350" y="1811548"/>
            <a:ext cx="10127411" cy="16821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ko-KR" altLang="en-US" dirty="0"/>
              <a:t>문제</a:t>
            </a:r>
            <a:r>
              <a:rPr lang="en-US" altLang="ko-KR" dirty="0"/>
              <a:t>: </a:t>
            </a:r>
          </a:p>
          <a:p>
            <a:pPr fontAlgn="base">
              <a:lnSpc>
                <a:spcPct val="150000"/>
              </a:lnSpc>
            </a:pPr>
            <a:r>
              <a:rPr lang="ko-KR" altLang="en-US" dirty="0"/>
              <a:t>사용자로부터 </a:t>
            </a:r>
            <a:r>
              <a:rPr lang="en-US" altLang="ko-KR" dirty="0"/>
              <a:t>1~100</a:t>
            </a:r>
            <a:r>
              <a:rPr lang="ko-KR" altLang="en-US" dirty="0"/>
              <a:t>사이의 정수를 입력 받고 화면에 출력하는 프로그램을 작성하세요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923350" y="3620220"/>
            <a:ext cx="10127411" cy="16821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ko-KR" altLang="en-US" dirty="0"/>
              <a:t>조건</a:t>
            </a:r>
            <a:r>
              <a:rPr lang="en-US" altLang="ko-KR" dirty="0"/>
              <a:t>: </a:t>
            </a:r>
          </a:p>
          <a:p>
            <a:pPr fontAlgn="base">
              <a:lnSpc>
                <a:spcPct val="150000"/>
              </a:lnSpc>
            </a:pPr>
            <a:r>
              <a:rPr lang="en-US" altLang="ko-KR" dirty="0"/>
              <a:t>1~100 </a:t>
            </a:r>
            <a:r>
              <a:rPr lang="ko-KR" altLang="en-US" dirty="0"/>
              <a:t>범위 밖의 정수가 입력되면 다시 입력 받기</a:t>
            </a:r>
          </a:p>
          <a:p>
            <a:pPr fontAlgn="base">
              <a:lnSpc>
                <a:spcPct val="150000"/>
              </a:lnSpc>
            </a:pPr>
            <a:r>
              <a:rPr lang="ko-KR" altLang="en-US" dirty="0"/>
              <a:t>사용자가 입력하는 숫자는 음수와 양수를 포함하는 정수로 제한</a:t>
            </a:r>
          </a:p>
          <a:p>
            <a:pPr fontAlgn="base">
              <a:lnSpc>
                <a:spcPct val="150000"/>
              </a:lnSpc>
            </a:pPr>
            <a:r>
              <a:rPr lang="en-US" altLang="ko-KR" dirty="0"/>
              <a:t>1~100</a:t>
            </a:r>
            <a:r>
              <a:rPr lang="ko-KR" altLang="en-US" dirty="0"/>
              <a:t>사이의 정수는 </a:t>
            </a:r>
            <a:r>
              <a:rPr lang="en-US" altLang="ko-KR" dirty="0"/>
              <a:t>1, 2, …, 99, 100</a:t>
            </a:r>
            <a:r>
              <a:rPr lang="ko-KR" altLang="en-US" dirty="0"/>
              <a:t>을 나타냄</a:t>
            </a:r>
            <a:r>
              <a:rPr lang="en-US" altLang="ko-KR" dirty="0"/>
              <a:t>(100</a:t>
            </a:r>
            <a:r>
              <a:rPr lang="ko-KR" altLang="en-US" dirty="0"/>
              <a:t>을 포함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765070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419F2C3-8484-497E-A0AA-362AE7AB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 </a:t>
            </a:r>
            <a:r>
              <a:rPr lang="en-US" altLang="ko-KR" dirty="0"/>
              <a:t>01 - </a:t>
            </a:r>
            <a:r>
              <a:rPr lang="ko-KR" altLang="en-US" dirty="0"/>
              <a:t>코드</a:t>
            </a: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5AC18684-AC5A-4C06-A709-E1F42A72A44F}"/>
              </a:ext>
            </a:extLst>
          </p:cNvPr>
          <p:cNvSpPr txBox="1">
            <a:spLocks/>
          </p:cNvSpPr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20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endParaRPr lang="en-US" altLang="ko-KR" sz="2000" b="1" dirty="0"/>
          </a:p>
          <a:p>
            <a:pPr lvl="1"/>
            <a:endParaRPr lang="ko-KR" altLang="en-US" sz="2000" b="1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8" name="직사각형 7"/>
          <p:cNvSpPr/>
          <p:nvPr/>
        </p:nvSpPr>
        <p:spPr>
          <a:xfrm>
            <a:off x="655931" y="1325594"/>
            <a:ext cx="10127411" cy="50665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en-US" altLang="ko-KR" sz="1400" dirty="0"/>
              <a:t>n = int(input("1~100 </a:t>
            </a:r>
            <a:r>
              <a:rPr lang="ko-KR" altLang="en-US" sz="1400" dirty="0"/>
              <a:t>사이의 정수를 한 개 입력하세요</a:t>
            </a:r>
            <a:r>
              <a:rPr lang="en-US" altLang="ko-KR" sz="1400" dirty="0"/>
              <a:t>:"))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while n &lt; 1 or n &gt; 100: 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    n = int(input("1~100 </a:t>
            </a:r>
            <a:r>
              <a:rPr lang="ko-KR" altLang="en-US" sz="1400" dirty="0"/>
              <a:t>사이의 정수를 한 개 입력하세요</a:t>
            </a:r>
            <a:r>
              <a:rPr lang="en-US" altLang="ko-KR" sz="1400" dirty="0"/>
              <a:t>: ")) </a:t>
            </a:r>
          </a:p>
          <a:p>
            <a:pPr fontAlgn="base">
              <a:lnSpc>
                <a:spcPct val="150000"/>
              </a:lnSpc>
            </a:pPr>
            <a:endParaRPr lang="en-US" altLang="ko-KR" sz="1400" dirty="0"/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print(n)</a:t>
            </a:r>
          </a:p>
          <a:p>
            <a:pPr fontAlgn="base">
              <a:lnSpc>
                <a:spcPct val="150000"/>
              </a:lnSpc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536848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419F2C3-8484-497E-A0AA-362AE7AB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 </a:t>
            </a:r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5AC18684-AC5A-4C06-A709-E1F42A72A44F}"/>
              </a:ext>
            </a:extLst>
          </p:cNvPr>
          <p:cNvSpPr txBox="1">
            <a:spLocks/>
          </p:cNvSpPr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20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ko-KR" altLang="en-US" sz="2000" b="1" dirty="0"/>
              <a:t>사용자 입력 받은 숫자 중 가장 큰 값 출력하기</a:t>
            </a:r>
            <a:endParaRPr lang="en-US" altLang="ko-KR" sz="2000" b="1" dirty="0"/>
          </a:p>
          <a:p>
            <a:pPr lvl="1"/>
            <a:endParaRPr lang="en-US" altLang="ko-KR" sz="2000" b="1" dirty="0"/>
          </a:p>
          <a:p>
            <a:pPr lvl="1"/>
            <a:endParaRPr lang="ko-KR" altLang="en-US" sz="2000" b="1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923350" y="1811548"/>
            <a:ext cx="10127411" cy="16821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ko-KR" altLang="en-US" dirty="0"/>
              <a:t>문제</a:t>
            </a:r>
            <a:r>
              <a:rPr lang="en-US" altLang="ko-KR" dirty="0"/>
              <a:t>: </a:t>
            </a:r>
          </a:p>
          <a:p>
            <a:pPr fontAlgn="base">
              <a:lnSpc>
                <a:spcPct val="150000"/>
              </a:lnSpc>
            </a:pPr>
            <a:r>
              <a:rPr lang="ko-KR" altLang="en-US" dirty="0"/>
              <a:t>사용자로부터 숫자 </a:t>
            </a:r>
            <a:r>
              <a:rPr lang="en-US" altLang="ko-KR" dirty="0"/>
              <a:t>5</a:t>
            </a:r>
            <a:r>
              <a:rPr lang="ko-KR" altLang="en-US" dirty="0"/>
              <a:t>개를 입력 받고</a:t>
            </a:r>
            <a:r>
              <a:rPr lang="en-US" altLang="ko-KR" dirty="0"/>
              <a:t>, </a:t>
            </a:r>
            <a:r>
              <a:rPr lang="ko-KR" altLang="en-US" dirty="0"/>
              <a:t>가장 큰 값을 </a:t>
            </a:r>
            <a:r>
              <a:rPr lang="ko-KR" altLang="en-US"/>
              <a:t>찾아서 화면에 </a:t>
            </a:r>
            <a:r>
              <a:rPr lang="ko-KR" altLang="en-US" dirty="0"/>
              <a:t>출력하는 프로그램을 작성하세요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923350" y="3620220"/>
            <a:ext cx="10127411" cy="16821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ko-KR" altLang="en-US" dirty="0"/>
              <a:t>조건</a:t>
            </a:r>
            <a:r>
              <a:rPr lang="en-US" altLang="ko-KR" dirty="0"/>
              <a:t>: </a:t>
            </a:r>
          </a:p>
          <a:p>
            <a:pPr fontAlgn="base">
              <a:lnSpc>
                <a:spcPct val="150000"/>
              </a:lnSpc>
            </a:pPr>
            <a:r>
              <a:rPr lang="ko-KR" altLang="en-US" dirty="0"/>
              <a:t>사용자가 입력하는 숫자 </a:t>
            </a:r>
            <a:r>
              <a:rPr lang="en-US" altLang="ko-KR" dirty="0"/>
              <a:t>5</a:t>
            </a:r>
            <a:r>
              <a:rPr lang="ko-KR" altLang="en-US" dirty="0"/>
              <a:t>개는 모두 </a:t>
            </a:r>
            <a:r>
              <a:rPr lang="en-US" altLang="ko-KR" dirty="0"/>
              <a:t>0</a:t>
            </a:r>
            <a:r>
              <a:rPr lang="ko-KR" altLang="en-US" dirty="0"/>
              <a:t>보다 큰 양수로 가정</a:t>
            </a:r>
          </a:p>
          <a:p>
            <a:pPr fontAlgn="base">
              <a:lnSpc>
                <a:spcPct val="150000"/>
              </a:lnSpc>
            </a:pPr>
            <a:r>
              <a:rPr lang="ko-KR" altLang="en-US" dirty="0"/>
              <a:t>자료의 정렬 알고리즘이 적용된 함수를 사용하지 않음</a:t>
            </a:r>
          </a:p>
        </p:txBody>
      </p:sp>
    </p:spTree>
    <p:extLst>
      <p:ext uri="{BB962C8B-B14F-4D97-AF65-F5344CB8AC3E}">
        <p14:creationId xmlns:p14="http://schemas.microsoft.com/office/powerpoint/2010/main" val="56081354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419F2C3-8484-497E-A0AA-362AE7AB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 </a:t>
            </a:r>
            <a:r>
              <a:rPr lang="en-US" altLang="ko-KR" dirty="0"/>
              <a:t>02 - </a:t>
            </a:r>
            <a:r>
              <a:rPr lang="ko-KR" altLang="en-US" dirty="0"/>
              <a:t>코드</a:t>
            </a: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5AC18684-AC5A-4C06-A709-E1F42A72A44F}"/>
              </a:ext>
            </a:extLst>
          </p:cNvPr>
          <p:cNvSpPr txBox="1">
            <a:spLocks/>
          </p:cNvSpPr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20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endParaRPr lang="en-US" altLang="ko-KR" sz="2000" b="1" dirty="0"/>
          </a:p>
          <a:p>
            <a:pPr lvl="1"/>
            <a:endParaRPr lang="ko-KR" altLang="en-US" sz="2000" b="1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8" name="직사각형 7"/>
          <p:cNvSpPr/>
          <p:nvPr/>
        </p:nvSpPr>
        <p:spPr>
          <a:xfrm>
            <a:off x="655931" y="1325594"/>
            <a:ext cx="10127411" cy="50665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en-US" altLang="ko-KR" sz="1400" dirty="0"/>
              <a:t>print("5</a:t>
            </a:r>
            <a:r>
              <a:rPr lang="ko-KR" altLang="en-US" sz="1400" dirty="0"/>
              <a:t>개 정수를 입력하면 가장 큰 값을 화면에 출력합니다</a:t>
            </a:r>
            <a:r>
              <a:rPr lang="en-US" altLang="ko-KR" sz="1400" dirty="0"/>
              <a:t>")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 err="1"/>
              <a:t>maxValue</a:t>
            </a:r>
            <a:r>
              <a:rPr lang="en-US" altLang="ko-KR" sz="1400" dirty="0"/>
              <a:t> = 0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count = 1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while count &lt; 6: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    n = int(input("0</a:t>
            </a:r>
            <a:r>
              <a:rPr lang="ko-KR" altLang="en-US" sz="1400" dirty="0"/>
              <a:t>보다 큰 정수 한 개를 입력하세요</a:t>
            </a:r>
            <a:r>
              <a:rPr lang="en-US" altLang="ko-KR" sz="1400" dirty="0"/>
              <a:t>: "))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    if n &gt; </a:t>
            </a:r>
            <a:r>
              <a:rPr lang="en-US" altLang="ko-KR" sz="1400" dirty="0" err="1"/>
              <a:t>maxValue</a:t>
            </a:r>
            <a:r>
              <a:rPr lang="en-US" altLang="ko-KR" sz="1400" dirty="0"/>
              <a:t>: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maxValue</a:t>
            </a:r>
            <a:r>
              <a:rPr lang="en-US" altLang="ko-KR" sz="1400" dirty="0"/>
              <a:t> = n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    count += 1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print("</a:t>
            </a:r>
            <a:r>
              <a:rPr lang="ko-KR" altLang="en-US" sz="1400" dirty="0"/>
              <a:t>최대값 </a:t>
            </a:r>
            <a:r>
              <a:rPr lang="en-US" altLang="ko-KR" sz="1400" dirty="0"/>
              <a:t>= %d" %</a:t>
            </a:r>
            <a:r>
              <a:rPr lang="en-US" altLang="ko-KR" sz="1400" dirty="0" err="1"/>
              <a:t>maxValue</a:t>
            </a:r>
            <a:r>
              <a:rPr lang="en-US" altLang="ko-KR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98721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419F2C3-8484-497E-A0AA-362AE7AB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 </a:t>
            </a:r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5AC18684-AC5A-4C06-A709-E1F42A72A44F}"/>
              </a:ext>
            </a:extLst>
          </p:cNvPr>
          <p:cNvSpPr txBox="1">
            <a:spLocks/>
          </p:cNvSpPr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20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ko-KR" altLang="en-US" sz="2000" b="1" dirty="0"/>
              <a:t>사용자 입력 받은 숫자 구구단 출력하기</a:t>
            </a:r>
            <a:endParaRPr lang="en-US" altLang="ko-KR" sz="2000" b="1" dirty="0"/>
          </a:p>
          <a:p>
            <a:pPr lvl="1"/>
            <a:endParaRPr lang="en-US" altLang="ko-KR" sz="2000" b="1" dirty="0"/>
          </a:p>
          <a:p>
            <a:pPr lvl="1"/>
            <a:endParaRPr lang="ko-KR" altLang="en-US" sz="2000" b="1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923350" y="1811548"/>
            <a:ext cx="10127411" cy="16821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ko-KR" altLang="en-US" dirty="0"/>
              <a:t>문제</a:t>
            </a:r>
            <a:r>
              <a:rPr lang="en-US" altLang="ko-KR" dirty="0"/>
              <a:t>: </a:t>
            </a:r>
          </a:p>
          <a:p>
            <a:pPr fontAlgn="base">
              <a:lnSpc>
                <a:spcPct val="150000"/>
              </a:lnSpc>
            </a:pPr>
            <a:r>
              <a:rPr lang="ko-KR" altLang="en-US" dirty="0"/>
              <a:t>사용자가 입력한 숫자에 대해 구구단을 출력하는 프로그램을 작성하세요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923350" y="3620220"/>
            <a:ext cx="10127411" cy="16821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ko-KR" altLang="en-US" dirty="0"/>
              <a:t>조건</a:t>
            </a:r>
            <a:r>
              <a:rPr lang="en-US" altLang="ko-KR" dirty="0"/>
              <a:t>: </a:t>
            </a:r>
          </a:p>
          <a:p>
            <a:pPr fontAlgn="base">
              <a:lnSpc>
                <a:spcPct val="150000"/>
              </a:lnSpc>
            </a:pPr>
            <a:r>
              <a:rPr lang="ko-KR" altLang="en-US" dirty="0"/>
              <a:t>양의 정수만 입력 받기</a:t>
            </a:r>
            <a:endParaRPr lang="en-US" altLang="ko-KR" dirty="0"/>
          </a:p>
          <a:p>
            <a:pPr fontAlgn="base">
              <a:lnSpc>
                <a:spcPct val="150000"/>
              </a:lnSpc>
            </a:pPr>
            <a:r>
              <a:rPr lang="ko-KR" altLang="en-US" dirty="0"/>
              <a:t>사용자가 </a:t>
            </a:r>
            <a:r>
              <a:rPr lang="en-US" altLang="ko-KR" dirty="0"/>
              <a:t>3</a:t>
            </a:r>
            <a:r>
              <a:rPr lang="ko-KR" altLang="en-US" dirty="0"/>
              <a:t>을 입력하면 </a:t>
            </a:r>
            <a:r>
              <a:rPr lang="en-US" altLang="ko-KR" dirty="0"/>
              <a:t>3</a:t>
            </a:r>
            <a:r>
              <a:rPr lang="ko-KR" altLang="en-US" dirty="0"/>
              <a:t>단을 출력</a:t>
            </a:r>
          </a:p>
        </p:txBody>
      </p:sp>
    </p:spTree>
    <p:extLst>
      <p:ext uri="{BB962C8B-B14F-4D97-AF65-F5344CB8AC3E}">
        <p14:creationId xmlns:p14="http://schemas.microsoft.com/office/powerpoint/2010/main" val="38942032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419F2C3-8484-497E-A0AA-362AE7AB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 </a:t>
            </a:r>
            <a:r>
              <a:rPr lang="en-US" altLang="ko-KR" dirty="0"/>
              <a:t>03 - </a:t>
            </a:r>
            <a:r>
              <a:rPr lang="ko-KR" altLang="en-US" dirty="0"/>
              <a:t>코드</a:t>
            </a: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5AC18684-AC5A-4C06-A709-E1F42A72A44F}"/>
              </a:ext>
            </a:extLst>
          </p:cNvPr>
          <p:cNvSpPr txBox="1">
            <a:spLocks/>
          </p:cNvSpPr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20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endParaRPr lang="en-US" altLang="ko-KR" sz="2000" b="1" dirty="0"/>
          </a:p>
          <a:p>
            <a:pPr lvl="1"/>
            <a:endParaRPr lang="ko-KR" altLang="en-US" sz="2000" b="1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8" name="직사각형 7"/>
          <p:cNvSpPr/>
          <p:nvPr/>
        </p:nvSpPr>
        <p:spPr>
          <a:xfrm>
            <a:off x="655931" y="1325594"/>
            <a:ext cx="10127411" cy="50665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en-US" altLang="ko-KR" sz="1400" dirty="0"/>
              <a:t>n = int(input("</a:t>
            </a:r>
            <a:r>
              <a:rPr lang="ko-KR" altLang="en-US" sz="1400" dirty="0"/>
              <a:t>구구단을 출력할 숫자를 입력하세요</a:t>
            </a:r>
            <a:r>
              <a:rPr lang="en-US" altLang="ko-KR" sz="1400" dirty="0"/>
              <a:t>: "))</a:t>
            </a:r>
          </a:p>
          <a:p>
            <a:pPr fontAlgn="base">
              <a:lnSpc>
                <a:spcPct val="150000"/>
              </a:lnSpc>
            </a:pPr>
            <a:endParaRPr lang="en-US" altLang="ko-KR" sz="1400" dirty="0"/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for i in range(1, 10):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    print("%3d x %3d = %3d" %(n, i, n*i))</a:t>
            </a:r>
          </a:p>
        </p:txBody>
      </p:sp>
    </p:spTree>
    <p:extLst>
      <p:ext uri="{BB962C8B-B14F-4D97-AF65-F5344CB8AC3E}">
        <p14:creationId xmlns:p14="http://schemas.microsoft.com/office/powerpoint/2010/main" val="17143777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419F2C3-8484-497E-A0AA-362AE7AB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 </a:t>
            </a:r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5AC18684-AC5A-4C06-A709-E1F42A72A44F}"/>
              </a:ext>
            </a:extLst>
          </p:cNvPr>
          <p:cNvSpPr txBox="1">
            <a:spLocks/>
          </p:cNvSpPr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20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ko-KR" altLang="en-US" sz="2000" b="1" dirty="0"/>
              <a:t>숫자의 약수와 약수들의 합 출력하기</a:t>
            </a:r>
            <a:endParaRPr lang="en-US" altLang="ko-KR" sz="2000" b="1" dirty="0"/>
          </a:p>
          <a:p>
            <a:pPr lvl="1"/>
            <a:endParaRPr lang="en-US" altLang="ko-KR" sz="2000" b="1" dirty="0"/>
          </a:p>
          <a:p>
            <a:pPr lvl="1"/>
            <a:endParaRPr lang="ko-KR" altLang="en-US" sz="2000" b="1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923350" y="1811548"/>
            <a:ext cx="10127411" cy="16821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ko-KR" altLang="en-US" dirty="0"/>
              <a:t>문제</a:t>
            </a:r>
            <a:r>
              <a:rPr lang="en-US" altLang="ko-KR" dirty="0"/>
              <a:t>: </a:t>
            </a:r>
          </a:p>
          <a:p>
            <a:pPr fontAlgn="base">
              <a:lnSpc>
                <a:spcPct val="150000"/>
              </a:lnSpc>
            </a:pPr>
            <a:r>
              <a:rPr lang="ko-KR" altLang="en-US" dirty="0"/>
              <a:t>정수의 약수들을 화면에 출력하고</a:t>
            </a:r>
            <a:r>
              <a:rPr lang="en-US" altLang="ko-KR" dirty="0"/>
              <a:t>, </a:t>
            </a:r>
            <a:r>
              <a:rPr lang="ko-KR" altLang="en-US" dirty="0"/>
              <a:t>약수들의 합을 출력하는 프로그램을 작성하세요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923350" y="3620220"/>
            <a:ext cx="10127411" cy="16821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ko-KR" altLang="en-US" dirty="0"/>
              <a:t>조건</a:t>
            </a:r>
            <a:r>
              <a:rPr lang="en-US" altLang="ko-KR" dirty="0"/>
              <a:t>: </a:t>
            </a:r>
          </a:p>
          <a:p>
            <a:pPr fontAlgn="base">
              <a:lnSpc>
                <a:spcPct val="150000"/>
              </a:lnSpc>
            </a:pPr>
            <a:r>
              <a:rPr lang="ko-KR" altLang="en-US" dirty="0"/>
              <a:t>정수를 한 개 입력 받기</a:t>
            </a:r>
            <a:endParaRPr lang="en-US" altLang="ko-KR" dirty="0"/>
          </a:p>
          <a:p>
            <a:pPr fontAlgn="base">
              <a:lnSpc>
                <a:spcPct val="150000"/>
              </a:lnSpc>
            </a:pPr>
            <a:r>
              <a:rPr lang="ko-KR" altLang="en-US" dirty="0"/>
              <a:t>약수를 한 줄에 모두 출력</a:t>
            </a:r>
            <a:r>
              <a:rPr lang="en-US" altLang="ko-KR" dirty="0"/>
              <a:t>(‘end‘ </a:t>
            </a:r>
            <a:r>
              <a:rPr lang="ko-KR" altLang="en-US" dirty="0"/>
              <a:t>키워드 사용</a:t>
            </a:r>
            <a:r>
              <a:rPr lang="en-US" altLang="ko-KR" dirty="0"/>
              <a:t>)</a:t>
            </a:r>
          </a:p>
          <a:p>
            <a:pPr fontAlgn="base">
              <a:lnSpc>
                <a:spcPct val="150000"/>
              </a:lnSpc>
            </a:pPr>
            <a:r>
              <a:rPr lang="ko-KR" altLang="en-US" dirty="0"/>
              <a:t>약수들의 합 출력</a:t>
            </a:r>
          </a:p>
        </p:txBody>
      </p:sp>
    </p:spTree>
    <p:extLst>
      <p:ext uri="{BB962C8B-B14F-4D97-AF65-F5344CB8AC3E}">
        <p14:creationId xmlns:p14="http://schemas.microsoft.com/office/powerpoint/2010/main" val="39645631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419F2C3-8484-497E-A0AA-362AE7AB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 </a:t>
            </a:r>
            <a:r>
              <a:rPr lang="en-US" altLang="ko-KR" dirty="0"/>
              <a:t>04 - </a:t>
            </a:r>
            <a:r>
              <a:rPr lang="ko-KR" altLang="en-US" dirty="0"/>
              <a:t>코드</a:t>
            </a: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5AC18684-AC5A-4C06-A709-E1F42A72A44F}"/>
              </a:ext>
            </a:extLst>
          </p:cNvPr>
          <p:cNvSpPr txBox="1">
            <a:spLocks/>
          </p:cNvSpPr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20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endParaRPr lang="en-US" altLang="ko-KR" sz="2000" b="1" dirty="0"/>
          </a:p>
          <a:p>
            <a:pPr lvl="1"/>
            <a:endParaRPr lang="ko-KR" altLang="en-US" sz="2000" b="1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8" name="직사각형 7"/>
          <p:cNvSpPr/>
          <p:nvPr/>
        </p:nvSpPr>
        <p:spPr>
          <a:xfrm>
            <a:off x="655931" y="1325594"/>
            <a:ext cx="10127411" cy="50665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en-US" altLang="ko-KR" sz="1400" dirty="0"/>
              <a:t>total=0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n = int(input("</a:t>
            </a:r>
            <a:r>
              <a:rPr lang="ko-KR" altLang="en-US" sz="1400" dirty="0"/>
              <a:t>약수를 구할 숫자를 입력하세요</a:t>
            </a:r>
            <a:r>
              <a:rPr lang="en-US" altLang="ko-KR" sz="1400" dirty="0"/>
              <a:t>: "))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print(f'{n}</a:t>
            </a:r>
            <a:r>
              <a:rPr lang="ko-KR" altLang="en-US" sz="1400" dirty="0"/>
              <a:t>의 약수들은 다음과 같습니다</a:t>
            </a:r>
            <a:r>
              <a:rPr lang="en-US" altLang="ko-KR" sz="1400" dirty="0"/>
              <a:t>.')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for i in range(1, n + 1):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   if n % i == 0: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       print(i, end=' ')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       total += i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print(f'\n{n}</a:t>
            </a:r>
            <a:r>
              <a:rPr lang="ko-KR" altLang="en-US" sz="1400" dirty="0"/>
              <a:t>의 약수들의 합은 </a:t>
            </a:r>
            <a:r>
              <a:rPr lang="en-US" altLang="ko-KR" sz="1400" dirty="0"/>
              <a:t>{total}')</a:t>
            </a:r>
          </a:p>
        </p:txBody>
      </p:sp>
    </p:spTree>
    <p:extLst>
      <p:ext uri="{BB962C8B-B14F-4D97-AF65-F5344CB8AC3E}">
        <p14:creationId xmlns:p14="http://schemas.microsoft.com/office/powerpoint/2010/main" val="8815614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419F2C3-8484-497E-A0AA-362AE7AB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 </a:t>
            </a:r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5AC18684-AC5A-4C06-A709-E1F42A72A44F}"/>
              </a:ext>
            </a:extLst>
          </p:cNvPr>
          <p:cNvSpPr txBox="1">
            <a:spLocks/>
          </p:cNvSpPr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20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ko-KR" altLang="en-US" sz="2000" b="1" dirty="0"/>
              <a:t>숫자 피라미드 출력하기</a:t>
            </a:r>
            <a:endParaRPr lang="en-US" altLang="ko-KR" sz="2000" b="1" dirty="0"/>
          </a:p>
          <a:p>
            <a:pPr lvl="1"/>
            <a:endParaRPr lang="en-US" altLang="ko-KR" sz="2000" b="1" dirty="0"/>
          </a:p>
          <a:p>
            <a:pPr lvl="1"/>
            <a:endParaRPr lang="ko-KR" altLang="en-US" sz="2000" b="1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923350" y="1811549"/>
            <a:ext cx="10127411" cy="14262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ko-KR" altLang="en-US" dirty="0"/>
              <a:t>문제</a:t>
            </a:r>
            <a:r>
              <a:rPr lang="en-US" altLang="ko-KR" dirty="0"/>
              <a:t>: </a:t>
            </a:r>
          </a:p>
          <a:p>
            <a:pPr fontAlgn="base">
              <a:lnSpc>
                <a:spcPct val="150000"/>
              </a:lnSpc>
            </a:pPr>
            <a:r>
              <a:rPr lang="ko-KR" altLang="en-US" dirty="0"/>
              <a:t>사용자로부터 입력 받은 숫자에 따라 숫자 피라미드를 출력하는 프로그램을 작성하세요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923350" y="3429000"/>
            <a:ext cx="10127411" cy="298094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ko-KR" altLang="en-US" dirty="0"/>
              <a:t>조건</a:t>
            </a:r>
            <a:r>
              <a:rPr lang="en-US" altLang="ko-KR" dirty="0"/>
              <a:t>: </a:t>
            </a:r>
          </a:p>
          <a:p>
            <a:pPr fontAlgn="base">
              <a:lnSpc>
                <a:spcPct val="150000"/>
              </a:lnSpc>
            </a:pPr>
            <a:r>
              <a:rPr lang="ko-KR" altLang="en-US" dirty="0"/>
              <a:t>입력이 </a:t>
            </a:r>
            <a:r>
              <a:rPr lang="en-US" altLang="ko-KR" dirty="0"/>
              <a:t>5</a:t>
            </a:r>
            <a:r>
              <a:rPr lang="ko-KR" altLang="en-US" dirty="0"/>
              <a:t>라면 다음과 같은 출력</a:t>
            </a:r>
            <a:endParaRPr lang="en-US" altLang="ko-KR" dirty="0"/>
          </a:p>
          <a:p>
            <a:pPr fontAlgn="base">
              <a:lnSpc>
                <a:spcPct val="150000"/>
              </a:lnSpc>
            </a:pPr>
            <a:r>
              <a:rPr lang="en-US" altLang="ko-KR" dirty="0"/>
              <a:t>1  </a:t>
            </a:r>
          </a:p>
          <a:p>
            <a:pPr fontAlgn="base">
              <a:lnSpc>
                <a:spcPct val="150000"/>
              </a:lnSpc>
            </a:pPr>
            <a:r>
              <a:rPr lang="en-US" altLang="ko-KR" dirty="0"/>
              <a:t>1 2  </a:t>
            </a:r>
          </a:p>
          <a:p>
            <a:pPr fontAlgn="base">
              <a:lnSpc>
                <a:spcPct val="150000"/>
              </a:lnSpc>
            </a:pPr>
            <a:r>
              <a:rPr lang="en-US" altLang="ko-KR" dirty="0"/>
              <a:t>1 2 3  </a:t>
            </a:r>
          </a:p>
          <a:p>
            <a:pPr fontAlgn="base">
              <a:lnSpc>
                <a:spcPct val="150000"/>
              </a:lnSpc>
            </a:pPr>
            <a:r>
              <a:rPr lang="en-US" altLang="ko-KR" dirty="0"/>
              <a:t>1 2 3 4  </a:t>
            </a:r>
          </a:p>
          <a:p>
            <a:pPr fontAlgn="base">
              <a:lnSpc>
                <a:spcPct val="150000"/>
              </a:lnSpc>
            </a:pPr>
            <a:r>
              <a:rPr lang="en-US" altLang="ko-KR" dirty="0"/>
              <a:t>1 2 3 4 5</a:t>
            </a:r>
          </a:p>
        </p:txBody>
      </p:sp>
    </p:spTree>
    <p:extLst>
      <p:ext uri="{BB962C8B-B14F-4D97-AF65-F5344CB8AC3E}">
        <p14:creationId xmlns:p14="http://schemas.microsoft.com/office/powerpoint/2010/main" val="18202594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419F2C3-8484-497E-A0AA-362AE7AB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 </a:t>
            </a:r>
            <a:r>
              <a:rPr lang="en-US" altLang="ko-KR" dirty="0"/>
              <a:t>05 - </a:t>
            </a:r>
            <a:r>
              <a:rPr lang="ko-KR" altLang="en-US" dirty="0"/>
              <a:t>코드</a:t>
            </a: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5AC18684-AC5A-4C06-A709-E1F42A72A44F}"/>
              </a:ext>
            </a:extLst>
          </p:cNvPr>
          <p:cNvSpPr txBox="1">
            <a:spLocks/>
          </p:cNvSpPr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20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endParaRPr lang="en-US" altLang="ko-KR" sz="2000" b="1" dirty="0"/>
          </a:p>
          <a:p>
            <a:pPr lvl="1"/>
            <a:endParaRPr lang="ko-KR" altLang="en-US" sz="2000" b="1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8" name="직사각형 7"/>
          <p:cNvSpPr/>
          <p:nvPr/>
        </p:nvSpPr>
        <p:spPr>
          <a:xfrm>
            <a:off x="655931" y="1325594"/>
            <a:ext cx="10127411" cy="50665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en-US" altLang="ko-KR" sz="1400" dirty="0"/>
              <a:t># </a:t>
            </a:r>
            <a:r>
              <a:rPr lang="ko-KR" altLang="en-US" sz="1400" dirty="0"/>
              <a:t>숫자 피라미드 출력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n = int(input("</a:t>
            </a:r>
            <a:r>
              <a:rPr lang="ko-KR" altLang="en-US" sz="1400" dirty="0"/>
              <a:t>피라미드의 높이를 입력하세요</a:t>
            </a:r>
            <a:r>
              <a:rPr lang="en-US" altLang="ko-KR" sz="1400" dirty="0"/>
              <a:t>: "))</a:t>
            </a:r>
          </a:p>
          <a:p>
            <a:pPr fontAlgn="base">
              <a:lnSpc>
                <a:spcPct val="150000"/>
              </a:lnSpc>
            </a:pPr>
            <a:endParaRPr lang="en-US" altLang="ko-KR" sz="1400" dirty="0"/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for i in range(1, n + 1):  # 1</a:t>
            </a:r>
            <a:r>
              <a:rPr lang="ko-KR" altLang="en-US" sz="1400" dirty="0"/>
              <a:t>부터 </a:t>
            </a:r>
            <a:r>
              <a:rPr lang="en-US" altLang="ko-KR" sz="1400" dirty="0"/>
              <a:t>n</a:t>
            </a:r>
            <a:r>
              <a:rPr lang="ko-KR" altLang="en-US" sz="1400" dirty="0"/>
              <a:t>까지 반복</a:t>
            </a:r>
          </a:p>
          <a:p>
            <a:pPr fontAlgn="base">
              <a:lnSpc>
                <a:spcPct val="150000"/>
              </a:lnSpc>
            </a:pPr>
            <a:r>
              <a:rPr lang="ko-KR" altLang="en-US" sz="1400" dirty="0"/>
              <a:t>    </a:t>
            </a:r>
            <a:r>
              <a:rPr lang="en-US" altLang="ko-KR" sz="1400" dirty="0"/>
              <a:t>for j in range(1, i + 1):  # </a:t>
            </a:r>
            <a:r>
              <a:rPr lang="ko-KR" altLang="en-US" sz="1400" dirty="0"/>
              <a:t>각 줄에서 숫자를 </a:t>
            </a:r>
            <a:r>
              <a:rPr lang="en-US" altLang="ko-KR" sz="1400" dirty="0"/>
              <a:t>1</a:t>
            </a:r>
            <a:r>
              <a:rPr lang="ko-KR" altLang="en-US" sz="1400" dirty="0"/>
              <a:t>부터 </a:t>
            </a:r>
            <a:r>
              <a:rPr lang="en-US" altLang="ko-KR" sz="1400" dirty="0"/>
              <a:t>i</a:t>
            </a:r>
            <a:r>
              <a:rPr lang="ko-KR" altLang="en-US" sz="1400" dirty="0"/>
              <a:t>까지 출력</a:t>
            </a:r>
          </a:p>
          <a:p>
            <a:pPr fontAlgn="base">
              <a:lnSpc>
                <a:spcPct val="150000"/>
              </a:lnSpc>
            </a:pPr>
            <a:r>
              <a:rPr lang="ko-KR" altLang="en-US" sz="1400" dirty="0"/>
              <a:t>        </a:t>
            </a:r>
            <a:r>
              <a:rPr lang="en-US" altLang="ko-KR" sz="1400" dirty="0"/>
              <a:t>print(j, end=" ")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    print()  # </a:t>
            </a:r>
            <a:r>
              <a:rPr lang="ko-KR" altLang="en-US" sz="1400" dirty="0" err="1"/>
              <a:t>줄바꿈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4559974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419F2C3-8484-497E-A0AA-362AE7AB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 </a:t>
            </a:r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5AC18684-AC5A-4C06-A709-E1F42A72A44F}"/>
              </a:ext>
            </a:extLst>
          </p:cNvPr>
          <p:cNvSpPr txBox="1">
            <a:spLocks/>
          </p:cNvSpPr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20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ko-KR" altLang="en-US" sz="2000" b="1" dirty="0"/>
              <a:t>숫자 찾기 게임</a:t>
            </a:r>
            <a:endParaRPr lang="en-US" altLang="ko-KR" sz="2000" b="1" dirty="0"/>
          </a:p>
          <a:p>
            <a:pPr lvl="1"/>
            <a:endParaRPr lang="en-US" altLang="ko-KR" sz="2000" b="1" dirty="0"/>
          </a:p>
          <a:p>
            <a:pPr lvl="1"/>
            <a:endParaRPr lang="ko-KR" altLang="en-US" sz="2000" b="1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923350" y="1811549"/>
            <a:ext cx="10127411" cy="166600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ko-KR" altLang="en-US" dirty="0"/>
              <a:t>문제</a:t>
            </a:r>
            <a:r>
              <a:rPr lang="en-US" altLang="ko-KR" dirty="0"/>
              <a:t>: </a:t>
            </a:r>
          </a:p>
          <a:p>
            <a:pPr fontAlgn="base">
              <a:lnSpc>
                <a:spcPct val="150000"/>
              </a:lnSpc>
            </a:pPr>
            <a:r>
              <a:rPr lang="ko-KR" altLang="en-US" dirty="0"/>
              <a:t>사용자가 입력한 숫자를 </a:t>
            </a:r>
            <a:r>
              <a:rPr lang="en-US" altLang="ko-KR" dirty="0"/>
              <a:t>1</a:t>
            </a:r>
            <a:r>
              <a:rPr lang="ko-KR" altLang="en-US" dirty="0"/>
              <a:t>부터 순차적으로 출력하다가</a:t>
            </a:r>
            <a:r>
              <a:rPr lang="en-US" altLang="ko-KR" dirty="0"/>
              <a:t>, </a:t>
            </a:r>
            <a:r>
              <a:rPr lang="ko-KR" altLang="en-US" dirty="0"/>
              <a:t>특정 숫자에 도달하면 멈추는 프로그램을 작성하세요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923350" y="3825024"/>
            <a:ext cx="10127411" cy="258491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ko-KR" altLang="en-US" dirty="0"/>
              <a:t>조건</a:t>
            </a:r>
            <a:r>
              <a:rPr lang="en-US" altLang="ko-KR" dirty="0"/>
              <a:t>: </a:t>
            </a:r>
          </a:p>
          <a:p>
            <a:pPr fontAlgn="base">
              <a:lnSpc>
                <a:spcPct val="150000"/>
              </a:lnSpc>
            </a:pPr>
            <a:r>
              <a:rPr lang="ko-KR" altLang="en-US" dirty="0"/>
              <a:t>사용자가 </a:t>
            </a:r>
            <a:r>
              <a:rPr lang="en-US" altLang="ko-KR" dirty="0"/>
              <a:t>5</a:t>
            </a:r>
            <a:r>
              <a:rPr lang="ko-KR" altLang="en-US" dirty="0"/>
              <a:t>를 입력하면 </a:t>
            </a:r>
            <a:r>
              <a:rPr lang="en-US" altLang="ko-KR" dirty="0"/>
              <a:t>1, 2, 3, 4, 5 </a:t>
            </a:r>
            <a:r>
              <a:rPr lang="ko-KR" altLang="en-US" dirty="0"/>
              <a:t>출력 후 종료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068671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419F2C3-8484-497E-A0AA-362AE7AB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 </a:t>
            </a:r>
            <a:r>
              <a:rPr lang="en-US" altLang="ko-KR" dirty="0"/>
              <a:t>06 - </a:t>
            </a:r>
            <a:r>
              <a:rPr lang="ko-KR" altLang="en-US" dirty="0"/>
              <a:t>코드</a:t>
            </a: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5AC18684-AC5A-4C06-A709-E1F42A72A44F}"/>
              </a:ext>
            </a:extLst>
          </p:cNvPr>
          <p:cNvSpPr txBox="1">
            <a:spLocks/>
          </p:cNvSpPr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2000" b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8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endParaRPr lang="en-US" altLang="ko-KR" sz="2000" b="1" dirty="0"/>
          </a:p>
          <a:p>
            <a:pPr lvl="1"/>
            <a:endParaRPr lang="ko-KR" altLang="en-US" sz="2000" b="1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8" name="직사각형 7"/>
          <p:cNvSpPr/>
          <p:nvPr/>
        </p:nvSpPr>
        <p:spPr>
          <a:xfrm>
            <a:off x="655931" y="1325594"/>
            <a:ext cx="10127411" cy="50665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en-US" altLang="ko-KR" sz="1400" dirty="0"/>
              <a:t># </a:t>
            </a:r>
            <a:r>
              <a:rPr lang="ko-KR" altLang="en-US" sz="1400" dirty="0"/>
              <a:t>특정 숫자에 도달하면 멈추기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target = int(input("</a:t>
            </a:r>
            <a:r>
              <a:rPr lang="ko-KR" altLang="en-US" sz="1400" dirty="0"/>
              <a:t>숫자를 입력하세요</a:t>
            </a:r>
            <a:r>
              <a:rPr lang="en-US" altLang="ko-KR" sz="1400" dirty="0"/>
              <a:t>: "))</a:t>
            </a:r>
          </a:p>
          <a:p>
            <a:pPr fontAlgn="base">
              <a:lnSpc>
                <a:spcPct val="150000"/>
              </a:lnSpc>
            </a:pPr>
            <a:endParaRPr lang="en-US" altLang="ko-KR" sz="1400" dirty="0"/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for i in range(1, 101):  # 1</a:t>
            </a:r>
            <a:r>
              <a:rPr lang="ko-KR" altLang="en-US" sz="1400" dirty="0"/>
              <a:t>부터 </a:t>
            </a:r>
            <a:r>
              <a:rPr lang="en-US" altLang="ko-KR" sz="1400" dirty="0"/>
              <a:t>100</a:t>
            </a:r>
            <a:r>
              <a:rPr lang="ko-KR" altLang="en-US" sz="1400" dirty="0"/>
              <a:t>까지 순회</a:t>
            </a:r>
          </a:p>
          <a:p>
            <a:pPr fontAlgn="base">
              <a:lnSpc>
                <a:spcPct val="150000"/>
              </a:lnSpc>
            </a:pPr>
            <a:r>
              <a:rPr lang="ko-KR" altLang="en-US" sz="1400" dirty="0"/>
              <a:t>    </a:t>
            </a:r>
            <a:r>
              <a:rPr lang="en-US" altLang="ko-KR" sz="1400" dirty="0"/>
              <a:t>print(i)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    if i == target:  # </a:t>
            </a:r>
            <a:r>
              <a:rPr lang="ko-KR" altLang="en-US" sz="1400" dirty="0"/>
              <a:t>입력한 숫자에 도달하면 멈춤</a:t>
            </a:r>
          </a:p>
          <a:p>
            <a:pPr fontAlgn="base">
              <a:lnSpc>
                <a:spcPct val="150000"/>
              </a:lnSpc>
            </a:pPr>
            <a:r>
              <a:rPr lang="ko-KR" altLang="en-US" sz="1400" dirty="0"/>
              <a:t>        </a:t>
            </a:r>
            <a:r>
              <a:rPr lang="en-US" altLang="ko-KR" sz="1400" dirty="0"/>
              <a:t>print("</a:t>
            </a:r>
            <a:r>
              <a:rPr lang="ko-KR" altLang="en-US" sz="1400" dirty="0"/>
              <a:t>멈췄습니다</a:t>
            </a:r>
            <a:r>
              <a:rPr lang="en-US" altLang="ko-KR" sz="1400" dirty="0"/>
              <a:t>!")</a:t>
            </a:r>
          </a:p>
          <a:p>
            <a:pPr fontAlgn="base">
              <a:lnSpc>
                <a:spcPct val="150000"/>
              </a:lnSpc>
            </a:pPr>
            <a:r>
              <a:rPr lang="en-US" altLang="ko-KR" sz="1400" dirty="0"/>
              <a:t>        break</a:t>
            </a:r>
          </a:p>
        </p:txBody>
      </p:sp>
    </p:spTree>
    <p:extLst>
      <p:ext uri="{BB962C8B-B14F-4D97-AF65-F5344CB8AC3E}">
        <p14:creationId xmlns:p14="http://schemas.microsoft.com/office/powerpoint/2010/main" val="41239088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2032096"/>
      </p:ext>
    </p:extLst>
  </p:cSld>
  <p:clrMapOvr>
    <a:masterClrMapping/>
  </p:clrMapOvr>
</p:sld>
</file>

<file path=ppt/theme/theme1.xml><?xml version="1.0" encoding="utf-8"?>
<a:theme xmlns:a="http://schemas.openxmlformats.org/drawingml/2006/main" name="sw기초교육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>
            <a:latin typeface="+mj-ea"/>
            <a:ea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w기초교육" id="{25A1D60D-1808-4AE2-BBF1-EE2F98017057}" vid="{029A3734-9413-44E4-9FE2-9E0FECA4A3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sw기초교육</Template>
  <TotalTime>1188</TotalTime>
  <Words>4036</Words>
  <Application>Microsoft Office PowerPoint</Application>
  <PresentationFormat>와이드스크린</PresentationFormat>
  <Paragraphs>820</Paragraphs>
  <Slides>77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77</vt:i4>
      </vt:variant>
    </vt:vector>
  </HeadingPairs>
  <TitlesOfParts>
    <vt:vector size="86" baseType="lpstr">
      <vt:lpstr>맑은 고딕</vt:lpstr>
      <vt:lpstr>나눔바른고딕</vt:lpstr>
      <vt:lpstr>Arial</vt:lpstr>
      <vt:lpstr>Wingdings 2</vt:lpstr>
      <vt:lpstr>Webdings</vt:lpstr>
      <vt:lpstr>나눔고딕</vt:lpstr>
      <vt:lpstr>Wingdings</vt:lpstr>
      <vt:lpstr>배달의민족 주아</vt:lpstr>
      <vt:lpstr>sw기초교육</vt:lpstr>
      <vt:lpstr>창의적프로그래밍기초와 실습</vt:lpstr>
      <vt:lpstr>PowerPoint 프레젠테이션</vt:lpstr>
      <vt:lpstr>PowerPoint 프레젠테이션</vt:lpstr>
      <vt:lpstr>01. 반복문 이해</vt:lpstr>
      <vt:lpstr>01. 반복문 이해</vt:lpstr>
      <vt:lpstr>01. 반복문 이해</vt:lpstr>
      <vt:lpstr>PowerPoint 프레젠테이션</vt:lpstr>
      <vt:lpstr>02. while문</vt:lpstr>
      <vt:lpstr>02. while문</vt:lpstr>
      <vt:lpstr>02. while문</vt:lpstr>
      <vt:lpstr>02. while문</vt:lpstr>
      <vt:lpstr>02. while문</vt:lpstr>
      <vt:lpstr>02. while문</vt:lpstr>
      <vt:lpstr>02. while문</vt:lpstr>
      <vt:lpstr>02. while문</vt:lpstr>
      <vt:lpstr>02. while문</vt:lpstr>
      <vt:lpstr>02. while문</vt:lpstr>
      <vt:lpstr>02. while문</vt:lpstr>
      <vt:lpstr>02. 복습문제</vt:lpstr>
      <vt:lpstr>PowerPoint 프레젠테이션</vt:lpstr>
      <vt:lpstr>03.  for문</vt:lpstr>
      <vt:lpstr>03.  for문</vt:lpstr>
      <vt:lpstr>03.  for문</vt:lpstr>
      <vt:lpstr>03.  for문</vt:lpstr>
      <vt:lpstr>03.  for문</vt:lpstr>
      <vt:lpstr>03.  for문</vt:lpstr>
      <vt:lpstr>03.  for문</vt:lpstr>
      <vt:lpstr>03.  for문</vt:lpstr>
      <vt:lpstr>03.  for문  </vt:lpstr>
      <vt:lpstr>03.  for문</vt:lpstr>
      <vt:lpstr>03.  for문</vt:lpstr>
      <vt:lpstr>03.  for문</vt:lpstr>
      <vt:lpstr>03.  for문  </vt:lpstr>
      <vt:lpstr>03.  for문</vt:lpstr>
      <vt:lpstr>PowerPoint 프레젠테이션</vt:lpstr>
      <vt:lpstr>04. 조건문과 반복문</vt:lpstr>
      <vt:lpstr>04. 조건문과 반복문</vt:lpstr>
      <vt:lpstr>04. 조건문과 반복문</vt:lpstr>
      <vt:lpstr>04. 조건문과 반복문</vt:lpstr>
      <vt:lpstr>04. 조건문과 반복문</vt:lpstr>
      <vt:lpstr>04. 조건문과 반복문</vt:lpstr>
      <vt:lpstr>04. 조건문과 반복문</vt:lpstr>
      <vt:lpstr>04. 조건문과 반복문</vt:lpstr>
      <vt:lpstr>PowerPoint 프레젠테이션</vt:lpstr>
      <vt:lpstr>05. 중첩 반복문</vt:lpstr>
      <vt:lpstr>05. 중첩 반복문</vt:lpstr>
      <vt:lpstr>05. 중첩 반복문</vt:lpstr>
      <vt:lpstr>05. 중첩 반복문</vt:lpstr>
      <vt:lpstr>05. 중첩 반복문</vt:lpstr>
      <vt:lpstr>05. 복습문제</vt:lpstr>
      <vt:lpstr>PowerPoint 프레젠테이션</vt:lpstr>
      <vt:lpstr>06. break문</vt:lpstr>
      <vt:lpstr>06. break문</vt:lpstr>
      <vt:lpstr>06. break문</vt:lpstr>
      <vt:lpstr>06. break문</vt:lpstr>
      <vt:lpstr>06. break문</vt:lpstr>
      <vt:lpstr>PowerPoint 프레젠테이션</vt:lpstr>
      <vt:lpstr>07. continue문</vt:lpstr>
      <vt:lpstr>07. continue문</vt:lpstr>
      <vt:lpstr>07. continue문</vt:lpstr>
      <vt:lpstr>07. continue문</vt:lpstr>
      <vt:lpstr>07. continue문</vt:lpstr>
      <vt:lpstr>PowerPoint 프레젠테이션</vt:lpstr>
      <vt:lpstr>PowerPoint 프레젠테이션</vt:lpstr>
      <vt:lpstr>실습 문제 01</vt:lpstr>
      <vt:lpstr>실습 문제 01 - 코드</vt:lpstr>
      <vt:lpstr>실습 문제 02</vt:lpstr>
      <vt:lpstr>실습 문제 02 - 코드</vt:lpstr>
      <vt:lpstr>실습 문제 03</vt:lpstr>
      <vt:lpstr>실습 문제 03 - 코드</vt:lpstr>
      <vt:lpstr>실습 문제 04</vt:lpstr>
      <vt:lpstr>실습 문제 04 - 코드</vt:lpstr>
      <vt:lpstr>실습 문제 05</vt:lpstr>
      <vt:lpstr>실습 문제 05 - 코드</vt:lpstr>
      <vt:lpstr>실습 문제 06</vt:lpstr>
      <vt:lpstr>실습 문제 06 - 코드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AI리터러시</dc:title>
  <dc:creator>HYU</dc:creator>
  <cp:lastModifiedBy>user</cp:lastModifiedBy>
  <cp:revision>84</cp:revision>
  <dcterms:created xsi:type="dcterms:W3CDTF">2024-11-20T05:55:04Z</dcterms:created>
  <dcterms:modified xsi:type="dcterms:W3CDTF">2026-02-20T03:36:06Z</dcterms:modified>
</cp:coreProperties>
</file>