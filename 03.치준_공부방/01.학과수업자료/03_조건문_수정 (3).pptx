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4" roundtripDataSignature="AMtx7mjh2TuJDiJR9L6AeFEs3hLB96mHE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YU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D3EB22-93B9-4FC4-8DC9-D45979844767}">
  <a:tblStyle styleId="{CED3EB22-93B9-4FC4-8DC9-D45979844767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2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customschemas.google.com/relationships/presentationmetadata" Target="meta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1-15T05:14:28.974" idx="1">
    <p:pos x="1884" y="346"/>
    <p:text>실습 문제 제시하는 방법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rnf9Ns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1-15T05:15:41.861" idx="3">
    <p:pos x="2678" y="346"/>
    <p:text>코드는 텍스트로 작성해주세요.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rnf9Ns8"/>
      </p:ext>
    </p:extLst>
  </p:cm>
  <p:cm authorId="0" dt="2025-01-15T05:16:41.937" idx="2">
    <p:pos x="10" y="10"/>
    <p:text>기본 실습 예제외 수업에 필요하시다고 판단되면 코드 추가하여 사용해주세요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rnf9Ns4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Highlight_2">
  <p:cSld name="1_Highlight_2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78"/>
          <p:cNvGrpSpPr/>
          <p:nvPr/>
        </p:nvGrpSpPr>
        <p:grpSpPr>
          <a:xfrm>
            <a:off x="237267" y="1394761"/>
            <a:ext cx="11511164" cy="3243755"/>
            <a:chOff x="3252902" y="-104035"/>
            <a:chExt cx="7314774" cy="2061245"/>
          </a:xfrm>
        </p:grpSpPr>
        <p:sp>
          <p:nvSpPr>
            <p:cNvPr id="17" name="Google Shape;17;p78"/>
            <p:cNvSpPr/>
            <p:nvPr/>
          </p:nvSpPr>
          <p:spPr>
            <a:xfrm>
              <a:off x="3669024" y="354190"/>
              <a:ext cx="6898652" cy="1603020"/>
            </a:xfrm>
            <a:prstGeom prst="roundRect">
              <a:avLst>
                <a:gd name="adj" fmla="val 50000"/>
              </a:avLst>
            </a:prstGeom>
            <a:noFill/>
            <a:ln w="111125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18;p78"/>
            <p:cNvSpPr/>
            <p:nvPr/>
          </p:nvSpPr>
          <p:spPr>
            <a:xfrm>
              <a:off x="3792135" y="456251"/>
              <a:ext cx="6670037" cy="1398165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9" name="Google Shape;19;p7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flipH="1">
              <a:off x="3252902" y="-104035"/>
              <a:ext cx="1270322" cy="1310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78"/>
          <p:cNvSpPr txBox="1">
            <a:spLocks noGrp="1"/>
          </p:cNvSpPr>
          <p:nvPr>
            <p:ph type="ctrTitle"/>
          </p:nvPr>
        </p:nvSpPr>
        <p:spPr>
          <a:xfrm>
            <a:off x="1792138" y="2528619"/>
            <a:ext cx="9144000" cy="120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algun Gothic"/>
              <a:buNone/>
              <a:defRPr sz="60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8"/>
          <p:cNvSpPr txBox="1">
            <a:spLocks noGrp="1"/>
          </p:cNvSpPr>
          <p:nvPr>
            <p:ph type="subTitle" idx="1"/>
          </p:nvPr>
        </p:nvSpPr>
        <p:spPr>
          <a:xfrm>
            <a:off x="1766451" y="3863602"/>
            <a:ext cx="9144000" cy="55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algun Gothic"/>
              <a:buNone/>
              <a:defRPr sz="3600" b="1">
                <a:solidFill>
                  <a:srgbClr val="FFFFFF"/>
                </a:solidFill>
              </a:defRPr>
            </a:lvl1pPr>
            <a:lvl2pPr lvl="1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ims">
  <p:cSld name="Aims">
    <p:bg>
      <p:bgPr>
        <a:solidFill>
          <a:srgbClr val="2C3E5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9" descr="six white sticky notes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6664327" y="1330321"/>
            <a:ext cx="6858000" cy="419735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9"/>
          <p:cNvSpPr txBox="1"/>
          <p:nvPr/>
        </p:nvSpPr>
        <p:spPr>
          <a:xfrm>
            <a:off x="614977" y="831872"/>
            <a:ext cx="16735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08A01"/>
                </a:solidFill>
                <a:latin typeface="Arial"/>
                <a:ea typeface="Arial"/>
                <a:cs typeface="Arial"/>
                <a:sym typeface="Arial"/>
              </a:rPr>
              <a:t>학습 목표</a:t>
            </a:r>
            <a:endParaRPr sz="3000" b="1" i="0" u="none" strike="noStrike" cap="none">
              <a:solidFill>
                <a:srgbClr val="F08A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9"/>
          <p:cNvSpPr txBox="1">
            <a:spLocks noGrp="1"/>
          </p:cNvSpPr>
          <p:nvPr>
            <p:ph type="body" idx="1"/>
          </p:nvPr>
        </p:nvSpPr>
        <p:spPr>
          <a:xfrm>
            <a:off x="614363" y="1549400"/>
            <a:ext cx="6718300" cy="431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5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사용자 지정 레이아웃">
  <p:cSld name="2_사용자 지정 레이아웃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80"/>
          <p:cNvGrpSpPr/>
          <p:nvPr/>
        </p:nvGrpSpPr>
        <p:grpSpPr>
          <a:xfrm>
            <a:off x="2497449" y="2627490"/>
            <a:ext cx="6898652" cy="1603020"/>
            <a:chOff x="3442942" y="2949455"/>
            <a:chExt cx="4950516" cy="959090"/>
          </a:xfrm>
        </p:grpSpPr>
        <p:sp>
          <p:nvSpPr>
            <p:cNvPr id="28" name="Google Shape;28;p80"/>
            <p:cNvSpPr/>
            <p:nvPr/>
          </p:nvSpPr>
          <p:spPr>
            <a:xfrm>
              <a:off x="3442942" y="2949455"/>
              <a:ext cx="4950516" cy="959090"/>
            </a:xfrm>
            <a:prstGeom prst="roundRect">
              <a:avLst>
                <a:gd name="adj" fmla="val 50000"/>
              </a:avLst>
            </a:prstGeom>
            <a:noFill/>
            <a:ln w="111125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" name="Google Shape;29;p80"/>
            <p:cNvSpPr/>
            <p:nvPr/>
          </p:nvSpPr>
          <p:spPr>
            <a:xfrm>
              <a:off x="3543300" y="3033882"/>
              <a:ext cx="4737100" cy="787630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0" name="Google Shape;30;p80"/>
          <p:cNvCxnSpPr/>
          <p:nvPr/>
        </p:nvCxnSpPr>
        <p:spPr>
          <a:xfrm>
            <a:off x="5510192" y="2943089"/>
            <a:ext cx="0" cy="161419"/>
          </a:xfrm>
          <a:prstGeom prst="straightConnector1">
            <a:avLst/>
          </a:prstGeom>
          <a:noFill/>
          <a:ln w="50800" cap="rnd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0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0"/>
          <p:cNvSpPr txBox="1">
            <a:spLocks noGrp="1"/>
          </p:cNvSpPr>
          <p:nvPr>
            <p:ph type="body" idx="2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3" name="Google Shape;3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09891" y="2901368"/>
            <a:ext cx="1122492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>
  <p:cSld name="2_제목 및 내용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  <a:defRPr sz="3200" b="1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✔"/>
              <a:defRPr sz="2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✓"/>
              <a:def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lvl="3" indent="-3175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–"/>
              <a:defRPr sz="14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▪"/>
              <a:def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175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사용자 지정 레이아웃">
  <p:cSld name="3_사용자 지정 레이아웃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2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  <a:defRPr sz="3200" b="1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사용자 지정 레이아웃">
  <p:cSld name="4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83"/>
          <p:cNvGrpSpPr/>
          <p:nvPr/>
        </p:nvGrpSpPr>
        <p:grpSpPr>
          <a:xfrm>
            <a:off x="2497449" y="2627490"/>
            <a:ext cx="6898652" cy="1603020"/>
            <a:chOff x="3442942" y="2949455"/>
            <a:chExt cx="4950516" cy="959090"/>
          </a:xfrm>
        </p:grpSpPr>
        <p:sp>
          <p:nvSpPr>
            <p:cNvPr id="41" name="Google Shape;41;p83"/>
            <p:cNvSpPr/>
            <p:nvPr/>
          </p:nvSpPr>
          <p:spPr>
            <a:xfrm>
              <a:off x="3442942" y="2949455"/>
              <a:ext cx="4950516" cy="959090"/>
            </a:xfrm>
            <a:prstGeom prst="roundRect">
              <a:avLst>
                <a:gd name="adj" fmla="val 50000"/>
              </a:avLst>
            </a:prstGeom>
            <a:noFill/>
            <a:ln w="111125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" name="Google Shape;42;p83"/>
            <p:cNvSpPr/>
            <p:nvPr/>
          </p:nvSpPr>
          <p:spPr>
            <a:xfrm>
              <a:off x="3543300" y="3033882"/>
              <a:ext cx="4737100" cy="787630"/>
            </a:xfrm>
            <a:prstGeom prst="roundRect">
              <a:avLst>
                <a:gd name="adj" fmla="val 50000"/>
              </a:avLst>
            </a:prstGeom>
            <a:solidFill>
              <a:srgbClr val="2F4B80"/>
            </a:solidFill>
            <a:ln w="38100" cap="flat" cmpd="sng">
              <a:solidFill>
                <a:srgbClr val="2F4B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3" name="Google Shape;43;p83"/>
          <p:cNvCxnSpPr/>
          <p:nvPr/>
        </p:nvCxnSpPr>
        <p:spPr>
          <a:xfrm>
            <a:off x="5510192" y="2943089"/>
            <a:ext cx="0" cy="161419"/>
          </a:xfrm>
          <a:prstGeom prst="straightConnector1">
            <a:avLst/>
          </a:prstGeom>
          <a:noFill/>
          <a:ln w="50800" cap="rnd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83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3"/>
          <p:cNvSpPr txBox="1">
            <a:spLocks noGrp="1"/>
          </p:cNvSpPr>
          <p:nvPr>
            <p:ph type="body" idx="2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>
            <a:lvl1pPr marL="457200" lvl="0" indent="-22860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09891" y="2901368"/>
            <a:ext cx="1122492" cy="115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사용자 지정 레이아웃">
  <p:cSld name="1_사용자 지정 레이아웃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4"/>
          <p:cNvSpPr txBox="1">
            <a:spLocks noGrp="1"/>
          </p:cNvSpPr>
          <p:nvPr>
            <p:ph type="sldNum" idx="12"/>
          </p:nvPr>
        </p:nvSpPr>
        <p:spPr>
          <a:xfrm>
            <a:off x="11695704" y="6492875"/>
            <a:ext cx="48052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p84" descr="클립아트, 만화 영화, 일러스트레이션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7500" y="914400"/>
            <a:ext cx="5775354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ighlight_1">
  <p:cSld name="Highlight_1">
    <p:bg>
      <p:bgPr>
        <a:solidFill>
          <a:srgbClr val="2C3E5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5"/>
          <p:cNvGrpSpPr/>
          <p:nvPr/>
        </p:nvGrpSpPr>
        <p:grpSpPr>
          <a:xfrm>
            <a:off x="5822563" y="1551181"/>
            <a:ext cx="598275" cy="861774"/>
            <a:chOff x="5822563" y="1551181"/>
            <a:chExt cx="598275" cy="861774"/>
          </a:xfrm>
        </p:grpSpPr>
        <p:sp>
          <p:nvSpPr>
            <p:cNvPr id="52" name="Google Shape;52;p85"/>
            <p:cNvSpPr txBox="1"/>
            <p:nvPr/>
          </p:nvSpPr>
          <p:spPr>
            <a:xfrm>
              <a:off x="5822563" y="1551181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" name="Google Shape;53;p85"/>
            <p:cNvCxnSpPr/>
            <p:nvPr/>
          </p:nvCxnSpPr>
          <p:spPr>
            <a:xfrm>
              <a:off x="6420838" y="1851491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54" name="Google Shape;54;p85"/>
          <p:cNvGrpSpPr/>
          <p:nvPr/>
        </p:nvGrpSpPr>
        <p:grpSpPr>
          <a:xfrm>
            <a:off x="5803041" y="2998113"/>
            <a:ext cx="595586" cy="861774"/>
            <a:chOff x="5803041" y="2998114"/>
            <a:chExt cx="595586" cy="861774"/>
          </a:xfrm>
        </p:grpSpPr>
        <p:cxnSp>
          <p:nvCxnSpPr>
            <p:cNvPr id="55" name="Google Shape;55;p85"/>
            <p:cNvCxnSpPr/>
            <p:nvPr/>
          </p:nvCxnSpPr>
          <p:spPr>
            <a:xfrm>
              <a:off x="5803041" y="3298424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6" name="Google Shape;56;p85"/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" name="Google Shape;57;p85"/>
          <p:cNvGrpSpPr/>
          <p:nvPr/>
        </p:nvGrpSpPr>
        <p:grpSpPr>
          <a:xfrm>
            <a:off x="5822563" y="4445046"/>
            <a:ext cx="598275" cy="861774"/>
            <a:chOff x="5822563" y="4445046"/>
            <a:chExt cx="598275" cy="861774"/>
          </a:xfrm>
        </p:grpSpPr>
        <p:cxnSp>
          <p:nvCxnSpPr>
            <p:cNvPr id="58" name="Google Shape;58;p85"/>
            <p:cNvCxnSpPr/>
            <p:nvPr/>
          </p:nvCxnSpPr>
          <p:spPr>
            <a:xfrm>
              <a:off x="6420838" y="4745356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9" name="Google Shape;59;p85"/>
            <p:cNvSpPr txBox="1"/>
            <p:nvPr/>
          </p:nvSpPr>
          <p:spPr>
            <a:xfrm>
              <a:off x="5822563" y="4445046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60;p85"/>
          <p:cNvCxnSpPr/>
          <p:nvPr/>
        </p:nvCxnSpPr>
        <p:spPr>
          <a:xfrm>
            <a:off x="749754" y="433269"/>
            <a:ext cx="0" cy="623406"/>
          </a:xfrm>
          <a:prstGeom prst="straightConnector1">
            <a:avLst/>
          </a:prstGeom>
          <a:noFill/>
          <a:ln w="63500" cap="flat" cmpd="sng">
            <a:solidFill>
              <a:srgbClr val="F08A0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85"/>
          <p:cNvSpPr txBox="1">
            <a:spLocks noGrp="1"/>
          </p:cNvSpPr>
          <p:nvPr>
            <p:ph type="body" idx="1"/>
          </p:nvPr>
        </p:nvSpPr>
        <p:spPr>
          <a:xfrm>
            <a:off x="6516098" y="1739360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5"/>
          <p:cNvSpPr txBox="1">
            <a:spLocks noGrp="1"/>
          </p:cNvSpPr>
          <p:nvPr>
            <p:ph type="body" idx="2"/>
          </p:nvPr>
        </p:nvSpPr>
        <p:spPr>
          <a:xfrm>
            <a:off x="4790578" y="3186292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5"/>
          <p:cNvSpPr txBox="1">
            <a:spLocks noGrp="1"/>
          </p:cNvSpPr>
          <p:nvPr>
            <p:ph type="body" idx="3"/>
          </p:nvPr>
        </p:nvSpPr>
        <p:spPr>
          <a:xfrm>
            <a:off x="6516098" y="4628294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5"/>
          <p:cNvSpPr txBox="1"/>
          <p:nvPr/>
        </p:nvSpPr>
        <p:spPr>
          <a:xfrm>
            <a:off x="883890" y="478023"/>
            <a:ext cx="161188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01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08A01"/>
                </a:solidFill>
                <a:latin typeface="Arial"/>
                <a:ea typeface="Arial"/>
                <a:cs typeface="Arial"/>
                <a:sym typeface="Arial"/>
              </a:rPr>
              <a:t>목차 </a:t>
            </a:r>
            <a:endParaRPr sz="3600" b="1" i="0" u="none" strike="noStrike" cap="none">
              <a:solidFill>
                <a:srgbClr val="F08A0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Highlight_1">
  <p:cSld name="2_Highlight_1">
    <p:bg>
      <p:bgPr>
        <a:solidFill>
          <a:srgbClr val="2C3E50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6"/>
          <p:cNvGrpSpPr/>
          <p:nvPr/>
        </p:nvGrpSpPr>
        <p:grpSpPr>
          <a:xfrm>
            <a:off x="5822563" y="1132081"/>
            <a:ext cx="598275" cy="861774"/>
            <a:chOff x="5822563" y="1551181"/>
            <a:chExt cx="598275" cy="861774"/>
          </a:xfrm>
        </p:grpSpPr>
        <p:sp>
          <p:nvSpPr>
            <p:cNvPr id="67" name="Google Shape;67;p86"/>
            <p:cNvSpPr txBox="1"/>
            <p:nvPr/>
          </p:nvSpPr>
          <p:spPr>
            <a:xfrm>
              <a:off x="5822563" y="1551181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" name="Google Shape;68;p86"/>
            <p:cNvCxnSpPr/>
            <p:nvPr/>
          </p:nvCxnSpPr>
          <p:spPr>
            <a:xfrm>
              <a:off x="6420838" y="1851491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9" name="Google Shape;69;p86"/>
          <p:cNvGrpSpPr/>
          <p:nvPr/>
        </p:nvGrpSpPr>
        <p:grpSpPr>
          <a:xfrm>
            <a:off x="5803041" y="2579013"/>
            <a:ext cx="595586" cy="861774"/>
            <a:chOff x="5803041" y="2998114"/>
            <a:chExt cx="595586" cy="861774"/>
          </a:xfrm>
        </p:grpSpPr>
        <p:cxnSp>
          <p:nvCxnSpPr>
            <p:cNvPr id="70" name="Google Shape;70;p86"/>
            <p:cNvCxnSpPr/>
            <p:nvPr/>
          </p:nvCxnSpPr>
          <p:spPr>
            <a:xfrm>
              <a:off x="5803041" y="3298424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1" name="Google Shape;71;p86"/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86"/>
          <p:cNvGrpSpPr/>
          <p:nvPr/>
        </p:nvGrpSpPr>
        <p:grpSpPr>
          <a:xfrm>
            <a:off x="5822563" y="4025946"/>
            <a:ext cx="598275" cy="861774"/>
            <a:chOff x="5822563" y="4445046"/>
            <a:chExt cx="598275" cy="861774"/>
          </a:xfrm>
        </p:grpSpPr>
        <p:cxnSp>
          <p:nvCxnSpPr>
            <p:cNvPr id="73" name="Google Shape;73;p86"/>
            <p:cNvCxnSpPr/>
            <p:nvPr/>
          </p:nvCxnSpPr>
          <p:spPr>
            <a:xfrm>
              <a:off x="6420838" y="4745356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4" name="Google Shape;74;p86"/>
            <p:cNvSpPr txBox="1"/>
            <p:nvPr/>
          </p:nvSpPr>
          <p:spPr>
            <a:xfrm>
              <a:off x="5822563" y="4445046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" name="Google Shape;75;p86"/>
          <p:cNvCxnSpPr/>
          <p:nvPr/>
        </p:nvCxnSpPr>
        <p:spPr>
          <a:xfrm>
            <a:off x="749754" y="433269"/>
            <a:ext cx="0" cy="623406"/>
          </a:xfrm>
          <a:prstGeom prst="straightConnector1">
            <a:avLst/>
          </a:prstGeom>
          <a:noFill/>
          <a:ln w="63500" cap="flat" cmpd="sng">
            <a:solidFill>
              <a:srgbClr val="F08A0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>
            <a:off x="6516098" y="1320260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body" idx="2"/>
          </p:nvPr>
        </p:nvSpPr>
        <p:spPr>
          <a:xfrm>
            <a:off x="4790578" y="2767192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body" idx="3"/>
          </p:nvPr>
        </p:nvSpPr>
        <p:spPr>
          <a:xfrm>
            <a:off x="6516098" y="4209194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/>
          <p:nvPr/>
        </p:nvSpPr>
        <p:spPr>
          <a:xfrm>
            <a:off x="883890" y="478023"/>
            <a:ext cx="161188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8A01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08A01"/>
                </a:solidFill>
                <a:latin typeface="Arial"/>
                <a:ea typeface="Arial"/>
                <a:cs typeface="Arial"/>
                <a:sym typeface="Arial"/>
              </a:rPr>
              <a:t>목차 </a:t>
            </a:r>
            <a:endParaRPr sz="3600" b="1" i="0" u="none" strike="noStrike" cap="none">
              <a:solidFill>
                <a:srgbClr val="F08A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6"/>
          <p:cNvGrpSpPr/>
          <p:nvPr/>
        </p:nvGrpSpPr>
        <p:grpSpPr>
          <a:xfrm>
            <a:off x="5822563" y="5313429"/>
            <a:ext cx="595586" cy="861774"/>
            <a:chOff x="5803041" y="2998114"/>
            <a:chExt cx="595586" cy="861774"/>
          </a:xfrm>
        </p:grpSpPr>
        <p:cxnSp>
          <p:nvCxnSpPr>
            <p:cNvPr id="81" name="Google Shape;81;p86"/>
            <p:cNvCxnSpPr/>
            <p:nvPr/>
          </p:nvCxnSpPr>
          <p:spPr>
            <a:xfrm>
              <a:off x="5803041" y="3298424"/>
              <a:ext cx="0" cy="261155"/>
            </a:xfrm>
            <a:prstGeom prst="straightConnector1">
              <a:avLst/>
            </a:prstGeom>
            <a:noFill/>
            <a:ln w="76200" cap="rnd" cmpd="sng">
              <a:solidFill>
                <a:schemeClr val="accent3">
                  <a:alpha val="69803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82" name="Google Shape;82;p86"/>
            <p:cNvSpPr txBox="1"/>
            <p:nvPr/>
          </p:nvSpPr>
          <p:spPr>
            <a:xfrm>
              <a:off x="5822563" y="2998114"/>
              <a:ext cx="576064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86"/>
          <p:cNvSpPr txBox="1">
            <a:spLocks noGrp="1"/>
          </p:cNvSpPr>
          <p:nvPr>
            <p:ph type="body" idx="4"/>
          </p:nvPr>
        </p:nvSpPr>
        <p:spPr>
          <a:xfrm>
            <a:off x="4810100" y="5501608"/>
            <a:ext cx="897682" cy="485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000" rIns="0" bIns="0" anchor="ctr" anchorCtr="0">
            <a:spAutoFit/>
          </a:bodyPr>
          <a:lstStyle>
            <a:lvl1pPr marL="457200" lvl="0" indent="-228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sz="3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>
  <p:cSld name="5_사용자 지정 레이아웃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7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  <a:defRPr sz="3200" b="1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제목 슬라이드" type="title">
  <p:cSld name="TITL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8"/>
          <p:cNvSpPr txBox="1">
            <a:spLocks noGrp="1"/>
          </p:cNvSpPr>
          <p:nvPr>
            <p:ph type="ctrTitle"/>
          </p:nvPr>
        </p:nvSpPr>
        <p:spPr>
          <a:xfrm>
            <a:off x="1524000" y="133479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8"/>
          <p:cNvSpPr txBox="1">
            <a:spLocks noGrp="1"/>
          </p:cNvSpPr>
          <p:nvPr>
            <p:ph type="subTitle" idx="1"/>
          </p:nvPr>
        </p:nvSpPr>
        <p:spPr>
          <a:xfrm>
            <a:off x="1524000" y="381447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sz="2400"/>
            </a:lvl1pPr>
            <a:lvl2pPr lvl="1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9" name="Google Shape;89;p8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0" name="Google Shape;90;p8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1" name="Google Shape;91;p8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7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7"/>
          <p:cNvSpPr txBox="1">
            <a:spLocks noGrp="1"/>
          </p:cNvSpPr>
          <p:nvPr>
            <p:ph type="body" idx="1"/>
          </p:nvPr>
        </p:nvSpPr>
        <p:spPr>
          <a:xfrm>
            <a:off x="539495" y="1435608"/>
            <a:ext cx="10929415" cy="397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302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302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02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pic>
        <p:nvPicPr>
          <p:cNvPr id="8" name="Google Shape;8;p77" descr="텍스트, 검은색이(가) 표시된 사진&#10;&#10;자동 생성된 설명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10112" y="532828"/>
            <a:ext cx="2477454" cy="53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7"/>
          <p:cNvSpPr/>
          <p:nvPr/>
        </p:nvSpPr>
        <p:spPr>
          <a:xfrm>
            <a:off x="11668872" y="6272594"/>
            <a:ext cx="302968" cy="302968"/>
          </a:xfrm>
          <a:prstGeom prst="ellipse">
            <a:avLst/>
          </a:prstGeom>
          <a:solidFill>
            <a:srgbClr val="2F4B80"/>
          </a:solidFill>
          <a:ln w="12700" cap="flat" cmpd="sng">
            <a:solidFill>
              <a:srgbClr val="2C3E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7"/>
          <p:cNvSpPr txBox="1"/>
          <p:nvPr/>
        </p:nvSpPr>
        <p:spPr>
          <a:xfrm>
            <a:off x="11668871" y="6342412"/>
            <a:ext cx="30296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77"/>
          <p:cNvCxnSpPr/>
          <p:nvPr/>
        </p:nvCxnSpPr>
        <p:spPr>
          <a:xfrm>
            <a:off x="539495" y="6459708"/>
            <a:ext cx="11048071" cy="0"/>
          </a:xfrm>
          <a:prstGeom prst="straightConnector1">
            <a:avLst/>
          </a:prstGeom>
          <a:noFill/>
          <a:ln w="25400" cap="flat" cmpd="sng">
            <a:solidFill>
              <a:srgbClr val="2C3E50"/>
            </a:solidFill>
            <a:prstDash val="solid"/>
            <a:miter lim="800000"/>
            <a:headEnd type="oval" w="sm" len="sm"/>
            <a:tailEnd type="oval" w="sm" len="sm"/>
          </a:ln>
        </p:spPr>
      </p:cxnSp>
      <p:cxnSp>
        <p:nvCxnSpPr>
          <p:cNvPr id="12" name="Google Shape;12;p77"/>
          <p:cNvCxnSpPr/>
          <p:nvPr/>
        </p:nvCxnSpPr>
        <p:spPr>
          <a:xfrm>
            <a:off x="539495" y="1185748"/>
            <a:ext cx="11048071" cy="0"/>
          </a:xfrm>
          <a:prstGeom prst="straightConnector1">
            <a:avLst/>
          </a:prstGeom>
          <a:noFill/>
          <a:ln w="25400" cap="flat" cmpd="sng">
            <a:solidFill>
              <a:srgbClr val="2C3E50"/>
            </a:solidFill>
            <a:prstDash val="solid"/>
            <a:miter lim="800000"/>
            <a:headEnd type="none" w="sm" len="sm"/>
            <a:tailEnd type="oval" w="sm" len="sm"/>
          </a:ln>
        </p:spPr>
      </p:cxnSp>
      <p:sp>
        <p:nvSpPr>
          <p:cNvPr id="13" name="Google Shape;13;p77"/>
          <p:cNvSpPr/>
          <p:nvPr/>
        </p:nvSpPr>
        <p:spPr>
          <a:xfrm rot="10800000" flipH="1">
            <a:off x="398922" y="1057083"/>
            <a:ext cx="140572" cy="140572"/>
          </a:xfrm>
          <a:prstGeom prst="teardrop">
            <a:avLst>
              <a:gd name="adj" fmla="val 100000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" name="Google Shape;14;p77"/>
          <p:cNvPicPr preferRelativeResize="0"/>
          <p:nvPr/>
        </p:nvPicPr>
        <p:blipFill rotWithShape="1">
          <a:blip r:embed="rId14">
            <a:alphaModFix/>
          </a:blip>
          <a:srcRect r="72812" b="1271"/>
          <a:stretch/>
        </p:blipFill>
        <p:spPr>
          <a:xfrm>
            <a:off x="290126" y="959696"/>
            <a:ext cx="358163" cy="35449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1792138" y="2528619"/>
            <a:ext cx="9144000" cy="120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ko-KR" altLang="en-US" sz="4800" dirty="0"/>
              <a:t>창의적프로그래밍기초와 실습</a:t>
            </a:r>
            <a:endParaRPr sz="4800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1766451" y="3863602"/>
            <a:ext cx="9144000" cy="55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algun Gothic"/>
              <a:buNone/>
            </a:pPr>
            <a:r>
              <a:rPr lang="en-US"/>
              <a:t>3주 조건문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614363" y="1549400"/>
            <a:ext cx="6718300" cy="431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lang="en-US"/>
              <a:t>조건문 종류와 구조를 이해 할 수 있고 사용 할 수 있다.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▪"/>
            </a:pPr>
            <a:r>
              <a:rPr lang="en-US"/>
              <a:t>관계연산자와 논리연산자를 비교하여 설명 할 수 있다.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01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2"/>
          </p:nvPr>
        </p:nvSpPr>
        <p:spPr>
          <a:xfrm>
            <a:off x="4013206" y="3382375"/>
            <a:ext cx="3883984" cy="45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조건문 이해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01. 조건문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조건문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다양한 선택에 따라서 다른 실행을 할 수 있으며, 조건에 의해서 코드의 흐름에 영향을 끼치는 문장</a:t>
            </a:r>
            <a:endParaRPr/>
          </a:p>
          <a:p>
            <a:pPr marL="468000" lvl="0" indent="-2857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선택에 따라서 다른 것을 실행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프로그램을 작성하다 보면 현재 상황을 확인하고 여러 가지 선택 중 한 가지를 결정해서 실행해야 하는 경우가 발생함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자동차를 운전할 때도 신호등 색이  빨간색으로 신호가 바뀔 때까지 운전을 멈추고 기다림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여러 가지 선택 중 한 가지를 실행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영화, 뮤지컬 티켓 등은 좌석의 위치에 따라 차등해서 금액이 결정</a:t>
            </a:r>
            <a:endParaRPr/>
          </a:p>
          <a:p>
            <a:pPr marL="46800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01. 조건문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조건문의 종류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조건식의 개수 및 분기에 따라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조건식이 1개일 경우 단일 조건문(if 또는 if-else)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조건식이 2개 이상일 경우 다중 조건문(if-elif-else)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조건문 안에 또 다른 조건문이 포함 될 경우 중첩 조건문(중첩 if)</a:t>
            </a:r>
            <a:endParaRPr/>
          </a:p>
          <a:p>
            <a:pPr marL="46800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02</a:t>
            </a:r>
            <a:endParaRPr/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2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관계 및 논리연산자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논리형 데이터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참과 거짓으로 표현할 수 있는 데이터 타입을 논리형 데이터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디지털 세상에서 컴퓨터가 이해 하는 언어는 결국 0과1로 이루어진 이진수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0은 보통 거짓을 의미하고, 1은 참을 의미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파이썬은 참은 ‘True’, 거짓은 ‘False’로 표현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특정 데이터를 논리형 데이터로 변환하는 함수는 bool()함수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 bool()함수는 정수 0 또는 실수 0.0 또는 비어있는 문자열이면 False를 반환 이외에 값이 존재하는 경우 True를 반환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조건식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/>
              <a:t>식(또는 변수, 값)을 또다른 식(또는 변수, 값)과 관계 연산자(비교 연산자)를 사용하여 비교하는 식</a:t>
            </a:r>
            <a:r>
              <a:rPr lang="en-US"/>
              <a:t>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변수가 포함되어 있기 때문에 그 자체로는 명제가 될 수 없어 변수값이 결정된 이후에 참인지 거짓인지를 판별할 수 있는 수식을 의미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형식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예 : x&lt;0 이라는 식은 변수 x에 -1이 들어오면 참이고 5가 들어오면 거짓으로 판별 되므로 조건식이 됨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871932" y="3588589"/>
            <a:ext cx="2406770" cy="41406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식1 관계연산자 식2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45" name="Google Shape;145;p9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관계연산자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 b="0"/>
              <a:t>True와 False를 구분하는 연산자</a:t>
            </a:r>
            <a:endParaRPr sz="1600" b="0"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b="0"/>
              <a:t>조건식에 대한 예로 x&lt;y 의 수식을 예로 들어보자.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 b="0"/>
              <a:t>이 수식의 의미는 “x가 y 보다 작은가“인데 x에   -1, y 에 0을 대입하면, 참으로 판별되는 조건식  </a:t>
            </a:r>
            <a:endParaRPr b="0"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 b="0"/>
              <a:t>조건식의 결과는 참 혹은 거짓 중 하나로 나타남 </a:t>
            </a:r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관계연산자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400"/>
              <a:buChar char="✓"/>
            </a:pPr>
            <a:r>
              <a:rPr lang="en-US" sz="1400" b="0"/>
              <a:t>연산자를 사용하여 True와 False를 구분할 수 있다</a:t>
            </a:r>
            <a:endParaRPr b="0"/>
          </a:p>
        </p:txBody>
      </p:sp>
      <p:graphicFrame>
        <p:nvGraphicFramePr>
          <p:cNvPr id="152" name="Google Shape;152;p10"/>
          <p:cNvGraphicFramePr/>
          <p:nvPr/>
        </p:nvGraphicFramePr>
        <p:xfrm>
          <a:off x="1338231" y="240563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{CED3EB22-93B9-4FC4-8DC9-D45979844767}</a:tableStyleId>
              </a:tblPr>
              <a:tblGrid>
                <a:gridCol w="11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연산자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설명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예 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==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양쪽이 같다(같으면 True, 다르면 False).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== 3 → True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1 == 7 → False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!=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양쪽이 다르다(다르면 True, 같으면 False).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!= 3 → False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1 != 7 → True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&lt;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왼쪽이 오른쪽보다 작다.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&lt; 7 → True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&lt; 3 → False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&gt;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왼쪽이 오른쪽보다 크다.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7 &gt; 3 → True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7 &gt; 7 → False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&lt;=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왼쪽이 오른쪽보다 작거나 같다.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&lt;= 7 → True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3 &lt;= 3 → True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&gt;=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왼쪽이 오른쪽보다 크거나 같다.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7 &gt;= 3 → True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dk1"/>
                          </a:solidFill>
                        </a:rPr>
                        <a:t>7 &gt;= 7 → True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비교 연산자(==)와 대입 연산자(=) 헷갈리지 말기!!</a:t>
            </a:r>
            <a:endParaRPr/>
          </a:p>
        </p:txBody>
      </p:sp>
      <p:graphicFrame>
        <p:nvGraphicFramePr>
          <p:cNvPr id="159" name="Google Shape;159;p11"/>
          <p:cNvGraphicFramePr/>
          <p:nvPr/>
        </p:nvGraphicFramePr>
        <p:xfrm>
          <a:off x="1625065" y="2226584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{CED3EB22-93B9-4FC4-8DC9-D45979844767}</a:tableStyleId>
              </a:tblPr>
              <a:tblGrid>
                <a:gridCol w="147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연산자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설명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3==7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3과 7이 같은지 판단(False)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a=3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변수 a에 3을 저장</a:t>
                      </a:r>
                      <a:endParaRPr sz="18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a==3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변수 a에 저장된 값이 3과 같은지 판단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※현재 a에 저장된 값에 따라 True인지 False인지 결정</a:t>
                      </a:r>
                      <a:endParaRPr sz="18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02. 관계 및 논리 연산자</a:t>
            </a:r>
            <a:endParaRPr/>
          </a:p>
        </p:txBody>
      </p:sp>
      <p:sp>
        <p:nvSpPr>
          <p:cNvPr id="165" name="Google Shape;165;p12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논리연산자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조건 표현식을 조합해서 코드를 간결하게 만들 수 있음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and, or, not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and는 둘 다 참이어야 True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or는 둘 중 하나만 참이어도 True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not은 참이면 False이고 거짓이면 True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num 변수가 5 이상 10 미만을 논리 연산자로 표현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aphicFrame>
        <p:nvGraphicFramePr>
          <p:cNvPr id="166" name="Google Shape;166;p12"/>
          <p:cNvGraphicFramePr/>
          <p:nvPr/>
        </p:nvGraphicFramePr>
        <p:xfrm>
          <a:off x="5391509" y="26384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{CED3EB22-93B9-4FC4-8DC9-D45979844767}</a:tableStyleId>
              </a:tblPr>
              <a:tblGrid>
                <a:gridCol w="133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피연산자 A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피연산자 B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 and B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A or B 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not A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80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p12"/>
          <p:cNvSpPr txBox="1"/>
          <p:nvPr/>
        </p:nvSpPr>
        <p:spPr>
          <a:xfrm>
            <a:off x="1503077" y="5422393"/>
            <a:ext cx="3888432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&lt;= num and num &lt; 10</a:t>
            </a: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6283751" y="5422393"/>
            <a:ext cx="2393604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&lt;= num &lt; 10</a:t>
            </a:r>
            <a:endParaRPr/>
          </a:p>
        </p:txBody>
      </p:sp>
      <p:sp>
        <p:nvSpPr>
          <p:cNvPr id="169" name="Google Shape;169;p12"/>
          <p:cNvSpPr/>
          <p:nvPr/>
        </p:nvSpPr>
        <p:spPr>
          <a:xfrm>
            <a:off x="5676180" y="5555411"/>
            <a:ext cx="370936" cy="224287"/>
          </a:xfrm>
          <a:prstGeom prst="leftRightArrow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82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03</a:t>
            </a:r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2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 if 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</a:t>
            </a:r>
            <a:endParaRPr/>
          </a:p>
        </p:txBody>
      </p:sp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구조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파이썬에서는 의사 결정을 내릴 때 쓸 수 있는 가장 간단한 ‘if 조건문’을 사용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코드가 ‘if’ 문을 만나면 조건식(불식)을 계산해 검사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</a:pPr>
            <a:r>
              <a:rPr lang="en-US" sz="1200"/>
              <a:t>검사 결과 조건식이 참이면 ‘if’ 다음에 오는 문장을 실행하고 </a:t>
            </a:r>
            <a:endParaRPr sz="1200"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–"/>
            </a:pPr>
            <a:r>
              <a:rPr lang="en-US" sz="1200"/>
              <a:t>조건식이 거짓이면 다음 문장을 실행하지 않고 그 다음으로 넘어 감</a:t>
            </a:r>
            <a:endParaRPr sz="400"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1981657" y="4269146"/>
            <a:ext cx="1374612" cy="1296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조건식:</a:t>
            </a:r>
            <a:endParaRPr sz="15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 sz="15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 </a:t>
            </a:r>
            <a:endParaRPr sz="15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14"/>
          <p:cNvGrpSpPr/>
          <p:nvPr/>
        </p:nvGrpSpPr>
        <p:grpSpPr>
          <a:xfrm>
            <a:off x="3573427" y="4052130"/>
            <a:ext cx="1903787" cy="1712370"/>
            <a:chOff x="4315748" y="1915815"/>
            <a:chExt cx="1903787" cy="1712370"/>
          </a:xfrm>
        </p:grpSpPr>
        <p:sp>
          <p:nvSpPr>
            <p:cNvPr id="184" name="Google Shape;184;p14"/>
            <p:cNvSpPr txBox="1"/>
            <p:nvPr/>
          </p:nvSpPr>
          <p:spPr>
            <a:xfrm>
              <a:off x="4909911" y="2411138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5" name="Google Shape;185;p14"/>
            <p:cNvSpPr txBox="1"/>
            <p:nvPr/>
          </p:nvSpPr>
          <p:spPr>
            <a:xfrm>
              <a:off x="5652700" y="2064289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4318526" y="2158703"/>
              <a:ext cx="1401205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</a:t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4315748" y="2684662"/>
              <a:ext cx="1401204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88" name="Google Shape;188;p14"/>
            <p:cNvCxnSpPr>
              <a:stCxn id="186" idx="2"/>
              <a:endCxn id="187" idx="0"/>
            </p:cNvCxnSpPr>
            <p:nvPr/>
          </p:nvCxnSpPr>
          <p:spPr>
            <a:xfrm flipH="1">
              <a:off x="5016429" y="2446703"/>
              <a:ext cx="2700" cy="2379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9" name="Google Shape;189;p14"/>
            <p:cNvSpPr txBox="1"/>
            <p:nvPr/>
          </p:nvSpPr>
          <p:spPr>
            <a:xfrm>
              <a:off x="4382112" y="1915815"/>
              <a:ext cx="12705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190" name="Google Shape;190;p14"/>
            <p:cNvCxnSpPr>
              <a:stCxn id="187" idx="2"/>
              <a:endCxn id="191" idx="0"/>
            </p:cNvCxnSpPr>
            <p:nvPr/>
          </p:nvCxnSpPr>
          <p:spPr>
            <a:xfrm>
              <a:off x="5016350" y="2936662"/>
              <a:ext cx="0" cy="1515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92" name="Google Shape;192;p14"/>
            <p:cNvCxnSpPr>
              <a:stCxn id="186" idx="3"/>
            </p:cNvCxnSpPr>
            <p:nvPr/>
          </p:nvCxnSpPr>
          <p:spPr>
            <a:xfrm flipH="1">
              <a:off x="5016231" y="2302703"/>
              <a:ext cx="703500" cy="1136400"/>
            </a:xfrm>
            <a:prstGeom prst="bentConnector3">
              <a:avLst>
                <a:gd name="adj1" fmla="val -165119"/>
              </a:avLst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91" name="Google Shape;191;p14"/>
            <p:cNvSpPr/>
            <p:nvPr/>
          </p:nvSpPr>
          <p:spPr>
            <a:xfrm>
              <a:off x="4315748" y="3088185"/>
              <a:ext cx="1401204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93" name="Google Shape;193;p14"/>
            <p:cNvCxnSpPr>
              <a:stCxn id="191" idx="2"/>
            </p:cNvCxnSpPr>
            <p:nvPr/>
          </p:nvCxnSpPr>
          <p:spPr>
            <a:xfrm>
              <a:off x="5016350" y="3340185"/>
              <a:ext cx="0" cy="288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94" name="Google Shape;194;p14"/>
          <p:cNvSpPr/>
          <p:nvPr/>
        </p:nvSpPr>
        <p:spPr>
          <a:xfrm>
            <a:off x="5535143" y="4529841"/>
            <a:ext cx="4099770" cy="8925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000" marR="0" lvl="0" indent="-180000" algn="l" rtl="0">
              <a:spcBef>
                <a:spcPts val="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조건식이 참이라면 코드1, 코드2, ⋯⋯ 을 실행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조건식이 거짓이라면 코드1, 코드2를 실행하지 않고 건너 띔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</a:t>
            </a:r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header 구성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/>
              <a:t>‘if’ 문의 header는 if, 변수, 비교 연산자, 값 그리고 조건의 끝을 나타내는 :(콜론)으로 구성</a:t>
            </a:r>
            <a:r>
              <a:rPr lang="en-US"/>
              <a:t> 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201" name="Google Shape;201;p15"/>
          <p:cNvGrpSpPr/>
          <p:nvPr/>
        </p:nvGrpSpPr>
        <p:grpSpPr>
          <a:xfrm>
            <a:off x="3672396" y="2929629"/>
            <a:ext cx="3065755" cy="1686759"/>
            <a:chOff x="8501849" y="2192782"/>
            <a:chExt cx="3065755" cy="1686759"/>
          </a:xfrm>
        </p:grpSpPr>
        <p:sp>
          <p:nvSpPr>
            <p:cNvPr id="202" name="Google Shape;202;p15"/>
            <p:cNvSpPr/>
            <p:nvPr/>
          </p:nvSpPr>
          <p:spPr>
            <a:xfrm>
              <a:off x="8501849" y="2192782"/>
              <a:ext cx="3065755" cy="1686759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203" name="Google Shape;203;p15"/>
            <p:cNvGrpSpPr/>
            <p:nvPr/>
          </p:nvGrpSpPr>
          <p:grpSpPr>
            <a:xfrm>
              <a:off x="8723790" y="2308749"/>
              <a:ext cx="2740244" cy="1570792"/>
              <a:chOff x="4015669" y="2575079"/>
              <a:chExt cx="2740244" cy="1570792"/>
            </a:xfrm>
          </p:grpSpPr>
          <p:sp>
            <p:nvSpPr>
              <p:cNvPr id="204" name="Google Shape;204;p15"/>
              <p:cNvSpPr/>
              <p:nvPr/>
            </p:nvSpPr>
            <p:spPr>
              <a:xfrm>
                <a:off x="4591735" y="2575079"/>
                <a:ext cx="1620000" cy="15707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if a &gt;= 20 :</a:t>
                </a:r>
                <a:endParaRPr/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코드1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⋮</a:t>
                </a:r>
                <a:endParaRPr/>
              </a:p>
            </p:txBody>
          </p:sp>
          <p:cxnSp>
            <p:nvCxnSpPr>
              <p:cNvPr id="205" name="Google Shape;205;p15"/>
              <p:cNvCxnSpPr/>
              <p:nvPr/>
            </p:nvCxnSpPr>
            <p:spPr>
              <a:xfrm>
                <a:off x="4847208" y="2876365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6" name="Google Shape;206;p15"/>
              <p:cNvCxnSpPr/>
              <p:nvPr/>
            </p:nvCxnSpPr>
            <p:spPr>
              <a:xfrm>
                <a:off x="5035119" y="2876365"/>
                <a:ext cx="25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7" name="Google Shape;207;p15"/>
              <p:cNvCxnSpPr/>
              <p:nvPr/>
            </p:nvCxnSpPr>
            <p:spPr>
              <a:xfrm>
                <a:off x="5363588" y="2877846"/>
                <a:ext cx="18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8" name="Google Shape;208;p15"/>
              <p:cNvCxnSpPr/>
              <p:nvPr/>
            </p:nvCxnSpPr>
            <p:spPr>
              <a:xfrm>
                <a:off x="5594411" y="2877842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209" name="Google Shape;209;p15"/>
              <p:cNvGrpSpPr/>
              <p:nvPr/>
            </p:nvGrpSpPr>
            <p:grpSpPr>
              <a:xfrm>
                <a:off x="4015669" y="2876365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210" name="Google Shape;210;p15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211" name="Google Shape;211;p15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2" name="Google Shape;212;p15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3" name="Google Shape;213;p15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변수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14" name="Google Shape;214;p15"/>
              <p:cNvGrpSpPr/>
              <p:nvPr/>
            </p:nvGrpSpPr>
            <p:grpSpPr>
              <a:xfrm flipH="1">
                <a:off x="5453588" y="2887458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215" name="Google Shape;215;p15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216" name="Google Shape;216;p15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17" name="Google Shape;217;p15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18" name="Google Shape;218;p15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값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19" name="Google Shape;219;p15"/>
              <p:cNvGrpSpPr/>
              <p:nvPr/>
            </p:nvGrpSpPr>
            <p:grpSpPr>
              <a:xfrm flipH="1">
                <a:off x="5658035" y="2840853"/>
                <a:ext cx="1097878" cy="241912"/>
                <a:chOff x="3793720" y="2980694"/>
                <a:chExt cx="1097878" cy="241912"/>
              </a:xfrm>
            </p:grpSpPr>
            <p:grpSp>
              <p:nvGrpSpPr>
                <p:cNvPr id="220" name="Google Shape;220;p15"/>
                <p:cNvGrpSpPr/>
                <p:nvPr/>
              </p:nvGrpSpPr>
              <p:grpSpPr>
                <a:xfrm>
                  <a:off x="4403326" y="2980694"/>
                  <a:ext cx="488272" cy="126490"/>
                  <a:chOff x="4358936" y="2980694"/>
                  <a:chExt cx="488272" cy="126490"/>
                </a:xfrm>
              </p:grpSpPr>
              <p:cxnSp>
                <p:nvCxnSpPr>
                  <p:cNvPr id="221" name="Google Shape;221;p15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222" name="Google Shape;222;p15"/>
                  <p:cNvCxnSpPr/>
                  <p:nvPr/>
                </p:nvCxnSpPr>
                <p:spPr>
                  <a:xfrm rot="10800000">
                    <a:off x="4847208" y="2980694"/>
                    <a:ext cx="0" cy="12649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223" name="Google Shape;223;p15"/>
                <p:cNvSpPr/>
                <p:nvPr/>
              </p:nvSpPr>
              <p:spPr>
                <a:xfrm>
                  <a:off x="3793720" y="2991774"/>
                  <a:ext cx="70945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조건의 끝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cxnSp>
            <p:nvCxnSpPr>
              <p:cNvPr id="224" name="Google Shape;224;p15"/>
              <p:cNvCxnSpPr/>
              <p:nvPr/>
            </p:nvCxnSpPr>
            <p:spPr>
              <a:xfrm rot="10800000">
                <a:off x="5182818" y="2869698"/>
                <a:ext cx="0" cy="4261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25" name="Google Shape;225;p15"/>
              <p:cNvSpPr/>
              <p:nvPr/>
            </p:nvSpPr>
            <p:spPr>
              <a:xfrm>
                <a:off x="4789503" y="3295838"/>
                <a:ext cx="80417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비교 연산자 </a:t>
                </a:r>
                <a:endParaRPr sz="900" b="1" i="0" u="none" strike="noStrike" cap="none">
                  <a:solidFill>
                    <a:srgbClr val="548135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</a:t>
            </a:r>
            <a:endParaRPr/>
          </a:p>
        </p:txBody>
      </p:sp>
      <p:sp>
        <p:nvSpPr>
          <p:cNvPr id="231" name="Google Shape;231;p16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97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들여쓰기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if 문 생성 시 ‘if (조건) :’ 다음의 문장부터 ‘if’ 문에 해당하는 모든 문장들은 정렬된 들여쓰기를 해야 함 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들여쓰기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같은 수준에 있는 문장들을 왼쪽 끝에서 공백을 주어서 안으로 들여 쓰는 것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코드의 이해나 분석을 쉽게 해주고 가독성을 높여주는 기능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Python에서는 들여쓰기도 문법의 하나로 들여쓰기가 적용이 안되면 에러 발생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2579678" y="2569797"/>
            <a:ext cx="6093805" cy="1323439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&gt;&gt;&gt; if True: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 print(‘true문 실행’)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    print(‘false문 실행’)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syntaxError : unexpected indent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</a:t>
            </a:r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코드 블록 혹은 블록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들여쓰기(indentation)된 한 줄 이상의 코드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동일하게 공백을 사용해서 들여쓰기 된 코드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들여쓰기 할 때의 공백은 공백 문자 또는 탭 문자를 사용함 (일정하게 한 가지로만 써야 함)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들여쓰기 할 때의 공백은 같은 깊이로 해야 함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블록은 ':' 다음 줄부터 사용될 수 있음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3-1: </a:t>
            </a:r>
            <a:r>
              <a:rPr lang="en-US" sz="1600"/>
              <a:t>값을 입력 받고 음수, 양수, 0인지를 출력하는 프로그램을 작성해</a:t>
            </a:r>
            <a:r>
              <a:rPr lang="en-US"/>
              <a:t>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단일 if문을 여러 개 사용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3-1: </a:t>
            </a:r>
            <a:r>
              <a:rPr lang="en-US" sz="1600"/>
              <a:t>값을 입력 받고 음수, 양수, 0인지를 출력하는 프로그램을 작성해</a:t>
            </a:r>
            <a:r>
              <a:rPr lang="en-US"/>
              <a:t>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1927795" y="2769834"/>
            <a:ext cx="6346193" cy="212176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정수를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0보다 큰지를 비교하여 판별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0보다 작은지를 비교하여 판별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0인지를 비교하여 판별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위 과정을 거친 후 종료한다. 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3-1: </a:t>
            </a:r>
            <a:r>
              <a:rPr lang="en-US" sz="1600"/>
              <a:t>값을 입력 받고 음수, 양수, 0인지를 출력하는 프로그램을 작성해</a:t>
            </a:r>
            <a:r>
              <a:rPr lang="en-US"/>
              <a:t>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1927795" y="2769834"/>
            <a:ext cx="6346193" cy="332024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number = int(input(”Type number: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(number &gt; 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print("Positive Number = " + str(number))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(number &lt; 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print("Negative Number = " + str(number))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(number == 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print(”Number is Zero")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print(“Program is done”)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3-1: </a:t>
            </a:r>
            <a:r>
              <a:rPr lang="en-US" sz="1600"/>
              <a:t>값을 입력 받고 음수, 양수, 0인지를 출력하는 프로그램을 작성해</a:t>
            </a:r>
            <a:r>
              <a:rPr lang="en-US"/>
              <a:t>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1847896" y="2932915"/>
            <a:ext cx="6346193" cy="17489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number: 10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Positive Number = 10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Program is done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71" name="Google Shape;271;p22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3-2: 사용자가 구매 금액과 회원 등급을 입력하여 최종 결제 금액을 계산하는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 b="1"/>
              <a:t>기본 할인:</a:t>
            </a:r>
            <a:r>
              <a:rPr lang="en-US"/>
              <a:t>10% (모든 고객에게 적용)한다.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 b="1"/>
              <a:t>VIP 회원:</a:t>
            </a:r>
            <a:r>
              <a:rPr lang="en-US"/>
              <a:t>추가 5% 할인한다.(최종 14.5% 할인 적용)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 b="1"/>
              <a:t>VVIP 회원:</a:t>
            </a:r>
            <a:r>
              <a:rPr lang="en-US"/>
              <a:t> 추가 10% 할인한다.(최종 19% 할인 적용)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3-2: 사용자가 구매 금액과 회원 등급을 입력하여 최종 결제 금액을 계산하는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1927795" y="2769833"/>
            <a:ext cx="6346193" cy="265255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구매금액을 입력한다.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회원등급을 입력한다.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기본 할인 10%를 적립한다.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VIP이면 추가 5%할인한다.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VVIP이면 추가 10%할인한다.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최종 결제 금액을 출력한다.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3-2: 사용자가 구매 금액과 회원 등급을 입력하여 최종 결제 금액을 계산하는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1927795" y="2769834"/>
            <a:ext cx="8139483" cy="364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구매 금액 입력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purchase_amount = int(input("구매 금액을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회원 등급 입력 (일반, VIP, VVIP)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membership = input("회원 등급을 입력하세요 (일반, VIP, VVIP): 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기본 할인 10% 적용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final_amount = purchase_amount * 0.9 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membership == "VIP":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final_amount *= 0.95  # 추가 5% 할인 (최종 14.5% 할인 적용)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membership == "VVIP":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final_amount *= 0.90  # 추가 10% 할인 (최종 19% 할인 적용)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print(f"최종 결제 금액: {final_amount:,.0f}원")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 if문  </a:t>
            </a:r>
            <a:endParaRPr/>
          </a:p>
        </p:txBody>
      </p:sp>
      <p:sp>
        <p:nvSpPr>
          <p:cNvPr id="291" name="Google Shape;291;p2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3-2: 사용자가 구매 금액과 회원 등급을 입력하여 최종 결제 금액을 계산하는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1652586" y="2932915"/>
            <a:ext cx="4721580" cy="231378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입력1: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금액을 입력하세요: 200000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등급을 입력하세요 (일반, VIP, VVIP): 일반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출력2: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결제 금액: 180,000원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6517727" y="2932915"/>
            <a:ext cx="4721580" cy="231378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입력1: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금액을 입력하세요: 200000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등급을 입력하세요 (일반, VIP, VVIP): VIP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출력2: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결제 금액: 171,000원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04</a:t>
            </a:r>
            <a:endParaRPr/>
          </a:p>
        </p:txBody>
      </p:sp>
      <p:sp>
        <p:nvSpPr>
          <p:cNvPr id="299" name="Google Shape;299;p26"/>
          <p:cNvSpPr txBox="1">
            <a:spLocks noGrp="1"/>
          </p:cNvSpPr>
          <p:nvPr>
            <p:ph type="body" idx="2"/>
          </p:nvPr>
        </p:nvSpPr>
        <p:spPr>
          <a:xfrm>
            <a:off x="4013206" y="3382375"/>
            <a:ext cx="3883984" cy="45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 if –else문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  if – else문</a:t>
            </a:r>
            <a:endParaRPr/>
          </a:p>
        </p:txBody>
      </p:sp>
      <p:sp>
        <p:nvSpPr>
          <p:cNvPr id="305" name="Google Shape;305;p2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구조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의사 결정을 내릴 때 </a:t>
            </a:r>
            <a:r>
              <a:rPr lang="en-US" sz="1600"/>
              <a:t>‘if’와 ‘else’를 같이 사용하면 True일 때 실행할 내용과 False 일 때 실행할 내용을 각각 </a:t>
            </a:r>
            <a:r>
              <a:rPr lang="en-US"/>
              <a:t>사용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/>
              <a:t>‘if’ 뒤에 판단할 내용을 적고 콜론(:)으로 문장을 마친 후 다음 줄에 True일 때 실행할 내용 작성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/>
              <a:t>‘else:’ 문장 다음 줄에는 ‘if’ 안의 내용이 False일 때 실행할 내용 작성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 sz="1600"/>
              <a:t>단  ‘else’ 문은 단독으로 사용할 수 없음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06" name="Google Shape;306;p27"/>
          <p:cNvSpPr/>
          <p:nvPr/>
        </p:nvSpPr>
        <p:spPr>
          <a:xfrm>
            <a:off x="2061556" y="4415884"/>
            <a:ext cx="1374612" cy="129614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 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/>
          </a:p>
        </p:txBody>
      </p:sp>
      <p:grpSp>
        <p:nvGrpSpPr>
          <p:cNvPr id="307" name="Google Shape;307;p27"/>
          <p:cNvGrpSpPr/>
          <p:nvPr/>
        </p:nvGrpSpPr>
        <p:grpSpPr>
          <a:xfrm>
            <a:off x="3653326" y="4409533"/>
            <a:ext cx="3025608" cy="1308847"/>
            <a:chOff x="4315748" y="3775842"/>
            <a:chExt cx="3025608" cy="1308847"/>
          </a:xfrm>
        </p:grpSpPr>
        <p:sp>
          <p:nvSpPr>
            <p:cNvPr id="308" name="Google Shape;308;p27"/>
            <p:cNvSpPr txBox="1"/>
            <p:nvPr/>
          </p:nvSpPr>
          <p:spPr>
            <a:xfrm>
              <a:off x="4909911" y="4271165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09" name="Google Shape;309;p27"/>
            <p:cNvSpPr txBox="1"/>
            <p:nvPr/>
          </p:nvSpPr>
          <p:spPr>
            <a:xfrm>
              <a:off x="5886000" y="39233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4318526" y="4018730"/>
              <a:ext cx="1401205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</a:t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4315748" y="4544689"/>
              <a:ext cx="1401204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12" name="Google Shape;312;p27"/>
            <p:cNvCxnSpPr>
              <a:stCxn id="310" idx="2"/>
              <a:endCxn id="311" idx="0"/>
            </p:cNvCxnSpPr>
            <p:nvPr/>
          </p:nvCxnSpPr>
          <p:spPr>
            <a:xfrm flipH="1">
              <a:off x="5016429" y="4306730"/>
              <a:ext cx="2700" cy="2379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3" name="Google Shape;313;p27"/>
            <p:cNvSpPr txBox="1"/>
            <p:nvPr/>
          </p:nvSpPr>
          <p:spPr>
            <a:xfrm>
              <a:off x="4382112" y="3775842"/>
              <a:ext cx="12705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314" name="Google Shape;314;p27"/>
            <p:cNvCxnSpPr>
              <a:stCxn id="310" idx="3"/>
              <a:endCxn id="315" idx="0"/>
            </p:cNvCxnSpPr>
            <p:nvPr/>
          </p:nvCxnSpPr>
          <p:spPr>
            <a:xfrm>
              <a:off x="5719731" y="4162730"/>
              <a:ext cx="921000" cy="3819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316" name="Google Shape;316;p27"/>
            <p:cNvCxnSpPr>
              <a:stCxn id="311" idx="2"/>
            </p:cNvCxnSpPr>
            <p:nvPr/>
          </p:nvCxnSpPr>
          <p:spPr>
            <a:xfrm>
              <a:off x="5016350" y="4796689"/>
              <a:ext cx="0" cy="288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5" name="Google Shape;315;p27"/>
            <p:cNvSpPr/>
            <p:nvPr/>
          </p:nvSpPr>
          <p:spPr>
            <a:xfrm>
              <a:off x="5940152" y="4544689"/>
              <a:ext cx="1401204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17" name="Google Shape;317;p27"/>
            <p:cNvCxnSpPr>
              <a:stCxn id="315" idx="2"/>
            </p:cNvCxnSpPr>
            <p:nvPr/>
          </p:nvCxnSpPr>
          <p:spPr>
            <a:xfrm rot="5400000">
              <a:off x="5773154" y="4044289"/>
              <a:ext cx="115200" cy="16200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318" name="Google Shape;318;p27"/>
          <p:cNvSpPr/>
          <p:nvPr/>
        </p:nvSpPr>
        <p:spPr>
          <a:xfrm>
            <a:off x="6776448" y="4387438"/>
            <a:ext cx="4089819" cy="12618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000" marR="0" lvl="0" indent="-180000" algn="l" rtl="0">
              <a:spcBef>
                <a:spcPts val="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조건식이 참이라면 코드1을 실행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거짓이라면 else 문에 포함된 코드2를 실행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문과 마찬가지로 else 문 뒤에 :(콜론)이 있어야 함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03. if – else문</a:t>
            </a:r>
            <a:endParaRPr/>
          </a:p>
        </p:txBody>
      </p:sp>
      <p:sp>
        <p:nvSpPr>
          <p:cNvPr id="324" name="Google Shape;324;p28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if문 header 구성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‘if’ 문의 header는 if, 변수, 비교 연산자, 값 그리고 조건의 끝을 나타내는 :(콜론)으로 구성 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‘else’ 문의 header는 else와 조건의 끝을 나타내는 :(콜론)으로 구성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325" name="Google Shape;325;p28"/>
          <p:cNvGrpSpPr/>
          <p:nvPr/>
        </p:nvGrpSpPr>
        <p:grpSpPr>
          <a:xfrm>
            <a:off x="3929849" y="3231469"/>
            <a:ext cx="3065755" cy="2388095"/>
            <a:chOff x="8501849" y="2192782"/>
            <a:chExt cx="3065755" cy="2388095"/>
          </a:xfrm>
        </p:grpSpPr>
        <p:sp>
          <p:nvSpPr>
            <p:cNvPr id="326" name="Google Shape;326;p28"/>
            <p:cNvSpPr/>
            <p:nvPr/>
          </p:nvSpPr>
          <p:spPr>
            <a:xfrm>
              <a:off x="8501849" y="2192782"/>
              <a:ext cx="3065755" cy="2388095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27" name="Google Shape;327;p28"/>
            <p:cNvGrpSpPr/>
            <p:nvPr/>
          </p:nvGrpSpPr>
          <p:grpSpPr>
            <a:xfrm>
              <a:off x="8723790" y="2308749"/>
              <a:ext cx="2740244" cy="2147842"/>
              <a:chOff x="4015669" y="2575079"/>
              <a:chExt cx="2740244" cy="2147842"/>
            </a:xfrm>
          </p:grpSpPr>
          <p:sp>
            <p:nvSpPr>
              <p:cNvPr id="328" name="Google Shape;328;p28"/>
              <p:cNvSpPr/>
              <p:nvPr/>
            </p:nvSpPr>
            <p:spPr>
              <a:xfrm>
                <a:off x="4591735" y="2575079"/>
                <a:ext cx="1620000" cy="2147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if a &gt;= 20 :</a:t>
                </a:r>
                <a:endParaRPr/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코드1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else :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코드2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⋮</a:t>
                </a:r>
                <a:endParaRPr/>
              </a:p>
            </p:txBody>
          </p:sp>
          <p:cxnSp>
            <p:nvCxnSpPr>
              <p:cNvPr id="329" name="Google Shape;329;p28"/>
              <p:cNvCxnSpPr/>
              <p:nvPr/>
            </p:nvCxnSpPr>
            <p:spPr>
              <a:xfrm>
                <a:off x="4847208" y="2876365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0" name="Google Shape;330;p28"/>
              <p:cNvCxnSpPr/>
              <p:nvPr/>
            </p:nvCxnSpPr>
            <p:spPr>
              <a:xfrm>
                <a:off x="5035119" y="2876365"/>
                <a:ext cx="25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1" name="Google Shape;331;p28"/>
              <p:cNvCxnSpPr/>
              <p:nvPr/>
            </p:nvCxnSpPr>
            <p:spPr>
              <a:xfrm>
                <a:off x="5363588" y="2877846"/>
                <a:ext cx="18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32" name="Google Shape;332;p28"/>
              <p:cNvCxnSpPr/>
              <p:nvPr/>
            </p:nvCxnSpPr>
            <p:spPr>
              <a:xfrm>
                <a:off x="5594411" y="2877842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333" name="Google Shape;333;p28"/>
              <p:cNvGrpSpPr/>
              <p:nvPr/>
            </p:nvGrpSpPr>
            <p:grpSpPr>
              <a:xfrm>
                <a:off x="4015669" y="2876365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334" name="Google Shape;334;p28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335" name="Google Shape;335;p28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36" name="Google Shape;336;p28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37" name="Google Shape;337;p28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변수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38" name="Google Shape;338;p28"/>
              <p:cNvGrpSpPr/>
              <p:nvPr/>
            </p:nvGrpSpPr>
            <p:grpSpPr>
              <a:xfrm flipH="1">
                <a:off x="5453588" y="2887458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339" name="Google Shape;339;p28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340" name="Google Shape;340;p28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41" name="Google Shape;341;p28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42" name="Google Shape;342;p28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값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43" name="Google Shape;343;p28"/>
              <p:cNvGrpSpPr/>
              <p:nvPr/>
            </p:nvGrpSpPr>
            <p:grpSpPr>
              <a:xfrm flipH="1">
                <a:off x="5658035" y="2840853"/>
                <a:ext cx="1097878" cy="241912"/>
                <a:chOff x="3793720" y="2980694"/>
                <a:chExt cx="1097878" cy="241912"/>
              </a:xfrm>
            </p:grpSpPr>
            <p:grpSp>
              <p:nvGrpSpPr>
                <p:cNvPr id="344" name="Google Shape;344;p28"/>
                <p:cNvGrpSpPr/>
                <p:nvPr/>
              </p:nvGrpSpPr>
              <p:grpSpPr>
                <a:xfrm>
                  <a:off x="4403326" y="2980694"/>
                  <a:ext cx="488272" cy="126490"/>
                  <a:chOff x="4358936" y="2980694"/>
                  <a:chExt cx="488272" cy="126490"/>
                </a:xfrm>
              </p:grpSpPr>
              <p:cxnSp>
                <p:nvCxnSpPr>
                  <p:cNvPr id="345" name="Google Shape;345;p28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346" name="Google Shape;346;p28"/>
                  <p:cNvCxnSpPr/>
                  <p:nvPr/>
                </p:nvCxnSpPr>
                <p:spPr>
                  <a:xfrm rot="10800000">
                    <a:off x="4847208" y="2980694"/>
                    <a:ext cx="0" cy="12649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347" name="Google Shape;347;p28"/>
                <p:cNvSpPr/>
                <p:nvPr/>
              </p:nvSpPr>
              <p:spPr>
                <a:xfrm>
                  <a:off x="3793720" y="2991774"/>
                  <a:ext cx="70945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조건의 끝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cxnSp>
            <p:nvCxnSpPr>
              <p:cNvPr id="348" name="Google Shape;348;p28"/>
              <p:cNvCxnSpPr/>
              <p:nvPr/>
            </p:nvCxnSpPr>
            <p:spPr>
              <a:xfrm rot="10800000">
                <a:off x="5182818" y="2869698"/>
                <a:ext cx="0" cy="4261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349" name="Google Shape;349;p28"/>
              <p:cNvSpPr/>
              <p:nvPr/>
            </p:nvSpPr>
            <p:spPr>
              <a:xfrm>
                <a:off x="4789503" y="3295838"/>
                <a:ext cx="80417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비교 연산자 </a:t>
                </a:r>
                <a:endParaRPr sz="900" b="1" i="0" u="none" strike="noStrike" cap="none">
                  <a:solidFill>
                    <a:srgbClr val="548135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들여쓰기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if’ 문 생성 시 ‘if (조건) :’ 다음의 문장부터 ‘if’ 문에 해당하는 모든 문장들은 정렬된 들여쓰기를 해야 함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들여쓰기를 하지 않는 경우에는 문법 오류 발생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3632903" y="3172969"/>
            <a:ext cx="1729210" cy="23933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코드2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코드4 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62" name="Google Shape;362;p3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3-3: 나이를 입력 받아 다음의 분류에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20살 이상인 경우 : 성인!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20살 미만인 경우 : 미성년자!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3-3: 사용자로 부터 비밀번호를 입력 받아 일치하면 ‘로그인 성공’, 다르면 ‘로그인 실패＇를 출력하는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1946083" y="3016722"/>
            <a:ext cx="5524565" cy="17015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비밀번호를 초기화하고, 비밀번호를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조건문을 이용하여 비밀번호를 확인한다.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조건을 만족할 경우 ‘로그인 성공’을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조건을 만족하지 않을 경우 ‘로그인 실패’를 출력한다.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75" name="Google Shape;375;p32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if – else문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3-3: 사용자로 부터 비밀번호를 입력 받아 일치하면 ‘로그인 성공’, 다르면 ‘로그인 실패＇를 출력하는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1981061" y="3124939"/>
            <a:ext cx="7118551" cy="29828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저장된 비밀번호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correct_password = ‘ai25’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사용자 입력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input_password = input(‘비밀번호를 입력하시오: ‘)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비밀번호 확인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input_password == correct_password: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print(‘로그인 성공’)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print(‘로그인 실패’)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82" name="Google Shape;382;p33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3-3: 사용자로 부터 비밀번호를 입력 받아 일치하면 ‘로그인 성공’, 다르면 ‘로그인 실패＇를 출력하는 프로그램을 작성해보자.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1865651" y="3252511"/>
            <a:ext cx="6346193" cy="20779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비밀번호를 입력하시오 : py123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실패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비밀번호를 입력하시오 : ai25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성공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89" name="Google Shape;389;p3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3-4: 주민번호 13자리 중 7번째 숫자를 입력받아 다음의 조건에 따라 출력 내용을 다르게 한다.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입력 받은 숫자가 1, 3, 5인 경우 : 남자!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입력 받은 숫자가 2, 4, 6인 경우 : 여자!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if – else문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3-4: 주민번호 13자리 중 7번째 숫자를 입력받아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396" name="Google Shape;396;p35"/>
          <p:cNvSpPr/>
          <p:nvPr/>
        </p:nvSpPr>
        <p:spPr>
          <a:xfrm>
            <a:off x="1946083" y="3016722"/>
            <a:ext cx="5524565" cy="17015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주민번호의 8번째 해당하는 숫자를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조건문을 이용하여 나머지가 1인지 비교한다.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조건을 만족 할 경우 ‘남자!’를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조건을 만족하지 않을 경우 ‘여자!’를 출력한다.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402" name="Google Shape;402;p36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 if – else문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3-4: 주민번호 13자리 중 7번째 숫자를 입력 받아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03" name="Google Shape;403;p36"/>
          <p:cNvSpPr/>
          <p:nvPr/>
        </p:nvSpPr>
        <p:spPr>
          <a:xfrm>
            <a:off x="1927795" y="2769834"/>
            <a:ext cx="6346193" cy="23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number = int(input(‘주민번호의 8번째 숫자를 입력하세요: ’))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(number % 2) == 1 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print(‘남자!’)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 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print(‘여자!’)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409" name="Google Shape;409;p3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if – else문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3-4: 주민번호 13자리 중 7번째 숫자를 입력받아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10" name="Google Shape;410;p37"/>
          <p:cNvSpPr/>
          <p:nvPr/>
        </p:nvSpPr>
        <p:spPr>
          <a:xfrm>
            <a:off x="1847896" y="2932915"/>
            <a:ext cx="6346193" cy="23797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주민번호의 8번째 숫자를 입력하세요: 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남자!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주민번호의 8번째 숫자를 입력하세요: 4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여자!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05</a:t>
            </a: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body" idx="2"/>
          </p:nvPr>
        </p:nvSpPr>
        <p:spPr>
          <a:xfrm>
            <a:off x="4013206" y="3382375"/>
            <a:ext cx="3883984" cy="45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중첩 if 문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22" name="Google Shape;422;p39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중첩 if문 구조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복잡한 문제해결을 위한 중첩 if 조건문 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23" name="Google Shape;423;p39"/>
          <p:cNvSpPr/>
          <p:nvPr/>
        </p:nvSpPr>
        <p:spPr>
          <a:xfrm>
            <a:off x="1839658" y="2508262"/>
            <a:ext cx="1620000" cy="2376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조건식1: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if 조건식2: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 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else: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코드3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/>
          </a:p>
        </p:txBody>
      </p:sp>
      <p:grpSp>
        <p:nvGrpSpPr>
          <p:cNvPr id="424" name="Google Shape;424;p39"/>
          <p:cNvGrpSpPr/>
          <p:nvPr/>
        </p:nvGrpSpPr>
        <p:grpSpPr>
          <a:xfrm>
            <a:off x="3798151" y="2451325"/>
            <a:ext cx="3319800" cy="2488011"/>
            <a:chOff x="3121200" y="2515989"/>
            <a:chExt cx="3319800" cy="2488011"/>
          </a:xfrm>
        </p:grpSpPr>
        <p:sp>
          <p:nvSpPr>
            <p:cNvPr id="425" name="Google Shape;425;p39"/>
            <p:cNvSpPr txBox="1"/>
            <p:nvPr/>
          </p:nvSpPr>
          <p:spPr>
            <a:xfrm>
              <a:off x="4990679" y="3524660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6" name="Google Shape;426;p39"/>
            <p:cNvSpPr txBox="1"/>
            <p:nvPr/>
          </p:nvSpPr>
          <p:spPr>
            <a:xfrm>
              <a:off x="3659830" y="3030847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7" name="Google Shape;427;p39"/>
            <p:cNvSpPr txBox="1"/>
            <p:nvPr/>
          </p:nvSpPr>
          <p:spPr>
            <a:xfrm>
              <a:off x="4480571" y="2664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3129861" y="2758877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3219861" y="327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30" name="Google Shape;430;p39"/>
            <p:cNvCxnSpPr>
              <a:stCxn id="428" idx="2"/>
              <a:endCxn id="429" idx="0"/>
            </p:cNvCxnSpPr>
            <p:nvPr/>
          </p:nvCxnSpPr>
          <p:spPr>
            <a:xfrm>
              <a:off x="3759861" y="3046877"/>
              <a:ext cx="0" cy="2292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1" name="Google Shape;431;p39"/>
            <p:cNvSpPr txBox="1"/>
            <p:nvPr/>
          </p:nvSpPr>
          <p:spPr>
            <a:xfrm>
              <a:off x="3121200" y="2515989"/>
              <a:ext cx="12705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432" name="Google Shape;432;p39"/>
            <p:cNvCxnSpPr>
              <a:stCxn id="428" idx="3"/>
              <a:endCxn id="433" idx="0"/>
            </p:cNvCxnSpPr>
            <p:nvPr/>
          </p:nvCxnSpPr>
          <p:spPr>
            <a:xfrm>
              <a:off x="4389861" y="2902877"/>
              <a:ext cx="711300" cy="3552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4" name="Google Shape;434;p39"/>
            <p:cNvCxnSpPr>
              <a:stCxn id="429" idx="2"/>
            </p:cNvCxnSpPr>
            <p:nvPr/>
          </p:nvCxnSpPr>
          <p:spPr>
            <a:xfrm>
              <a:off x="3759861" y="3528000"/>
              <a:ext cx="0" cy="1476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5" name="Google Shape;435;p39"/>
            <p:cNvCxnSpPr>
              <a:stCxn id="436" idx="2"/>
            </p:cNvCxnSpPr>
            <p:nvPr/>
          </p:nvCxnSpPr>
          <p:spPr>
            <a:xfrm rot="5400000">
              <a:off x="4053287" y="3732150"/>
              <a:ext cx="750900" cy="1343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3" name="Google Shape;433;p39"/>
            <p:cNvSpPr/>
            <p:nvPr/>
          </p:nvSpPr>
          <p:spPr>
            <a:xfrm>
              <a:off x="4471200" y="3258000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4560437" y="37764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37" name="Google Shape;437;p39"/>
            <p:cNvCxnSpPr>
              <a:stCxn id="433" idx="2"/>
              <a:endCxn id="436" idx="0"/>
            </p:cNvCxnSpPr>
            <p:nvPr/>
          </p:nvCxnSpPr>
          <p:spPr>
            <a:xfrm flipH="1">
              <a:off x="5100300" y="3546000"/>
              <a:ext cx="900" cy="2304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8" name="Google Shape;438;p39"/>
            <p:cNvSpPr txBox="1"/>
            <p:nvPr/>
          </p:nvSpPr>
          <p:spPr>
            <a:xfrm>
              <a:off x="5798503" y="3186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39" name="Google Shape;439;p39"/>
            <p:cNvCxnSpPr>
              <a:stCxn id="433" idx="3"/>
            </p:cNvCxnSpPr>
            <p:nvPr/>
          </p:nvCxnSpPr>
          <p:spPr>
            <a:xfrm>
              <a:off x="5731200" y="3402000"/>
              <a:ext cx="709800" cy="356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40" name="Google Shape;440;p39"/>
            <p:cNvCxnSpPr>
              <a:stCxn id="441" idx="2"/>
            </p:cNvCxnSpPr>
            <p:nvPr/>
          </p:nvCxnSpPr>
          <p:spPr>
            <a:xfrm rot="5400000">
              <a:off x="4715847" y="3069600"/>
              <a:ext cx="750900" cy="26685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42" name="Google Shape;442;p39"/>
            <p:cNvCxnSpPr/>
            <p:nvPr/>
          </p:nvCxnSpPr>
          <p:spPr>
            <a:xfrm flipH="1">
              <a:off x="3756974" y="4774434"/>
              <a:ext cx="73160" cy="4836"/>
            </a:xfrm>
            <a:prstGeom prst="bentConnector3">
              <a:avLst>
                <a:gd name="adj1" fmla="val 975302"/>
              </a:avLst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443" name="Google Shape;443;p39"/>
          <p:cNvSpPr/>
          <p:nvPr/>
        </p:nvSpPr>
        <p:spPr>
          <a:xfrm>
            <a:off x="1754792" y="4992564"/>
            <a:ext cx="7705132" cy="67710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000" marR="0" lvl="0" indent="-180000" algn="l" rtl="0">
              <a:spcBef>
                <a:spcPts val="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조건식1이 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실행, 거짓이면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조건식2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검사하여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실행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조건식2가 거짓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 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포함된 코드3 (또는 블록)를 실행</a:t>
            </a:r>
            <a:endParaRPr/>
          </a:p>
        </p:txBody>
      </p:sp>
      <p:sp>
        <p:nvSpPr>
          <p:cNvPr id="441" name="Google Shape;441;p39"/>
          <p:cNvSpPr/>
          <p:nvPr/>
        </p:nvSpPr>
        <p:spPr>
          <a:xfrm>
            <a:off x="6562498" y="3711736"/>
            <a:ext cx="1080000" cy="2520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2F491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코드3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49" name="Google Shape;449;p4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중첩 if문 구조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복잡한 문제해결을 위한 중첩 if 조건문 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50" name="Google Shape;450;p40"/>
          <p:cNvSpPr/>
          <p:nvPr/>
        </p:nvSpPr>
        <p:spPr>
          <a:xfrm>
            <a:off x="2143702" y="2636639"/>
            <a:ext cx="1800000" cy="319910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조건식1: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조건식2: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코드3 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/>
          </a:p>
        </p:txBody>
      </p:sp>
      <p:grpSp>
        <p:nvGrpSpPr>
          <p:cNvPr id="451" name="Google Shape;451;p40"/>
          <p:cNvGrpSpPr/>
          <p:nvPr/>
        </p:nvGrpSpPr>
        <p:grpSpPr>
          <a:xfrm>
            <a:off x="4336320" y="2563919"/>
            <a:ext cx="3742121" cy="3271823"/>
            <a:chOff x="3059832" y="2312556"/>
            <a:chExt cx="3742121" cy="2409501"/>
          </a:xfrm>
        </p:grpSpPr>
        <p:sp>
          <p:nvSpPr>
            <p:cNvPr id="452" name="Google Shape;452;p40"/>
            <p:cNvSpPr txBox="1"/>
            <p:nvPr/>
          </p:nvSpPr>
          <p:spPr>
            <a:xfrm>
              <a:off x="3598462" y="2821650"/>
              <a:ext cx="605486" cy="204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3" name="Google Shape;453;p40"/>
            <p:cNvSpPr txBox="1"/>
            <p:nvPr/>
          </p:nvSpPr>
          <p:spPr>
            <a:xfrm>
              <a:off x="4664074" y="2462402"/>
              <a:ext cx="566835" cy="207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3068493" y="2513488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3068493" y="3030611"/>
              <a:ext cx="1260000" cy="288000"/>
            </a:xfrm>
            <a:prstGeom prst="flowChartDecision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56" name="Google Shape;456;p40"/>
            <p:cNvCxnSpPr>
              <a:stCxn id="454" idx="2"/>
            </p:cNvCxnSpPr>
            <p:nvPr/>
          </p:nvCxnSpPr>
          <p:spPr>
            <a:xfrm>
              <a:off x="3698493" y="2801488"/>
              <a:ext cx="0" cy="2292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57" name="Google Shape;457;p40"/>
            <p:cNvSpPr txBox="1"/>
            <p:nvPr/>
          </p:nvSpPr>
          <p:spPr>
            <a:xfrm>
              <a:off x="3059832" y="2312556"/>
              <a:ext cx="1270588" cy="207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458" name="Google Shape;458;p40"/>
            <p:cNvCxnSpPr>
              <a:stCxn id="454" idx="3"/>
            </p:cNvCxnSpPr>
            <p:nvPr/>
          </p:nvCxnSpPr>
          <p:spPr>
            <a:xfrm>
              <a:off x="4328493" y="2657488"/>
              <a:ext cx="1933500" cy="8619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59" name="Google Shape;459;p40"/>
            <p:cNvCxnSpPr>
              <a:stCxn id="460" idx="2"/>
            </p:cNvCxnSpPr>
            <p:nvPr/>
          </p:nvCxnSpPr>
          <p:spPr>
            <a:xfrm>
              <a:off x="3698493" y="3786057"/>
              <a:ext cx="0" cy="936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61" name="Google Shape;461;p40"/>
            <p:cNvCxnSpPr>
              <a:stCxn id="462" idx="2"/>
            </p:cNvCxnSpPr>
            <p:nvPr/>
          </p:nvCxnSpPr>
          <p:spPr>
            <a:xfrm rot="5400000">
              <a:off x="4604453" y="2877946"/>
              <a:ext cx="751500" cy="25635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2" name="Google Shape;462;p40"/>
            <p:cNvSpPr/>
            <p:nvPr/>
          </p:nvSpPr>
          <p:spPr>
            <a:xfrm>
              <a:off x="5721953" y="3531946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코드3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63" name="Google Shape;463;p40"/>
            <p:cNvCxnSpPr/>
            <p:nvPr/>
          </p:nvCxnSpPr>
          <p:spPr>
            <a:xfrm flipH="1">
              <a:off x="3698494" y="4531328"/>
              <a:ext cx="60443" cy="4164"/>
            </a:xfrm>
            <a:prstGeom prst="bentConnector3">
              <a:avLst>
                <a:gd name="adj1" fmla="val 2161887"/>
              </a:avLst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0" name="Google Shape;460;p40"/>
            <p:cNvSpPr/>
            <p:nvPr/>
          </p:nvSpPr>
          <p:spPr>
            <a:xfrm>
              <a:off x="3158493" y="3534057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64" name="Google Shape;464;p40"/>
            <p:cNvCxnSpPr>
              <a:stCxn id="455" idx="2"/>
              <a:endCxn id="460" idx="0"/>
            </p:cNvCxnSpPr>
            <p:nvPr/>
          </p:nvCxnSpPr>
          <p:spPr>
            <a:xfrm>
              <a:off x="3698493" y="3318611"/>
              <a:ext cx="0" cy="2154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5" name="Google Shape;465;p40"/>
            <p:cNvSpPr txBox="1"/>
            <p:nvPr/>
          </p:nvSpPr>
          <p:spPr>
            <a:xfrm>
              <a:off x="3598462" y="3330444"/>
              <a:ext cx="605486" cy="204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6" name="Google Shape;466;p40"/>
            <p:cNvSpPr txBox="1"/>
            <p:nvPr/>
          </p:nvSpPr>
          <p:spPr>
            <a:xfrm>
              <a:off x="4355976" y="2984385"/>
              <a:ext cx="566835" cy="204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67" name="Google Shape;467;p40"/>
            <p:cNvCxnSpPr>
              <a:stCxn id="455" idx="3"/>
              <a:endCxn id="468" idx="0"/>
            </p:cNvCxnSpPr>
            <p:nvPr/>
          </p:nvCxnSpPr>
          <p:spPr>
            <a:xfrm>
              <a:off x="4328493" y="3174611"/>
              <a:ext cx="606600" cy="3630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68" name="Google Shape;468;p40"/>
            <p:cNvSpPr/>
            <p:nvPr/>
          </p:nvSpPr>
          <p:spPr>
            <a:xfrm>
              <a:off x="4395223" y="353748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469" name="Google Shape;469;p40"/>
            <p:cNvCxnSpPr>
              <a:stCxn id="468" idx="2"/>
            </p:cNvCxnSpPr>
            <p:nvPr/>
          </p:nvCxnSpPr>
          <p:spPr>
            <a:xfrm rot="5400000">
              <a:off x="3943873" y="3544230"/>
              <a:ext cx="746100" cy="12366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75" name="Google Shape;475;p4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중첩 if문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3-5: 나이와 운전면허 여부에 따라 운전을 할 수 있는지 판별하는 문제이다.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18살 미만인 경우 : 성인입니다.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18살 이상 운전면허가 있는 경우 : 운전을 할 수 있습니다.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18살 이상 운전면허가 없는 경우 : 운전을 할 수 없습니다.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 18살 이만인 경우 : 미성년자입니다.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81" name="Google Shape;481;p42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중첩 if문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3-5: 나이와 운전면허 여부에 따라 운전을 할 수 있는지 판별하는 문제이다.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82" name="Google Shape;482;p42"/>
          <p:cNvSpPr/>
          <p:nvPr/>
        </p:nvSpPr>
        <p:spPr>
          <a:xfrm>
            <a:off x="1930113" y="3072384"/>
            <a:ext cx="8331773" cy="28803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나이를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조건문을 이용하여 나이가 18 이상인지 비교한다.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조건을 만족할 경우 ‘성인입니다’을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운전면허에 소유 유무에 대한 입력을 (예/아니오)로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⑤조건을 만족하는 경우 ‘ 운전을 할 수 있습니다.’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⑥만족하지 않는 경우 ‘ 운전면허가 없으므로 운전을 할 수 없습니다.’)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⑦ 나이가 18세 미만 인 경우 ‘미성년자입니다’를 출력한다.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88" name="Google Shape;488;p43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중첩 if문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3-5: 나이와 운전면허 여부에 따라 운전을 할 수 있는지 판별하는 문제이다.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89" name="Google Shape;489;p43"/>
          <p:cNvSpPr/>
          <p:nvPr/>
        </p:nvSpPr>
        <p:spPr>
          <a:xfrm>
            <a:off x="1953757" y="3089874"/>
            <a:ext cx="8066597" cy="32721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 = int(input("나이를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age &gt;= 18: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print("성인입니다.")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permission = input("운전면허를 가지고 있습니까? (예/아니오): 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if permission == "예":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print("운전을 할 수 있습니다!")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print("운전면허가 없으므로 운전을 할 수 없습니다.")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print("미성년자입니다.")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495" name="Google Shape;495;p4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중첩 if문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3-5: 나이와 운전면허 여부에 따라 운전을 할 수 있는지 판별하는 문제이다.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496" name="Google Shape;496;p44"/>
          <p:cNvSpPr/>
          <p:nvPr/>
        </p:nvSpPr>
        <p:spPr>
          <a:xfrm>
            <a:off x="1866184" y="3088363"/>
            <a:ext cx="6346193" cy="32301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나이를 입력하세요: 19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성인입니다.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운전면허를 가지고 있습니까? (예/아니오): 예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운전을 할 수 있습니다!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나이를 입력하세요: 16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미성년자입니다.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502" name="Google Shape;502;p4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논리연산자를 이용한 중첩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3-6: 나이와 운전면허 여부(예/아니오)를 입력 받아 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나이가 18살 이상이면서 운전면허를 가지고 있는 경우 : 운전을 할 수 있습니다.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나이가 18점 미만 또는 운전면허를 가지고 있지 않는 경우 : 운전을 할 수 없습니다.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508" name="Google Shape;508;p46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논리연산자를 이용한 중첩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3-6: 나이와 운전면허 여부(예/아니오)를 입력 받아 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09" name="Google Shape;509;p46"/>
          <p:cNvSpPr/>
          <p:nvPr/>
        </p:nvSpPr>
        <p:spPr>
          <a:xfrm>
            <a:off x="1930113" y="2911518"/>
            <a:ext cx="8331773" cy="28803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나이를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운전면허 소유 여부(‘예/아니오’) 입력 받는다.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조건문과 논리연산자를 이용하여 나이가 18이상이고 운전면허가 소지 여부 ‘예’ 인지 비교 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조건을 만족할 경우 ‘운전을 할 수 있습니다.’을 출력한다.</a:t>
            </a:r>
            <a:endParaRPr/>
          </a:p>
          <a:p>
            <a:pPr marL="177800" marR="0" lvl="2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조건을 만족하지 않을 경우 ‘운전을 할 수 없습니다.’을 출력한다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515" name="Google Shape;515;p4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 논리연산자를 이용한 중첩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3-6: 나이와 운전면허 여부(예/아니오)를 입력 받아 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16" name="Google Shape;516;p47"/>
          <p:cNvSpPr/>
          <p:nvPr/>
        </p:nvSpPr>
        <p:spPr>
          <a:xfrm>
            <a:off x="1953757" y="3089874"/>
            <a:ext cx="8066597" cy="28354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 = int(input("나이를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has_license = input("운전면허를 가지고 있습니까? (예/아니오): ").strip()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age &gt;= 18 and has_license == "예":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print("운전을 할 수 있습니다!")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print("운전을 할 수 없습니다.")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05. 중첩 if문</a:t>
            </a:r>
            <a:endParaRPr/>
          </a:p>
        </p:txBody>
      </p:sp>
      <p:sp>
        <p:nvSpPr>
          <p:cNvPr id="522" name="Google Shape;522;p48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 논리연산자를 이용한 중첩 if문 적용하기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3-6: 나이와 운전면허 여부(예/아니오)를 입력 받아  다음의 조건에 따라 출력 내용을 다르게 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23" name="Google Shape;523;p48"/>
          <p:cNvSpPr/>
          <p:nvPr/>
        </p:nvSpPr>
        <p:spPr>
          <a:xfrm>
            <a:off x="1866184" y="3088363"/>
            <a:ext cx="6346193" cy="29832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나이를 입력하세요: 20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운전면허를 가지고 있습니까? (예/아니오): 예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운전을 할 수 있습니다!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나이를 입력하세요: 21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운전면허를 가지고 있습니까? (예/아니오): 아니오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운전을 할 수 없습니다.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9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06</a:t>
            </a:r>
            <a:endParaRPr/>
          </a:p>
        </p:txBody>
      </p:sp>
      <p:sp>
        <p:nvSpPr>
          <p:cNvPr id="529" name="Google Shape;529;p49"/>
          <p:cNvSpPr txBox="1">
            <a:spLocks noGrp="1"/>
          </p:cNvSpPr>
          <p:nvPr>
            <p:ph type="body" idx="2"/>
          </p:nvPr>
        </p:nvSpPr>
        <p:spPr>
          <a:xfrm>
            <a:off x="4013206" y="3382375"/>
            <a:ext cx="3883984" cy="45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 if~elif~else 문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535" name="Google Shape;535;p5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중첩 if문을 간단히 표현하면 if-elif-else문임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‘elif’는 ‘else’ 상태에서 조건식을 지정할 때 사용하여 ‘else if’라는 뜻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‘if’, ‘else’처럼 조건식 끝에 콜론(:)을 붙여야 하고 ‘elif’ 단독으로 사용할 수 없음 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‘elif’는 조건식을 여러 개 지정하여 각 조건마다 다른 코드를 실행할 수 있음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541" name="Google Shape;541;p5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542" name="Google Shape;542;p51"/>
          <p:cNvSpPr/>
          <p:nvPr/>
        </p:nvSpPr>
        <p:spPr>
          <a:xfrm>
            <a:off x="2043844" y="1935332"/>
            <a:ext cx="1620000" cy="301840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조건식1: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elif 조건식2: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 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elif 조건식3: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코드3   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else: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코드4</a:t>
            </a:r>
            <a:endParaRPr sz="15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⋮</a:t>
            </a:r>
            <a:endParaRPr/>
          </a:p>
        </p:txBody>
      </p:sp>
      <p:grpSp>
        <p:nvGrpSpPr>
          <p:cNvPr id="543" name="Google Shape;543;p51"/>
          <p:cNvGrpSpPr/>
          <p:nvPr/>
        </p:nvGrpSpPr>
        <p:grpSpPr>
          <a:xfrm>
            <a:off x="4002337" y="2184063"/>
            <a:ext cx="5127535" cy="2488011"/>
            <a:chOff x="3121200" y="2515989"/>
            <a:chExt cx="5127535" cy="2488011"/>
          </a:xfrm>
        </p:grpSpPr>
        <p:sp>
          <p:nvSpPr>
            <p:cNvPr id="544" name="Google Shape;544;p51"/>
            <p:cNvSpPr txBox="1"/>
            <p:nvPr/>
          </p:nvSpPr>
          <p:spPr>
            <a:xfrm>
              <a:off x="4990679" y="3524660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5" name="Google Shape;545;p51"/>
            <p:cNvSpPr txBox="1"/>
            <p:nvPr/>
          </p:nvSpPr>
          <p:spPr>
            <a:xfrm>
              <a:off x="3659830" y="3030847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6" name="Google Shape;546;p51"/>
            <p:cNvSpPr txBox="1"/>
            <p:nvPr/>
          </p:nvSpPr>
          <p:spPr>
            <a:xfrm>
              <a:off x="4480571" y="2664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7" name="Google Shape;547;p51"/>
            <p:cNvSpPr/>
            <p:nvPr/>
          </p:nvSpPr>
          <p:spPr>
            <a:xfrm>
              <a:off x="3129861" y="2758877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48" name="Google Shape;548;p51"/>
            <p:cNvSpPr/>
            <p:nvPr/>
          </p:nvSpPr>
          <p:spPr>
            <a:xfrm>
              <a:off x="3219861" y="327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코드1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49" name="Google Shape;549;p51"/>
            <p:cNvCxnSpPr>
              <a:stCxn id="547" idx="2"/>
              <a:endCxn id="548" idx="0"/>
            </p:cNvCxnSpPr>
            <p:nvPr/>
          </p:nvCxnSpPr>
          <p:spPr>
            <a:xfrm>
              <a:off x="3759861" y="3046877"/>
              <a:ext cx="0" cy="2292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0" name="Google Shape;550;p51"/>
            <p:cNvSpPr txBox="1"/>
            <p:nvPr/>
          </p:nvSpPr>
          <p:spPr>
            <a:xfrm>
              <a:off x="3121200" y="2515989"/>
              <a:ext cx="12705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551" name="Google Shape;551;p51"/>
            <p:cNvCxnSpPr>
              <a:stCxn id="547" idx="3"/>
              <a:endCxn id="552" idx="0"/>
            </p:cNvCxnSpPr>
            <p:nvPr/>
          </p:nvCxnSpPr>
          <p:spPr>
            <a:xfrm>
              <a:off x="4389861" y="2902877"/>
              <a:ext cx="711300" cy="3552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3" name="Google Shape;553;p51"/>
            <p:cNvCxnSpPr>
              <a:stCxn id="548" idx="2"/>
            </p:cNvCxnSpPr>
            <p:nvPr/>
          </p:nvCxnSpPr>
          <p:spPr>
            <a:xfrm>
              <a:off x="3759861" y="3528000"/>
              <a:ext cx="0" cy="1476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54" name="Google Shape;554;p51"/>
            <p:cNvCxnSpPr>
              <a:stCxn id="555" idx="2"/>
            </p:cNvCxnSpPr>
            <p:nvPr/>
          </p:nvCxnSpPr>
          <p:spPr>
            <a:xfrm rot="5400000">
              <a:off x="4053287" y="3732150"/>
              <a:ext cx="750900" cy="1343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2" name="Google Shape;552;p51"/>
            <p:cNvSpPr/>
            <p:nvPr/>
          </p:nvSpPr>
          <p:spPr>
            <a:xfrm>
              <a:off x="4471200" y="3258000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5" name="Google Shape;555;p51"/>
            <p:cNvSpPr/>
            <p:nvPr/>
          </p:nvSpPr>
          <p:spPr>
            <a:xfrm>
              <a:off x="4560437" y="37764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코드2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56" name="Google Shape;556;p51"/>
            <p:cNvCxnSpPr>
              <a:stCxn id="552" idx="2"/>
              <a:endCxn id="555" idx="0"/>
            </p:cNvCxnSpPr>
            <p:nvPr/>
          </p:nvCxnSpPr>
          <p:spPr>
            <a:xfrm flipH="1">
              <a:off x="5100300" y="3546000"/>
              <a:ext cx="900" cy="2304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7" name="Google Shape;557;p51"/>
            <p:cNvSpPr txBox="1"/>
            <p:nvPr/>
          </p:nvSpPr>
          <p:spPr>
            <a:xfrm>
              <a:off x="6331557" y="4015033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8" name="Google Shape;558;p51"/>
            <p:cNvSpPr txBox="1"/>
            <p:nvPr/>
          </p:nvSpPr>
          <p:spPr>
            <a:xfrm>
              <a:off x="5798503" y="3186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59" name="Google Shape;559;p51"/>
            <p:cNvCxnSpPr>
              <a:stCxn id="552" idx="3"/>
              <a:endCxn id="560" idx="0"/>
            </p:cNvCxnSpPr>
            <p:nvPr/>
          </p:nvCxnSpPr>
          <p:spPr>
            <a:xfrm>
              <a:off x="5731200" y="3402000"/>
              <a:ext cx="709800" cy="356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1" name="Google Shape;561;p51"/>
            <p:cNvCxnSpPr>
              <a:stCxn id="562" idx="2"/>
            </p:cNvCxnSpPr>
            <p:nvPr/>
          </p:nvCxnSpPr>
          <p:spPr>
            <a:xfrm rot="5400000">
              <a:off x="4968313" y="3306600"/>
              <a:ext cx="261300" cy="26841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0" name="Google Shape;560;p51"/>
            <p:cNvSpPr/>
            <p:nvPr/>
          </p:nvSpPr>
          <p:spPr>
            <a:xfrm>
              <a:off x="5811013" y="3758400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조건식3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2" name="Google Shape;562;p51"/>
            <p:cNvSpPr/>
            <p:nvPr/>
          </p:nvSpPr>
          <p:spPr>
            <a:xfrm>
              <a:off x="5901013" y="426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코드3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63" name="Google Shape;563;p51"/>
            <p:cNvCxnSpPr>
              <a:stCxn id="560" idx="2"/>
              <a:endCxn id="562" idx="0"/>
            </p:cNvCxnSpPr>
            <p:nvPr/>
          </p:nvCxnSpPr>
          <p:spPr>
            <a:xfrm>
              <a:off x="6441013" y="4046400"/>
              <a:ext cx="0" cy="2196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4" name="Google Shape;564;p51"/>
            <p:cNvSpPr/>
            <p:nvPr/>
          </p:nvSpPr>
          <p:spPr>
            <a:xfrm>
              <a:off x="7168735" y="426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코드4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65" name="Google Shape;565;p51"/>
            <p:cNvCxnSpPr>
              <a:stCxn id="560" idx="3"/>
              <a:endCxn id="564" idx="0"/>
            </p:cNvCxnSpPr>
            <p:nvPr/>
          </p:nvCxnSpPr>
          <p:spPr>
            <a:xfrm>
              <a:off x="7071013" y="3902400"/>
              <a:ext cx="637800" cy="3636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6" name="Google Shape;566;p51"/>
            <p:cNvSpPr txBox="1"/>
            <p:nvPr/>
          </p:nvSpPr>
          <p:spPr>
            <a:xfrm>
              <a:off x="7117725" y="3674135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567" name="Google Shape;567;p51"/>
            <p:cNvCxnSpPr>
              <a:stCxn id="564" idx="2"/>
            </p:cNvCxnSpPr>
            <p:nvPr/>
          </p:nvCxnSpPr>
          <p:spPr>
            <a:xfrm rot="5400000">
              <a:off x="5602135" y="2672700"/>
              <a:ext cx="261300" cy="39519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568" name="Google Shape;568;p51"/>
          <p:cNvSpPr/>
          <p:nvPr/>
        </p:nvSpPr>
        <p:spPr>
          <a:xfrm>
            <a:off x="1958978" y="5195819"/>
            <a:ext cx="7705132" cy="10464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000" marR="0" lvl="0" indent="-180000" algn="l" rtl="0">
              <a:spcBef>
                <a:spcPts val="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조건식1이 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코드1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실행, 거짓이면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조건식2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검사하여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코드2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실행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계속적으로 조건식을 검사하여 참이면 포함된 코드(또는 블록)를 실행, 거짓이면 다음 조건식을 검사</a:t>
            </a:r>
            <a:endParaRPr/>
          </a:p>
          <a:p>
            <a:pPr marL="180000" marR="0" lvl="0" indent="-180000" algn="l" rtl="0">
              <a:spcBef>
                <a:spcPts val="1200"/>
              </a:spcBef>
              <a:spcAft>
                <a:spcPts val="0"/>
              </a:spcAft>
              <a:buClr>
                <a:srgbClr val="004B60"/>
              </a:buClr>
              <a:buSzPts val="1400"/>
              <a:buFont typeface="Century Gothic"/>
              <a:buChar char="–"/>
            </a:pP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최종적으로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조건식이 모두 거짓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이면 </a:t>
            </a:r>
            <a:r>
              <a:rPr lang="en-US" sz="1400" b="1" i="0" u="sng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 문</a:t>
            </a:r>
            <a:r>
              <a:rPr lang="en-US" sz="1400" b="0" i="0" u="none" strike="noStrike" cap="none">
                <a:solidFill>
                  <a:srgbClr val="004B60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포함된 코드4 (또는 블록)를 실행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2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574" name="Google Shape;574;p52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header 구성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복잡한 문제해결을 위한 중첩 if 조건문 </a:t>
            </a: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575" name="Google Shape;575;p52"/>
          <p:cNvGrpSpPr/>
          <p:nvPr/>
        </p:nvGrpSpPr>
        <p:grpSpPr>
          <a:xfrm>
            <a:off x="6113756" y="1997474"/>
            <a:ext cx="3065755" cy="4146140"/>
            <a:chOff x="6113756" y="1997474"/>
            <a:chExt cx="3065755" cy="4146140"/>
          </a:xfrm>
        </p:grpSpPr>
        <p:sp>
          <p:nvSpPr>
            <p:cNvPr id="576" name="Google Shape;576;p52"/>
            <p:cNvSpPr/>
            <p:nvPr/>
          </p:nvSpPr>
          <p:spPr>
            <a:xfrm>
              <a:off x="6113756" y="1997474"/>
              <a:ext cx="3065755" cy="4146140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77" name="Google Shape;577;p52"/>
            <p:cNvGrpSpPr/>
            <p:nvPr/>
          </p:nvGrpSpPr>
          <p:grpSpPr>
            <a:xfrm>
              <a:off x="6335697" y="2113439"/>
              <a:ext cx="2740244" cy="3951519"/>
              <a:chOff x="4015669" y="2575078"/>
              <a:chExt cx="2740244" cy="3951519"/>
            </a:xfrm>
          </p:grpSpPr>
          <p:sp>
            <p:nvSpPr>
              <p:cNvPr id="578" name="Google Shape;578;p52"/>
              <p:cNvSpPr/>
              <p:nvPr/>
            </p:nvSpPr>
            <p:spPr>
              <a:xfrm>
                <a:off x="4591735" y="2575078"/>
                <a:ext cx="1620000" cy="39515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if a &gt;= 90 :</a:t>
                </a:r>
                <a:endParaRPr/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코드1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elif a &gt;= 80 :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코드2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elif a &gt;= 70 :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코드3  </a:t>
                </a:r>
                <a:endParaRPr/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else :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rgbClr val="BFBFB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</a:t>
                </a: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코드4</a:t>
                </a:r>
                <a:endParaRPr sz="15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⋮</a:t>
                </a:r>
                <a:endParaRPr/>
              </a:p>
            </p:txBody>
          </p:sp>
          <p:cxnSp>
            <p:nvCxnSpPr>
              <p:cNvPr id="579" name="Google Shape;579;p52"/>
              <p:cNvCxnSpPr/>
              <p:nvPr/>
            </p:nvCxnSpPr>
            <p:spPr>
              <a:xfrm>
                <a:off x="4847208" y="2876365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0" name="Google Shape;580;p52"/>
              <p:cNvCxnSpPr/>
              <p:nvPr/>
            </p:nvCxnSpPr>
            <p:spPr>
              <a:xfrm>
                <a:off x="5035119" y="2876365"/>
                <a:ext cx="252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1" name="Google Shape;581;p52"/>
              <p:cNvCxnSpPr/>
              <p:nvPr/>
            </p:nvCxnSpPr>
            <p:spPr>
              <a:xfrm>
                <a:off x="5363588" y="2877846"/>
                <a:ext cx="1800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2" name="Google Shape;582;p52"/>
              <p:cNvCxnSpPr/>
              <p:nvPr/>
            </p:nvCxnSpPr>
            <p:spPr>
              <a:xfrm>
                <a:off x="5594411" y="2877842"/>
                <a:ext cx="115409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583" name="Google Shape;583;p52"/>
              <p:cNvGrpSpPr/>
              <p:nvPr/>
            </p:nvGrpSpPr>
            <p:grpSpPr>
              <a:xfrm>
                <a:off x="4015669" y="2876365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584" name="Google Shape;584;p52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585" name="Google Shape;585;p52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86" name="Google Shape;586;p52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87" name="Google Shape;587;p52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변수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588" name="Google Shape;588;p52"/>
              <p:cNvGrpSpPr/>
              <p:nvPr/>
            </p:nvGrpSpPr>
            <p:grpSpPr>
              <a:xfrm flipH="1">
                <a:off x="5453588" y="2887458"/>
                <a:ext cx="875929" cy="346241"/>
                <a:chOff x="4015669" y="2876365"/>
                <a:chExt cx="875929" cy="346241"/>
              </a:xfrm>
            </p:grpSpPr>
            <p:grpSp>
              <p:nvGrpSpPr>
                <p:cNvPr id="589" name="Google Shape;589;p52"/>
                <p:cNvGrpSpPr/>
                <p:nvPr/>
              </p:nvGrpSpPr>
              <p:grpSpPr>
                <a:xfrm>
                  <a:off x="4403326" y="2876365"/>
                  <a:ext cx="488272" cy="230819"/>
                  <a:chOff x="4358936" y="2876365"/>
                  <a:chExt cx="488272" cy="230819"/>
                </a:xfrm>
              </p:grpSpPr>
              <p:cxnSp>
                <p:nvCxnSpPr>
                  <p:cNvPr id="590" name="Google Shape;590;p52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1" name="Google Shape;591;p52"/>
                  <p:cNvCxnSpPr/>
                  <p:nvPr/>
                </p:nvCxnSpPr>
                <p:spPr>
                  <a:xfrm rot="10800000">
                    <a:off x="4847208" y="2876365"/>
                    <a:ext cx="0" cy="23081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2" name="Google Shape;592;p52"/>
                <p:cNvSpPr/>
                <p:nvPr/>
              </p:nvSpPr>
              <p:spPr>
                <a:xfrm>
                  <a:off x="4015669" y="2991774"/>
                  <a:ext cx="48827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값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593" name="Google Shape;593;p52"/>
              <p:cNvGrpSpPr/>
              <p:nvPr/>
            </p:nvGrpSpPr>
            <p:grpSpPr>
              <a:xfrm flipH="1">
                <a:off x="5658035" y="2840853"/>
                <a:ext cx="1097878" cy="241912"/>
                <a:chOff x="3793720" y="2980694"/>
                <a:chExt cx="1097878" cy="241912"/>
              </a:xfrm>
            </p:grpSpPr>
            <p:grpSp>
              <p:nvGrpSpPr>
                <p:cNvPr id="594" name="Google Shape;594;p52"/>
                <p:cNvGrpSpPr/>
                <p:nvPr/>
              </p:nvGrpSpPr>
              <p:grpSpPr>
                <a:xfrm>
                  <a:off x="4403326" y="2980694"/>
                  <a:ext cx="488272" cy="126490"/>
                  <a:chOff x="4358936" y="2980694"/>
                  <a:chExt cx="488272" cy="126490"/>
                </a:xfrm>
              </p:grpSpPr>
              <p:cxnSp>
                <p:nvCxnSpPr>
                  <p:cNvPr id="595" name="Google Shape;595;p52"/>
                  <p:cNvCxnSpPr/>
                  <p:nvPr/>
                </p:nvCxnSpPr>
                <p:spPr>
                  <a:xfrm>
                    <a:off x="4358936" y="3107184"/>
                    <a:ext cx="488272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  <p:cxnSp>
                <p:nvCxnSpPr>
                  <p:cNvPr id="596" name="Google Shape;596;p52"/>
                  <p:cNvCxnSpPr/>
                  <p:nvPr/>
                </p:nvCxnSpPr>
                <p:spPr>
                  <a:xfrm rot="10800000">
                    <a:off x="4847208" y="2980694"/>
                    <a:ext cx="0" cy="12649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dash"/>
                    <a:miter lim="800000"/>
                    <a:headEnd type="none" w="sm" len="sm"/>
                    <a:tailEnd type="none" w="sm" len="sm"/>
                  </a:ln>
                </p:spPr>
              </p:cxnSp>
            </p:grpSp>
            <p:sp>
              <p:nvSpPr>
                <p:cNvPr id="597" name="Google Shape;597;p52"/>
                <p:cNvSpPr/>
                <p:nvPr/>
              </p:nvSpPr>
              <p:spPr>
                <a:xfrm>
                  <a:off x="3793720" y="2991774"/>
                  <a:ext cx="709459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i="0" u="none" strike="noStrike" cap="none">
                      <a:solidFill>
                        <a:srgbClr val="548135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조건의 끝</a:t>
                  </a:r>
                  <a:endParaRPr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cxnSp>
            <p:nvCxnSpPr>
              <p:cNvPr id="598" name="Google Shape;598;p52"/>
              <p:cNvCxnSpPr/>
              <p:nvPr/>
            </p:nvCxnSpPr>
            <p:spPr>
              <a:xfrm rot="10800000">
                <a:off x="5182818" y="2869698"/>
                <a:ext cx="0" cy="42614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599" name="Google Shape;599;p52"/>
              <p:cNvSpPr/>
              <p:nvPr/>
            </p:nvSpPr>
            <p:spPr>
              <a:xfrm>
                <a:off x="4789503" y="3295838"/>
                <a:ext cx="804179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 i="0" u="none" strike="noStrike" cap="none">
                    <a:solidFill>
                      <a:srgbClr val="548135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비교 연산자 </a:t>
                </a:r>
                <a:endParaRPr sz="900" b="1" i="0" u="none" strike="noStrike" cap="none">
                  <a:solidFill>
                    <a:srgbClr val="548135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3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05" name="Google Shape;605;p53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3-7: 총점을 입력 받아, 등급(A,B,C,D)을 출력하는 프로그램을 작성한다.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90점 이상인 경우 : A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90점 미만 80점 이상인 경우 : B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80점 미만 70점 이상인 경우 : C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 70점 미만인 경우 : D 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4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11" name="Google Shape;611;p54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3-7: 총점을 입력 받아, 등급(A,B,C,D)을 출력하는 프로그램을 작성한다.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알고리즘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612" name="Google Shape;612;p54"/>
          <p:cNvGrpSpPr/>
          <p:nvPr/>
        </p:nvGrpSpPr>
        <p:grpSpPr>
          <a:xfrm>
            <a:off x="2999160" y="3213872"/>
            <a:ext cx="5127535" cy="2488011"/>
            <a:chOff x="3121200" y="2515989"/>
            <a:chExt cx="5127535" cy="2488011"/>
          </a:xfrm>
        </p:grpSpPr>
        <p:sp>
          <p:nvSpPr>
            <p:cNvPr id="613" name="Google Shape;613;p54"/>
            <p:cNvSpPr txBox="1"/>
            <p:nvPr/>
          </p:nvSpPr>
          <p:spPr>
            <a:xfrm>
              <a:off x="4990679" y="3524660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4" name="Google Shape;614;p54"/>
            <p:cNvSpPr txBox="1"/>
            <p:nvPr/>
          </p:nvSpPr>
          <p:spPr>
            <a:xfrm>
              <a:off x="3659830" y="3030847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5" name="Google Shape;615;p54"/>
            <p:cNvSpPr txBox="1"/>
            <p:nvPr/>
          </p:nvSpPr>
          <p:spPr>
            <a:xfrm>
              <a:off x="4480571" y="2664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6" name="Google Shape;616;p54"/>
            <p:cNvSpPr/>
            <p:nvPr/>
          </p:nvSpPr>
          <p:spPr>
            <a:xfrm>
              <a:off x="3129861" y="2758877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Score&gt;=90</a:t>
              </a:r>
              <a:endParaRPr sz="9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7" name="Google Shape;617;p54"/>
            <p:cNvSpPr/>
            <p:nvPr/>
          </p:nvSpPr>
          <p:spPr>
            <a:xfrm>
              <a:off x="3219861" y="327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18" name="Google Shape;618;p54"/>
            <p:cNvCxnSpPr>
              <a:stCxn id="616" idx="2"/>
              <a:endCxn id="617" idx="0"/>
            </p:cNvCxnSpPr>
            <p:nvPr/>
          </p:nvCxnSpPr>
          <p:spPr>
            <a:xfrm>
              <a:off x="3759861" y="3046877"/>
              <a:ext cx="0" cy="2292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9" name="Google Shape;619;p54"/>
            <p:cNvSpPr txBox="1"/>
            <p:nvPr/>
          </p:nvSpPr>
          <p:spPr>
            <a:xfrm>
              <a:off x="3121200" y="2515989"/>
              <a:ext cx="12705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if 문</a:t>
              </a:r>
              <a:endParaRPr/>
            </a:p>
          </p:txBody>
        </p:sp>
        <p:cxnSp>
          <p:nvCxnSpPr>
            <p:cNvPr id="620" name="Google Shape;620;p54"/>
            <p:cNvCxnSpPr>
              <a:stCxn id="616" idx="3"/>
              <a:endCxn id="621" idx="0"/>
            </p:cNvCxnSpPr>
            <p:nvPr/>
          </p:nvCxnSpPr>
          <p:spPr>
            <a:xfrm>
              <a:off x="4389861" y="2902877"/>
              <a:ext cx="711300" cy="3552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22" name="Google Shape;622;p54"/>
            <p:cNvCxnSpPr>
              <a:stCxn id="617" idx="2"/>
            </p:cNvCxnSpPr>
            <p:nvPr/>
          </p:nvCxnSpPr>
          <p:spPr>
            <a:xfrm>
              <a:off x="3759861" y="3528000"/>
              <a:ext cx="0" cy="1476000"/>
            </a:xfrm>
            <a:prstGeom prst="straightConnector1">
              <a:avLst/>
            </a:prstGeom>
            <a:noFill/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23" name="Google Shape;623;p54"/>
            <p:cNvCxnSpPr>
              <a:stCxn id="624" idx="2"/>
            </p:cNvCxnSpPr>
            <p:nvPr/>
          </p:nvCxnSpPr>
          <p:spPr>
            <a:xfrm rot="5400000">
              <a:off x="4053287" y="3732150"/>
              <a:ext cx="750900" cy="1343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21" name="Google Shape;621;p54"/>
            <p:cNvSpPr/>
            <p:nvPr/>
          </p:nvSpPr>
          <p:spPr>
            <a:xfrm>
              <a:off x="4471200" y="3258000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Score&gt;=80</a:t>
              </a:r>
              <a:endParaRPr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4" name="Google Shape;624;p54"/>
            <p:cNvSpPr/>
            <p:nvPr/>
          </p:nvSpPr>
          <p:spPr>
            <a:xfrm>
              <a:off x="4560437" y="37764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25" name="Google Shape;625;p54"/>
            <p:cNvCxnSpPr>
              <a:stCxn id="621" idx="2"/>
              <a:endCxn id="624" idx="0"/>
            </p:cNvCxnSpPr>
            <p:nvPr/>
          </p:nvCxnSpPr>
          <p:spPr>
            <a:xfrm flipH="1">
              <a:off x="5100300" y="3546000"/>
              <a:ext cx="900" cy="2304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26" name="Google Shape;626;p54"/>
            <p:cNvSpPr txBox="1"/>
            <p:nvPr/>
          </p:nvSpPr>
          <p:spPr>
            <a:xfrm>
              <a:off x="6331557" y="4015033"/>
              <a:ext cx="60548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7F7F7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True</a:t>
              </a:r>
              <a:endParaRPr sz="12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7" name="Google Shape;627;p54"/>
            <p:cNvSpPr txBox="1"/>
            <p:nvPr/>
          </p:nvSpPr>
          <p:spPr>
            <a:xfrm>
              <a:off x="5798503" y="3186000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28" name="Google Shape;628;p54"/>
            <p:cNvCxnSpPr>
              <a:stCxn id="621" idx="3"/>
              <a:endCxn id="629" idx="0"/>
            </p:cNvCxnSpPr>
            <p:nvPr/>
          </p:nvCxnSpPr>
          <p:spPr>
            <a:xfrm>
              <a:off x="5731200" y="3402000"/>
              <a:ext cx="709800" cy="3564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30" name="Google Shape;630;p54"/>
            <p:cNvCxnSpPr>
              <a:stCxn id="631" idx="2"/>
            </p:cNvCxnSpPr>
            <p:nvPr/>
          </p:nvCxnSpPr>
          <p:spPr>
            <a:xfrm rot="5400000">
              <a:off x="4968313" y="3306600"/>
              <a:ext cx="261300" cy="26841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29" name="Google Shape;629;p54"/>
            <p:cNvSpPr/>
            <p:nvPr/>
          </p:nvSpPr>
          <p:spPr>
            <a:xfrm>
              <a:off x="5811013" y="3758400"/>
              <a:ext cx="1260000" cy="288000"/>
            </a:xfrm>
            <a:prstGeom prst="diamond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45700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malgun gothic"/>
                <a:buNone/>
              </a:pPr>
              <a:r>
                <a:rPr lang="en-US" sz="900" b="1" i="0" u="none" strike="noStrike" cap="non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Score&gt;=70</a:t>
              </a:r>
              <a:endParaRPr sz="9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631;p54"/>
            <p:cNvSpPr/>
            <p:nvPr/>
          </p:nvSpPr>
          <p:spPr>
            <a:xfrm>
              <a:off x="5901013" y="426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32" name="Google Shape;632;p54"/>
            <p:cNvCxnSpPr>
              <a:stCxn id="629" idx="2"/>
              <a:endCxn id="631" idx="0"/>
            </p:cNvCxnSpPr>
            <p:nvPr/>
          </p:nvCxnSpPr>
          <p:spPr>
            <a:xfrm>
              <a:off x="6441013" y="4046400"/>
              <a:ext cx="0" cy="219600"/>
            </a:xfrm>
            <a:prstGeom prst="straightConnector1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33" name="Google Shape;633;p54"/>
            <p:cNvSpPr/>
            <p:nvPr/>
          </p:nvSpPr>
          <p:spPr>
            <a:xfrm>
              <a:off x="7168735" y="4266000"/>
              <a:ext cx="1080000" cy="252000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2F491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34" name="Google Shape;634;p54"/>
            <p:cNvCxnSpPr>
              <a:stCxn id="629" idx="3"/>
              <a:endCxn id="633" idx="0"/>
            </p:cNvCxnSpPr>
            <p:nvPr/>
          </p:nvCxnSpPr>
          <p:spPr>
            <a:xfrm>
              <a:off x="7071013" y="3902400"/>
              <a:ext cx="637800" cy="3636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35" name="Google Shape;635;p54"/>
            <p:cNvSpPr txBox="1"/>
            <p:nvPr/>
          </p:nvSpPr>
          <p:spPr>
            <a:xfrm>
              <a:off x="7117725" y="3674135"/>
              <a:ext cx="56683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False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36" name="Google Shape;636;p54"/>
            <p:cNvCxnSpPr>
              <a:stCxn id="633" idx="2"/>
            </p:cNvCxnSpPr>
            <p:nvPr/>
          </p:nvCxnSpPr>
          <p:spPr>
            <a:xfrm rot="5400000">
              <a:off x="5602135" y="2672700"/>
              <a:ext cx="261300" cy="3951900"/>
            </a:xfrm>
            <a:prstGeom prst="bentConnector2">
              <a:avLst/>
            </a:prstGeom>
            <a:solidFill>
              <a:srgbClr val="A3C9CB"/>
            </a:solidFill>
            <a:ln w="19050" cap="flat" cmpd="sng">
              <a:solidFill>
                <a:srgbClr val="0070C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5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42" name="Google Shape;642;p55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3-7: 총점을 입력 받아, 등급(A,B,C,D)을 출력하는 프로그램을 작성한다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코드1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43" name="Google Shape;643;p55"/>
          <p:cNvSpPr/>
          <p:nvPr/>
        </p:nvSpPr>
        <p:spPr>
          <a:xfrm>
            <a:off x="1877558" y="2906994"/>
            <a:ext cx="3676576" cy="327213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score = int(input("Enter your score: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 score &gt;= 90: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'A’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 score &gt;= 80: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'B’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 score &gt;= 70: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'C’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 score &lt; 70: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‘D'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print(f"등급은 {grade}입니다")</a:t>
            </a:r>
            <a:endParaRPr/>
          </a:p>
        </p:txBody>
      </p:sp>
      <p:sp>
        <p:nvSpPr>
          <p:cNvPr id="644" name="Google Shape;644;p55"/>
          <p:cNvSpPr/>
          <p:nvPr/>
        </p:nvSpPr>
        <p:spPr>
          <a:xfrm>
            <a:off x="6434665" y="2906994"/>
            <a:ext cx="2091267" cy="1236133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값 출력</a:t>
            </a:r>
            <a:endParaRPr/>
          </a:p>
        </p:txBody>
      </p:sp>
      <p:sp>
        <p:nvSpPr>
          <p:cNvPr id="645" name="Google Shape;645;p55"/>
          <p:cNvSpPr txBox="1"/>
          <p:nvPr/>
        </p:nvSpPr>
        <p:spPr>
          <a:xfrm>
            <a:off x="5818419" y="4490598"/>
            <a:ext cx="6096000" cy="11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실행결과</a:t>
            </a:r>
            <a:endParaRPr sz="1600" b="0" i="0" u="none" strike="noStrike" cap="none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Enter your score: 98         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-US" sz="16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점수 입력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등급은 C입니다                 </a:t>
            </a:r>
            <a:r>
              <a:rPr lang="en-US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-US" sz="1600" b="0" i="0" u="none" strike="noStrike" cap="non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잘못된 값 출력</a:t>
            </a:r>
            <a:endParaRPr sz="16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6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51" name="Google Shape;651;p56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3-7: 총점을 입력 받아, 등급(A,B,C,D)을 출력하는 프로그램을 작성한다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코드2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52" name="Google Shape;652;p56"/>
          <p:cNvSpPr/>
          <p:nvPr/>
        </p:nvSpPr>
        <p:spPr>
          <a:xfrm>
            <a:off x="1877557" y="2824698"/>
            <a:ext cx="6614509" cy="3502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 = int(input("Enter your score: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score &gt;= 90: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'A'       # 90 이상일 경우 A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score &gt;= 80: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'B'       # 80 이상일 경우 B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score &gt;= 70: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'C'       # 70 이상일 경우 C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grade = 'D'       # 모든 조건에 만족하지 못할 경우 D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print(f"등급은 {grade}입니다")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7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04. if – else문</a:t>
            </a:r>
            <a:endParaRPr/>
          </a:p>
        </p:txBody>
      </p:sp>
      <p:sp>
        <p:nvSpPr>
          <p:cNvPr id="658" name="Google Shape;658;p57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적용하기1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3-7: 총점을 입력 받아, 등급(A,B,C,D)을 출력하는 프로그램을 작성한다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59" name="Google Shape;659;p57"/>
          <p:cNvSpPr/>
          <p:nvPr/>
        </p:nvSpPr>
        <p:spPr>
          <a:xfrm>
            <a:off x="1866184" y="3088364"/>
            <a:ext cx="6346193" cy="25335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 your score: 95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등급은 A입니다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&gt;&gt;&gt;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Enter your score: 60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등급은 D입니다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8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65" name="Google Shape;665;p58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3-8: 사용자가 태어난 연도를 입력하면 어떤 종류의 학생인지 맞히는 프로그램을 작성한다.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프로그램은 매년 연도가 바뀔 때마다 변경해야 하는데, 여기서는 2020년을 기준으로 프로그램을 작성함.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나이는 (2020 - 태어난 연도 + 1)로 계산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26세 이하 20세 이상이면 ‘대학생’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20세 미만 17세 이상이면 ‘고등학생’ ⦁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17세 미만 14세 이상이면 ‘중학생’ ⦁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14세 미만 8세 이상이면 ‘초등학생’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그 외의 경우는 ‘학생이 아닙니다.’ 출력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9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71" name="Google Shape;671;p59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3-8: 사용자가 태어난 연도를 입력하면 어떤 종류의 학생인지 맞히는 프로그램을 작성한다.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코드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72" name="Google Shape;672;p59"/>
          <p:cNvSpPr/>
          <p:nvPr/>
        </p:nvSpPr>
        <p:spPr>
          <a:xfrm>
            <a:off x="1877557" y="2805390"/>
            <a:ext cx="7351110" cy="3502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print("당신이 태어난 연도를 입력하세요.")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birth_year = input()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age = 2020 - int(birth_year) + 1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 age &lt;= 26 and age &gt;= 20: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print("대학생")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elif age &lt; 20 and age &gt;= 17: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print("고등학생")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elif age &lt; 17 and age &gt;= 14: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print("중학생")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elif age &lt; 14 and age &gt;= 8: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print("초등학생")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else:</a:t>
            </a:r>
            <a:endParaRPr/>
          </a:p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print("학생이 아닙니다.")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0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elif – else문</a:t>
            </a:r>
            <a:endParaRPr/>
          </a:p>
        </p:txBody>
      </p:sp>
      <p:sp>
        <p:nvSpPr>
          <p:cNvPr id="678" name="Google Shape;678;p60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if-elif-else문 구조 적용하기2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예제 3-8: 사용자가 태어난 연도를 입력하면 어떤 종류의 학생인지 맞히는 프로그램을 작성한다.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테스트 결과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sp>
        <p:nvSpPr>
          <p:cNvPr id="679" name="Google Shape;679;p60"/>
          <p:cNvSpPr/>
          <p:nvPr/>
        </p:nvSpPr>
        <p:spPr>
          <a:xfrm>
            <a:off x="1866184" y="3088364"/>
            <a:ext cx="6346193" cy="18561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당신이 태어난 연도를 입력하세요.      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1982                                           </a:t>
            </a: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학생이 아닙니다. 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1"/>
          <p:cNvSpPr txBox="1">
            <a:spLocks noGrp="1"/>
          </p:cNvSpPr>
          <p:nvPr>
            <p:ph type="title"/>
          </p:nvPr>
        </p:nvSpPr>
        <p:spPr>
          <a:xfrm>
            <a:off x="521207" y="448056"/>
            <a:ext cx="8404479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06. if – else문</a:t>
            </a:r>
            <a:endParaRPr/>
          </a:p>
        </p:txBody>
      </p:sp>
      <p:sp>
        <p:nvSpPr>
          <p:cNvPr id="685" name="Google Shape;685;p61"/>
          <p:cNvSpPr txBox="1">
            <a:spLocks noGrp="1"/>
          </p:cNvSpPr>
          <p:nvPr>
            <p:ph type="body" idx="1"/>
          </p:nvPr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0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lang="en-US"/>
              <a:t>중첩 조건문과 if-elif-else 조건문 비교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[중첩조건문]: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실행시간 단축 / 가독성 낮음</a:t>
            </a:r>
            <a:endParaRPr/>
          </a:p>
          <a:p>
            <a:pPr marL="720000" lvl="2" indent="-3429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Char char="✓"/>
            </a:pPr>
            <a:r>
              <a:rPr lang="en-US"/>
              <a:t>[if-elif-else조건문]: </a:t>
            </a:r>
            <a:endParaRPr/>
          </a:p>
          <a:p>
            <a:pPr marL="1143000" lvl="3" indent="-2286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–"/>
            </a:pPr>
            <a:r>
              <a:rPr lang="en-US"/>
              <a:t>프로그램 실행시간 증가 / 가독성 높음</a:t>
            </a: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1143000" lvl="3" indent="-1397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endParaRPr/>
          </a:p>
          <a:p>
            <a:pPr marL="720000" lvl="2" indent="-24130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686" name="Google Shape;686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1934" y="1320204"/>
            <a:ext cx="5328707" cy="4858922"/>
          </a:xfrm>
          <a:prstGeom prst="rect">
            <a:avLst/>
          </a:prstGeom>
          <a:noFill/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2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Part 07</a:t>
            </a:r>
            <a:endParaRPr/>
          </a:p>
        </p:txBody>
      </p:sp>
      <p:sp>
        <p:nvSpPr>
          <p:cNvPr id="692" name="Google Shape;692;p62"/>
          <p:cNvSpPr txBox="1">
            <a:spLocks noGrp="1"/>
          </p:cNvSpPr>
          <p:nvPr>
            <p:ph type="body" idx="2"/>
          </p:nvPr>
        </p:nvSpPr>
        <p:spPr>
          <a:xfrm>
            <a:off x="4013206" y="3394686"/>
            <a:ext cx="3883984" cy="43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실습 문제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01</a:t>
            </a:r>
            <a:endParaRPr/>
          </a:p>
        </p:txBody>
      </p:sp>
      <p:sp>
        <p:nvSpPr>
          <p:cNvPr id="698" name="Google Shape;698;p63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if-else문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p63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입력한 숫자가 5의 배수인지 확인하는 프로그램을 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0" name="Google Shape;700;p63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5의 배수 이면 “number는 5의 배수입니다.” 출력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5의 배수 아니면 “number는 5의 배수가 아닙니다”출력 </a:t>
            </a:r>
            <a:endParaRPr/>
          </a:p>
        </p:txBody>
      </p:sp>
      <p:pic>
        <p:nvPicPr>
          <p:cNvPr id="701" name="Google Shape;701;p63" descr="GPT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63" descr="GPT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64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01 - 코드</a:t>
            </a:r>
            <a:endParaRPr/>
          </a:p>
        </p:txBody>
      </p:sp>
      <p:sp>
        <p:nvSpPr>
          <p:cNvPr id="708" name="Google Shape;708;p64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9" name="Google Shape;709;p64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5의 배수 확인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number = int(input("숫자를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number % 5 == 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print(f"{number}은(는) 5의 배수입니다.")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print(f"{number}은(는) 5의 배수가 아닙니다.")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65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02</a:t>
            </a:r>
            <a:endParaRPr/>
          </a:p>
        </p:txBody>
      </p:sp>
      <p:sp>
        <p:nvSpPr>
          <p:cNvPr id="715" name="Google Shape;715;p65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if-elif-else문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65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사용자로부터 점수를 입력 받아 다음과 같이 평가를 출력하는 프로그램을 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p65"/>
          <p:cNvSpPr/>
          <p:nvPr/>
        </p:nvSpPr>
        <p:spPr>
          <a:xfrm>
            <a:off x="923350" y="3620220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90점 이상: "우수"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70점 이상: "보통"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외: "노력 필요"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6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02 - 코드</a:t>
            </a:r>
            <a:endParaRPr/>
          </a:p>
        </p:txBody>
      </p:sp>
      <p:sp>
        <p:nvSpPr>
          <p:cNvPr id="723" name="Google Shape;723;p66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66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점수 평가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 = int(input("점수를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score &gt;= 90: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print("평가: 우수")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score &gt;= 70: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print("평가: 보통")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print("평가: 노력 필요")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7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03</a:t>
            </a:r>
            <a:endParaRPr/>
          </a:p>
        </p:txBody>
      </p:sp>
      <p:sp>
        <p:nvSpPr>
          <p:cNvPr id="730" name="Google Shape;730;p67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if-elif-else문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1" name="Google Shape;731;p67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사용자로부터 세 과목의 점수를 입력 받아 평균을 계산하고, 과목별 점수와 평균 점수에 따라 다음 조건을 만족하는 프로그램을 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2" name="Google Shape;732;p67"/>
          <p:cNvSpPr/>
          <p:nvPr/>
        </p:nvSpPr>
        <p:spPr>
          <a:xfrm>
            <a:off x="923350" y="3876252"/>
            <a:ext cx="10127411" cy="23028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점수가 90점 이상이면 "합격(우수)"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점수가 70~89점이면 "합격"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평균 점수가 70점 미만이면 "불합격"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단, 한 과목이라도 50점 미만이면 무조건 "불합격"으로 출력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8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03 - 코드</a:t>
            </a:r>
            <a:endParaRPr/>
          </a:p>
        </p:txBody>
      </p:sp>
      <p:sp>
        <p:nvSpPr>
          <p:cNvPr id="738" name="Google Shape;738;p68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9" name="Google Shape;739;p68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평균 점수와 과목별 조건에 따른 결과 출력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score1 = int(input("첫 번째 과목 점수를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score2 = int(input("두 번째 과목 점수를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score3 = int(input("세 번째 과목 점수를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average = (score1 + score2 + score3) / 3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score1 &lt; 50 or score2 &lt; 50 or score3 &lt; 50: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print("결과: 불합격 (과락 발생)")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average &gt;= 90: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print(“결과: 합격(우수) (평균 점수: %.2f)” %average)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average &gt;= 70: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print(“결과: 합격 (평균 점수: %.2f)” %average)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print(“결과: 불합격(우수) (평균 점수: %.2f)” %average)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9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04</a:t>
            </a:r>
            <a:endParaRPr/>
          </a:p>
        </p:txBody>
      </p:sp>
      <p:sp>
        <p:nvSpPr>
          <p:cNvPr id="745" name="Google Shape;745;p69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중첩 if문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6" name="Google Shape;746;p69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1부터 100까지의 숫자 중 사용자로부터 입력 받은 숫자가 짝수인지 홀수인지 출력하며, 숫자가 1~100 범위에 없으면 오류 메시지를 출력하는 프로그램을 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69"/>
          <p:cNvSpPr/>
          <p:nvPr/>
        </p:nvSpPr>
        <p:spPr>
          <a:xfrm>
            <a:off x="923350" y="3876252"/>
            <a:ext cx="10127411" cy="23028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1~100범위에 있는지를 먼저 비교한다.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짝수 이면 “number는 짝수입니다.” 출력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홀수 이면 “number는 홀수입니다.” 출력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70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04 - 코드</a:t>
            </a:r>
            <a:endParaRPr/>
          </a:p>
        </p:txBody>
      </p:sp>
      <p:sp>
        <p:nvSpPr>
          <p:cNvPr id="753" name="Google Shape;753;p70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4" name="Google Shape;754;p70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숫자의 범위와 짝/홀수 판별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number = int(input("1부터 100 사이의 숫자를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1 &lt;= number &lt;= 100: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if number % 2 == 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print(f"{number}은(는) 짝수입니다.")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print(f"{number}은(는) 홀수입니다.")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print("오류: 입력한 숫자는 1부터 100 사이여야 합니다.")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71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05</a:t>
            </a:r>
            <a:endParaRPr/>
          </a:p>
        </p:txBody>
      </p:sp>
      <p:sp>
        <p:nvSpPr>
          <p:cNvPr id="760" name="Google Shape;760;p71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if문 및 if-else문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71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쇼핑몰에서 다음 조건에 따라 구매 금액에 대해 할인을 적용하는 프로그램을 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71"/>
          <p:cNvSpPr/>
          <p:nvPr/>
        </p:nvSpPr>
        <p:spPr>
          <a:xfrm>
            <a:off x="923350" y="3630168"/>
            <a:ext cx="10127411" cy="25489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기본 구매 금액이 100,000원 이상이면 10% 할인.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구매 금액이 200,000원 이상이면 추가로 5% 할인 (즉, 총 15% 할인).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 등급에 따라 추가 할인이 적용됨: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-VIP 회원: 10% 추가 할인.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-일반 회원: 추가 할인 없음.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2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04 - 코드</a:t>
            </a:r>
            <a:endParaRPr/>
          </a:p>
        </p:txBody>
      </p:sp>
      <p:sp>
        <p:nvSpPr>
          <p:cNvPr id="768" name="Google Shape;768;p72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9" name="Google Shape;769;p72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복합적인 할인 시스템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base_price = int(input("구매 금액을 입력하세요 (원):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membership = input("회원 등급을 입력하세요 (vip/일반): 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기본 할인 계산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base_price &gt;= 200000: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discount = 0.15  # 15% 할인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base_price &gt;= 100000: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discount = 0.10  # 10% 할인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discount = 0.0   # 할인 없음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추가 할인 계산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membership == "vip":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discount += 0.10  # VIP는 추가 10% 할인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최종 가격 계산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final_price = base_price * (1 - discount)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print(f"최종 결제 금액은 {final_price:.0f}원입니다. (총 할인율: {discount*100:.0f}%)")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73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06</a:t>
            </a:r>
            <a:endParaRPr/>
          </a:p>
        </p:txBody>
      </p:sp>
      <p:sp>
        <p:nvSpPr>
          <p:cNvPr id="775" name="Google Shape;775;p73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1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논리연산자 및 if-elif-else문 활용하기</a:t>
            </a: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6" name="Google Shape;776;p73"/>
          <p:cNvSpPr/>
          <p:nvPr/>
        </p:nvSpPr>
        <p:spPr>
          <a:xfrm>
            <a:off x="923350" y="1811548"/>
            <a:ext cx="10127411" cy="168214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사용자에 온도와 습도를 정수로 입력 받고, 다음 조건에 맞춰 에어컨을 켜는 프로그램을 작성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작성하세요.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7" name="Google Shape;777;p73"/>
          <p:cNvSpPr/>
          <p:nvPr/>
        </p:nvSpPr>
        <p:spPr>
          <a:xfrm>
            <a:off x="923350" y="3630168"/>
            <a:ext cx="10127411" cy="27797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조건: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온도가 25도 이상이고 습도가 70 이상이면 에어컨을 냉방 모드로 켬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온도가 25도 이상이지만, 습도가 70 미만일 때 제습 모드로 작동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조건이 만족되지 않으면 에어컨을 끌 것</a:t>
            </a:r>
            <a:endParaRPr sz="18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에어컨을 켜고 끌 수 없으므로, "냉방 모드로 에어컨 작동", "제습 모드로 에어컨 작동"이라고 출력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4"/>
          <p:cNvSpPr txBox="1"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3200"/>
              <a:buFont typeface="Malgun Gothic"/>
              <a:buNone/>
            </a:pPr>
            <a:r>
              <a:rPr lang="en-US"/>
              <a:t>실습 문제 06 - 코드</a:t>
            </a:r>
            <a:endParaRPr/>
          </a:p>
        </p:txBody>
      </p:sp>
      <p:sp>
        <p:nvSpPr>
          <p:cNvPr id="783" name="Google Shape;783;p74"/>
          <p:cNvSpPr txBox="1"/>
          <p:nvPr/>
        </p:nvSpPr>
        <p:spPr>
          <a:xfrm>
            <a:off x="539495" y="1435607"/>
            <a:ext cx="10895123" cy="4743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1" indent="-1016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2" indent="-127000" algn="l" rtl="0">
              <a:lnSpc>
                <a:spcPct val="8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4" name="Google Shape;784;p74"/>
          <p:cNvSpPr/>
          <p:nvPr/>
        </p:nvSpPr>
        <p:spPr>
          <a:xfrm>
            <a:off x="655931" y="1325594"/>
            <a:ext cx="10127411" cy="50665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에어컨을 켜는 프로그램 </a:t>
            </a:r>
            <a:endParaRPr sz="1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= int(input("온도를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humidity = int(input("습도를 입력하세요: "))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(temperature &gt;= 25) and (humidity &gt;= 70):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print("에어컨을 냉방 모드로 켬")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elif (temperature &gt;= 25) and (humidity &lt; 70):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print("에어컨을 제습 모드로 켬")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else: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print("에어컨을 끔")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5"/>
          <p:cNvSpPr txBox="1">
            <a:spLocks noGrp="1"/>
          </p:cNvSpPr>
          <p:nvPr>
            <p:ph type="body" idx="1"/>
          </p:nvPr>
        </p:nvSpPr>
        <p:spPr>
          <a:xfrm>
            <a:off x="5510192" y="2923585"/>
            <a:ext cx="955248" cy="2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36000" bIns="36000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/>
              <a:t> QnA</a:t>
            </a:r>
            <a:endParaRPr/>
          </a:p>
        </p:txBody>
      </p:sp>
      <p:sp>
        <p:nvSpPr>
          <p:cNvPr id="790" name="Google Shape;790;p75"/>
          <p:cNvSpPr txBox="1">
            <a:spLocks noGrp="1"/>
          </p:cNvSpPr>
          <p:nvPr>
            <p:ph type="body" idx="2"/>
          </p:nvPr>
        </p:nvSpPr>
        <p:spPr>
          <a:xfrm>
            <a:off x="4013206" y="3382375"/>
            <a:ext cx="3883984" cy="45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0" anchor="ctr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 질의응답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w기초교육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4903</Words>
  <Application>Microsoft Office PowerPoint</Application>
  <PresentationFormat>와이드스크린</PresentationFormat>
  <Paragraphs>929</Paragraphs>
  <Slides>76</Slides>
  <Notes>76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83" baseType="lpstr">
      <vt:lpstr>malgun gothic</vt:lpstr>
      <vt:lpstr>Noto Sans Symbols</vt:lpstr>
      <vt:lpstr>Malgun Gothic</vt:lpstr>
      <vt:lpstr>Arial</vt:lpstr>
      <vt:lpstr>Century Gothic</vt:lpstr>
      <vt:lpstr>Consolas</vt:lpstr>
      <vt:lpstr>sw기초교육</vt:lpstr>
      <vt:lpstr>창의적프로그래밍기초와 실습</vt:lpstr>
      <vt:lpstr>PowerPoint 프레젠테이션</vt:lpstr>
      <vt:lpstr>PowerPoint 프레젠테이션</vt:lpstr>
      <vt:lpstr>01. 조건문</vt:lpstr>
      <vt:lpstr>01. 조건문</vt:lpstr>
      <vt:lpstr>PowerPoint 프레젠테이션</vt:lpstr>
      <vt:lpstr>02. 관계 및 논리 연산자</vt:lpstr>
      <vt:lpstr>02. 관계 및 논리 연산자</vt:lpstr>
      <vt:lpstr>02. 관계 및 논리 연산자</vt:lpstr>
      <vt:lpstr>02. 관계 및 논리 연산자</vt:lpstr>
      <vt:lpstr>02. 관계 및 논리 연산자</vt:lpstr>
      <vt:lpstr>02. 관계 및 논리 연산자</vt:lpstr>
      <vt:lpstr>PowerPoint 프레젠테이션</vt:lpstr>
      <vt:lpstr>03.  if문</vt:lpstr>
      <vt:lpstr>03.  if문</vt:lpstr>
      <vt:lpstr>03.  if문</vt:lpstr>
      <vt:lpstr>03.  if문</vt:lpstr>
      <vt:lpstr>03.  if문  </vt:lpstr>
      <vt:lpstr>03.  if문  </vt:lpstr>
      <vt:lpstr>03.  if문  </vt:lpstr>
      <vt:lpstr>03.  if문  </vt:lpstr>
      <vt:lpstr>03.  if문  </vt:lpstr>
      <vt:lpstr>03.  if문  </vt:lpstr>
      <vt:lpstr>03.  if문  </vt:lpstr>
      <vt:lpstr>03.  if문  </vt:lpstr>
      <vt:lpstr>PowerPoint 프레젠테이션</vt:lpstr>
      <vt:lpstr>04.   if – else문</vt:lpstr>
      <vt:lpstr>03. if – else문</vt:lpstr>
      <vt:lpstr>04. if – else문</vt:lpstr>
      <vt:lpstr>04. if – else문</vt:lpstr>
      <vt:lpstr>04. if – else문</vt:lpstr>
      <vt:lpstr>04. if – else문</vt:lpstr>
      <vt:lpstr>04. if – else문</vt:lpstr>
      <vt:lpstr>04. if – else문</vt:lpstr>
      <vt:lpstr>04. if – else문</vt:lpstr>
      <vt:lpstr>04. if – else문</vt:lpstr>
      <vt:lpstr>04. if – else문</vt:lpstr>
      <vt:lpstr>PowerPoint 프레젠테이션</vt:lpstr>
      <vt:lpstr>05. 중첩 if문</vt:lpstr>
      <vt:lpstr>05. 중첩 if문</vt:lpstr>
      <vt:lpstr>05. 중첩 if문</vt:lpstr>
      <vt:lpstr>05. 중첩 if문</vt:lpstr>
      <vt:lpstr>05. 중첩 if문</vt:lpstr>
      <vt:lpstr>05. 중첩 if문</vt:lpstr>
      <vt:lpstr>05. 중첩 if문</vt:lpstr>
      <vt:lpstr>05. 중첩 if문</vt:lpstr>
      <vt:lpstr>05. 중첩 if문</vt:lpstr>
      <vt:lpstr>05. 중첩 if문</vt:lpstr>
      <vt:lpstr>PowerPoint 프레젠테이션</vt:lpstr>
      <vt:lpstr>06. if – elif – else문</vt:lpstr>
      <vt:lpstr>06. if – elif – else문</vt:lpstr>
      <vt:lpstr>06. if – elif – else문</vt:lpstr>
      <vt:lpstr>06. if – elif – else문</vt:lpstr>
      <vt:lpstr>06. if – elif – else문</vt:lpstr>
      <vt:lpstr>06. if – elif – else문</vt:lpstr>
      <vt:lpstr>06. if – elif – else문</vt:lpstr>
      <vt:lpstr>04. if – else문</vt:lpstr>
      <vt:lpstr>06. if – elif – else문</vt:lpstr>
      <vt:lpstr>06. if – elif – else문</vt:lpstr>
      <vt:lpstr>06. if – elif – else문</vt:lpstr>
      <vt:lpstr>06. if – else문</vt:lpstr>
      <vt:lpstr>PowerPoint 프레젠테이션</vt:lpstr>
      <vt:lpstr>실습 문제 01</vt:lpstr>
      <vt:lpstr>실습 문제 01 - 코드</vt:lpstr>
      <vt:lpstr>실습 문제 02</vt:lpstr>
      <vt:lpstr>실습 문제 02 - 코드</vt:lpstr>
      <vt:lpstr>실습 문제 03</vt:lpstr>
      <vt:lpstr>실습 문제 03 - 코드</vt:lpstr>
      <vt:lpstr>실습 문제 04</vt:lpstr>
      <vt:lpstr>실습 문제 04 - 코드</vt:lpstr>
      <vt:lpstr>실습 문제 05</vt:lpstr>
      <vt:lpstr>실습 문제 04 - 코드</vt:lpstr>
      <vt:lpstr>실습 문제 06</vt:lpstr>
      <vt:lpstr>실습 문제 06 - 코드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창의적프로그래밍기초와 실습</dc:title>
  <dc:creator>HYU</dc:creator>
  <cp:lastModifiedBy>user</cp:lastModifiedBy>
  <cp:revision>1</cp:revision>
  <dcterms:created xsi:type="dcterms:W3CDTF">2024-11-20T05:55:04Z</dcterms:created>
  <dcterms:modified xsi:type="dcterms:W3CDTF">2026-02-20T03:35:47Z</dcterms:modified>
</cp:coreProperties>
</file>